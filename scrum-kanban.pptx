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 Chào nhóm. Nói một câu: hôm nay mình thống nhất cách dùng board 11 cột để cả nhóm cùng nhìn một bức tranh. Nội dung lấy từ file README của dự án, nên sau buổi này ai cũng có tài liệu để tra lại.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[0:30–1:30] Nêu 3 kết quả mong đợi rồi lướt qua 4 phần. Nhấn mạnh: phần 2 và 3 là phần quan trọng nhất; phần 4 có thể rút gọn nếu trễ giờ. Hỏi nhanh: ai đã từng bối rối không biết một thẻ 'xong' nghĩa là gì?</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[1:30–3:00] Scrum trả lời câu hỏi 'làm gì trong sprint này và khi nào họp'. Kanban trả lời 'công việc đang chảy thế nào và kẹt ở đâu'. Hai thứ bổ sung nhau, không thay thế nhau. Ví dụ: Sprint Goal cho biết đích, board cho biết đang ở đâu trên đường.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[3:00–4:30] Nhóm chỉ có hai vai trò chính thức: Dev và Tester. Hai trách nhiệm còn lại (Trưởng nhóm, Điều phối viên) thay cho Product Owner và Scrum Master trong Scrum gốc, và có thể do cùng một người đảm nhận. Chốt ngay tại đây: ai là Điều phối viên? Quy tắc quan trọng: người viết thẻ không tự review và không tự nghiệm thu.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[4:30–6:30] Đi từ trái sang phải, chỉ vào từng vùng màu. Bốn màu này sẽ lặp lại ở các slide sau để mọi người biết đang ở vùng nào. Nhấn mạnh Waiting: đây là cột phụ, thẻ bị chặn vào đó và quay lại đúng cột cũ, không phải một bước bắt buộc.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[6:30–8:00] Mỗi thẻ đi qua ba bước: thu nhận, xếp ưu tiên, cam kết. Điểm cần nhớ: Open không phải backlog, và chỉ thẻ đạt DoR mới được vào sprint. Câu hỏi cho nhóm: hiện Open của mình có bao nhiêu thẻ cũ chưa được phân loại?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[8:00–9:30] Waiting không phải nơi giấu việc: thiếu một trong bốn thông tin là không được vào. Today Todo là kế hoạch của một ngày, không phải danh sách mong muốn. Ví dụ: thẻ chờ khách hàng trả lời thì ghi tên người liên hệ và ngày hẹn.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[9:30–11:00] Đây là vùng dễ tắc nhất. Ready to Review và Ready to Test là cột chờ, không phải cột làm việc: thời gian nằm ở đây là lãng phí. Câu hỏi tương tác: thẻ nào của tuần này đang kẹt ở review lâu nhất, và vì sao?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[11:00–12:30] Phát hành chưa phải là xong: cần thời gian theo dõi rồi mới đóng. Closed có hai loại, và loại 'Không làm' bắt buộc ghi lý do để sau này không phải hỏi lại. Nhắc: lưu trữ thẻ Closed cuối mỗi sprint để board gọn.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[12:30–13:30] Đọc nhanh năm quy tắc; nhấn hai quy tắc đầu. Kéo, không đẩy: cột sau chủ động kéo khi có năng lực, nhờ vậy WIP không bị dồn. Ví dụ: Dev không 'quăng' thẻ sang Ready to Test khi tester chưa sẵn sàng, mà chờ tester kéo.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[13:30–14:30] DoR là cổng vào Sprint Backlog. Nếu thẻ chưa đạt thì để ở Product Backlog và tiếp tục làm rõ ở Refinement. Thẻ quá lớn thì tách; thẻ chưa rõ thì làm một Spike có giới hạn thời gian trước.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[14:30–16:30] DoD được kiểm tra dần qua từng cổng chứ không dồn về cuối. Dừng lại ở cổng Ready to Release: Tester nghiệm thu thay cho Product Owner. Hỏi nhóm: điều kiện nào trong bảng này hiện nhóm hay bỏ qua nhất?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[16:30–18:00] Đây là phần thay cho ma trận chuyển trạng thái: thay vì một bảng dài, nhóm chỉ cần nhớ sáu tình huống. Nhấn mạnh: bị reject thì thẻ về In Progress với người cũ và được ưu tiên hơn việc mới. Closed không mở lại.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[18:00–19:30] Các con số bên trái là điểm khởi đầu, sẽ chỉnh sau các buổi Retrospective. Bên phải là thứ tự ưu tiên khi bạn rảnh tay: gỡ chặn, review, test, giúp đồng đội, rồi mới kéo việc mới. Nếu chỉ nhớ một câu: dừng bắt đầu, tập trung hoàn thành.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[19:30–21:00] Mỗi sự kiện tác động lên một số cột cụ thể. Điều phối viên chủ trì, cả nhóm (Dev và Tester) cùng tham gia; khi không đồng thuận về ưu tiên thì Trưởng nhóm quyết định. Cuối sprint, thẻ chưa xong quay về Product Backlog, không tự động chuyển sang sprint sau.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[21:00–22:00] Thay vì hỏi 'hôm qua bạn làm gì', đi từ cột cuối về cột đầu và hỏi 'cái gì có thể ra khỏi cột này hôm nay?'. Cách này tập trung vào việc hoàn thành thay vì việc bận rộn. Thử ngay: cả nhóm mở board và duyệt thử trong 2 phút.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[22:00–24:00] Đây là 8 trong 20 nguyên tắc của README. Chọn 2–3 cái nhóm đang yếu nhất để nói kỹ hơn. Ví dụ gợi ý: thẻ nhỏ (1–3 ngày) giúp review nhanh và ít bị reject; 'hầu như xong' vẫn là chưa xong.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[24:00–25:00] Nếu trễ giờ, lướt nhanh slide này. Điểm chính: chỉ số dùng để tìm điểm nghẽn của hệ thống, không dùng để so sánh cá nhân. Thời gian ở từng cột là chỉ số hữu ích nhất để biết thẻ kẹt ở review hay ở test.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[25:00–26:00] Nếu trễ giờ, chỉ nêu 2–3 dòng. Hỏi nhóm: dòng nào trong bảng này giống board hiện tại của mình nhất? Chọn một dòng để xử lý trong sprint tới.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[26:00–27:00] Ba checklist ngắn để dán cạnh board. Trước khi kết thúc, chốt ngay ba việc ở dải dưới: tên Điều phối viên, WIP limit ban đầu, độ dài sprint. Ghi vào README để mọi người cùng tra.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[27:00–30:00] Nhắc lại ba điều cần nhớ, rồi mở phần hỏi đáp khoảng 3 phút. Nếu chưa có câu hỏi, gợi ý: 'nhóm mình chọn Điều phối viên là ai, và WIP limit của In Progress là bao nhiêu?'.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822960" y="1737360"/>
            <a:ext cx="10515600" cy="1737360"/>
          </a:xfrm>
          <a:prstGeom prst="rect">
            <a:avLst/>
          </a:prstGeom>
          <a:noFill/>
        </p:spPr>
        <p:txBody>
          <a:bodyPr wrap="square" lIns="0" tIns="0" rIns="0" bIns="0" anchor="ctr"/>
          <a:lstStyle/>
          <a:p>
            <a:pPr algn="l">
              <a:spcAft>
                <a:spcPts val="600"/>
              </a:spcAft>
            </a:pPr>
            <a:r>
              <a:rPr sz="4400" b="1">
                <a:solidFill>
                  <a:srgbClr val="FFFFFF"/>
                </a:solidFill>
                <a:latin typeface="Arial"/>
              </a:rPr>
              <a:t>Scrum + Kanban cho nhóm Dev và Tester</a:t>
            </a:r>
          </a:p>
        </p:txBody>
      </p:sp>
      <p:sp>
        <p:nvSpPr>
          <p:cNvPr id="3" name="TextBox 2"/>
          <p:cNvSpPr txBox="1"/>
          <p:nvPr/>
        </p:nvSpPr>
        <p:spPr>
          <a:xfrm>
            <a:off x="822960" y="3566160"/>
            <a:ext cx="10515600" cy="822960"/>
          </a:xfrm>
          <a:prstGeom prst="rect">
            <a:avLst/>
          </a:prstGeom>
          <a:noFill/>
        </p:spPr>
        <p:txBody>
          <a:bodyPr wrap="square" lIns="0" tIns="0" rIns="0" bIns="0" anchor="t"/>
          <a:lstStyle/>
          <a:p>
            <a:pPr algn="l">
              <a:spcAft>
                <a:spcPts val="600"/>
              </a:spcAft>
            </a:pPr>
            <a:r>
              <a:rPr sz="2200" b="0">
                <a:solidFill>
                  <a:srgbClr val="C9D3E0"/>
                </a:solidFill>
                <a:latin typeface="Arial"/>
              </a:rPr>
              <a:t>Board 11 cột, quy định chuyển thẻ và nguyên tắc làm việc hiệu quả</a:t>
            </a:r>
          </a:p>
        </p:txBody>
      </p:sp>
      <p:sp>
        <p:nvSpPr>
          <p:cNvPr id="4" name="TextBox 3"/>
          <p:cNvSpPr txBox="1"/>
          <p:nvPr/>
        </p:nvSpPr>
        <p:spPr>
          <a:xfrm>
            <a:off x="822960" y="4297680"/>
            <a:ext cx="10515600" cy="457200"/>
          </a:xfrm>
          <a:prstGeom prst="rect">
            <a:avLst/>
          </a:prstGeom>
          <a:noFill/>
        </p:spPr>
        <p:txBody>
          <a:bodyPr wrap="square" lIns="0" tIns="0" rIns="0" bIns="0" anchor="t"/>
          <a:lstStyle/>
          <a:p>
            <a:pPr algn="l">
              <a:spcAft>
                <a:spcPts val="600"/>
              </a:spcAft>
            </a:pPr>
            <a:r>
              <a:rPr sz="1600" b="0">
                <a:solidFill>
                  <a:srgbClr val="8FA1B8"/>
                </a:solidFill>
                <a:latin typeface="Arial"/>
              </a:rPr>
              <a:t>Buổi trình bày · 30 phút</a:t>
            </a:r>
          </a:p>
        </p:txBody>
      </p:sp>
      <p:sp>
        <p:nvSpPr>
          <p:cNvPr id="5" name="Rectangle 4"/>
          <p:cNvSpPr/>
          <p:nvPr/>
        </p:nvSpPr>
        <p:spPr>
          <a:xfrm>
            <a:off x="822960" y="5394960"/>
            <a:ext cx="777240" cy="320040"/>
          </a:xfrm>
          <a:prstGeom prst="rect">
            <a:avLst/>
          </a:prstGeom>
          <a:solidFill>
            <a:srgbClr val="2F6FDE"/>
          </a:solidFill>
          <a:ln>
            <a:noFill/>
          </a:ln>
          <a:effectLst/>
        </p:spPr>
        <p:txBody>
          <a:bodyPr rtlCol="0" anchor="ctr"/>
          <a:lstStyle/>
          <a:p>
            <a:pPr algn="ctr"/>
          </a:p>
        </p:txBody>
      </p:sp>
      <p:sp>
        <p:nvSpPr>
          <p:cNvPr id="6" name="Rectangle 5"/>
          <p:cNvSpPr/>
          <p:nvPr/>
        </p:nvSpPr>
        <p:spPr>
          <a:xfrm>
            <a:off x="1691640" y="5394960"/>
            <a:ext cx="777240" cy="320040"/>
          </a:xfrm>
          <a:prstGeom prst="rect">
            <a:avLst/>
          </a:prstGeom>
          <a:solidFill>
            <a:srgbClr val="2F6FDE"/>
          </a:solidFill>
          <a:ln>
            <a:noFill/>
          </a:ln>
          <a:effectLst/>
        </p:spPr>
        <p:txBody>
          <a:bodyPr rtlCol="0" anchor="ctr"/>
          <a:lstStyle/>
          <a:p>
            <a:pPr algn="ctr"/>
          </a:p>
        </p:txBody>
      </p:sp>
      <p:sp>
        <p:nvSpPr>
          <p:cNvPr id="7" name="Rectangle 6"/>
          <p:cNvSpPr/>
          <p:nvPr/>
        </p:nvSpPr>
        <p:spPr>
          <a:xfrm>
            <a:off x="2560320" y="5394960"/>
            <a:ext cx="777240" cy="320040"/>
          </a:xfrm>
          <a:prstGeom prst="rect">
            <a:avLst/>
          </a:prstGeom>
          <a:solidFill>
            <a:srgbClr val="2F6FDE"/>
          </a:solidFill>
          <a:ln>
            <a:noFill/>
          </a:ln>
          <a:effectLst/>
        </p:spPr>
        <p:txBody>
          <a:bodyPr rtlCol="0" anchor="ctr"/>
          <a:lstStyle/>
          <a:p>
            <a:pPr algn="ctr"/>
          </a:p>
        </p:txBody>
      </p:sp>
      <p:sp>
        <p:nvSpPr>
          <p:cNvPr id="8" name="Rectangle 7"/>
          <p:cNvSpPr/>
          <p:nvPr/>
        </p:nvSpPr>
        <p:spPr>
          <a:xfrm>
            <a:off x="3428999" y="5394960"/>
            <a:ext cx="777240" cy="320040"/>
          </a:xfrm>
          <a:prstGeom prst="rect">
            <a:avLst/>
          </a:prstGeom>
          <a:solidFill>
            <a:srgbClr val="F2B134"/>
          </a:solidFill>
          <a:ln>
            <a:noFill/>
          </a:ln>
          <a:effectLst/>
        </p:spPr>
        <p:txBody>
          <a:bodyPr rtlCol="0" anchor="ctr"/>
          <a:lstStyle/>
          <a:p>
            <a:pPr algn="ctr"/>
          </a:p>
        </p:txBody>
      </p:sp>
      <p:sp>
        <p:nvSpPr>
          <p:cNvPr id="9" name="Rectangle 8"/>
          <p:cNvSpPr/>
          <p:nvPr/>
        </p:nvSpPr>
        <p:spPr>
          <a:xfrm>
            <a:off x="4297680" y="5394960"/>
            <a:ext cx="777240" cy="320040"/>
          </a:xfrm>
          <a:prstGeom prst="rect">
            <a:avLst/>
          </a:prstGeom>
          <a:solidFill>
            <a:srgbClr val="F2B134"/>
          </a:solidFill>
          <a:ln>
            <a:noFill/>
          </a:ln>
          <a:effectLst/>
        </p:spPr>
        <p:txBody>
          <a:bodyPr rtlCol="0" anchor="ctr"/>
          <a:lstStyle/>
          <a:p>
            <a:pPr algn="ctr"/>
          </a:p>
        </p:txBody>
      </p:sp>
      <p:sp>
        <p:nvSpPr>
          <p:cNvPr id="10" name="Rectangle 9"/>
          <p:cNvSpPr/>
          <p:nvPr/>
        </p:nvSpPr>
        <p:spPr>
          <a:xfrm>
            <a:off x="5166360" y="5394960"/>
            <a:ext cx="777240" cy="320040"/>
          </a:xfrm>
          <a:prstGeom prst="rect">
            <a:avLst/>
          </a:prstGeom>
          <a:solidFill>
            <a:srgbClr val="12876F"/>
          </a:solidFill>
          <a:ln>
            <a:noFill/>
          </a:ln>
          <a:effectLst/>
        </p:spPr>
        <p:txBody>
          <a:bodyPr rtlCol="0" anchor="ctr"/>
          <a:lstStyle/>
          <a:p>
            <a:pPr algn="ctr"/>
          </a:p>
        </p:txBody>
      </p:sp>
      <p:sp>
        <p:nvSpPr>
          <p:cNvPr id="11" name="Rectangle 10"/>
          <p:cNvSpPr/>
          <p:nvPr/>
        </p:nvSpPr>
        <p:spPr>
          <a:xfrm>
            <a:off x="6035040" y="5394960"/>
            <a:ext cx="777240" cy="320040"/>
          </a:xfrm>
          <a:prstGeom prst="rect">
            <a:avLst/>
          </a:prstGeom>
          <a:solidFill>
            <a:srgbClr val="12876F"/>
          </a:solidFill>
          <a:ln>
            <a:noFill/>
          </a:ln>
          <a:effectLst/>
        </p:spPr>
        <p:txBody>
          <a:bodyPr rtlCol="0" anchor="ctr"/>
          <a:lstStyle/>
          <a:p>
            <a:pPr algn="ctr"/>
          </a:p>
        </p:txBody>
      </p:sp>
      <p:sp>
        <p:nvSpPr>
          <p:cNvPr id="12" name="Rectangle 11"/>
          <p:cNvSpPr/>
          <p:nvPr/>
        </p:nvSpPr>
        <p:spPr>
          <a:xfrm>
            <a:off x="6903720" y="5394960"/>
            <a:ext cx="777240" cy="320040"/>
          </a:xfrm>
          <a:prstGeom prst="rect">
            <a:avLst/>
          </a:prstGeom>
          <a:solidFill>
            <a:srgbClr val="12876F"/>
          </a:solidFill>
          <a:ln>
            <a:noFill/>
          </a:ln>
          <a:effectLst/>
        </p:spPr>
        <p:txBody>
          <a:bodyPr rtlCol="0" anchor="ctr"/>
          <a:lstStyle/>
          <a:p>
            <a:pPr algn="ctr"/>
          </a:p>
        </p:txBody>
      </p:sp>
      <p:sp>
        <p:nvSpPr>
          <p:cNvPr id="13" name="Rectangle 12"/>
          <p:cNvSpPr/>
          <p:nvPr/>
        </p:nvSpPr>
        <p:spPr>
          <a:xfrm>
            <a:off x="7772400" y="5394960"/>
            <a:ext cx="777240" cy="320040"/>
          </a:xfrm>
          <a:prstGeom prst="rect">
            <a:avLst/>
          </a:prstGeom>
          <a:solidFill>
            <a:srgbClr val="7B4FD1"/>
          </a:solidFill>
          <a:ln>
            <a:noFill/>
          </a:ln>
          <a:effectLst/>
        </p:spPr>
        <p:txBody>
          <a:bodyPr rtlCol="0" anchor="ctr"/>
          <a:lstStyle/>
          <a:p>
            <a:pPr algn="ctr"/>
          </a:p>
        </p:txBody>
      </p:sp>
      <p:sp>
        <p:nvSpPr>
          <p:cNvPr id="14" name="Rectangle 13"/>
          <p:cNvSpPr/>
          <p:nvPr/>
        </p:nvSpPr>
        <p:spPr>
          <a:xfrm>
            <a:off x="8641080" y="5394960"/>
            <a:ext cx="777240" cy="320040"/>
          </a:xfrm>
          <a:prstGeom prst="rect">
            <a:avLst/>
          </a:prstGeom>
          <a:solidFill>
            <a:srgbClr val="7B4FD1"/>
          </a:solidFill>
          <a:ln>
            <a:noFill/>
          </a:ln>
          <a:effectLst/>
        </p:spPr>
        <p:txBody>
          <a:bodyPr rtlCol="0" anchor="ctr"/>
          <a:lstStyle/>
          <a:p>
            <a:pPr algn="ctr"/>
          </a:p>
        </p:txBody>
      </p:sp>
      <p:sp>
        <p:nvSpPr>
          <p:cNvPr id="15" name="Rectangle 14"/>
          <p:cNvSpPr/>
          <p:nvPr/>
        </p:nvSpPr>
        <p:spPr>
          <a:xfrm>
            <a:off x="9509760" y="5394960"/>
            <a:ext cx="777240" cy="320040"/>
          </a:xfrm>
          <a:prstGeom prst="rect">
            <a:avLst/>
          </a:prstGeom>
          <a:solidFill>
            <a:srgbClr val="7B4FD1"/>
          </a:solidFill>
          <a:ln>
            <a:noFill/>
          </a:ln>
          <a:effectLst/>
        </p:spPr>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MỞ ĐẦU</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Buổi này giúp nhóm làm gì</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D5DBE3"/>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D5DBE3"/>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D5DBE3"/>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2 / 21</a:t>
            </a:r>
          </a:p>
        </p:txBody>
      </p:sp>
      <p:sp>
        <p:nvSpPr>
          <p:cNvPr id="9" name="Rectangle 8"/>
          <p:cNvSpPr/>
          <p:nvPr/>
        </p:nvSpPr>
        <p:spPr>
          <a:xfrm>
            <a:off x="548640" y="1645920"/>
            <a:ext cx="5120640" cy="4480560"/>
          </a:xfrm>
          <a:prstGeom prst="rect">
            <a:avLst/>
          </a:prstGeom>
          <a:solidFill>
            <a:srgbClr val="F3F6FA"/>
          </a:solidFill>
          <a:ln w="9525">
            <a:solidFill>
              <a:srgbClr val="D5DBE3"/>
            </a:solidFill>
          </a:ln>
          <a:effectLst/>
        </p:spPr>
        <p:txBody>
          <a:bodyPr rtlCol="0" anchor="ctr"/>
          <a:lstStyle/>
          <a:p>
            <a:pPr algn="ctr"/>
          </a:p>
        </p:txBody>
      </p:sp>
      <p:sp>
        <p:nvSpPr>
          <p:cNvPr id="10" name="TextBox 9"/>
          <p:cNvSpPr txBox="1"/>
          <p:nvPr/>
        </p:nvSpPr>
        <p:spPr>
          <a:xfrm>
            <a:off x="822959" y="1828800"/>
            <a:ext cx="4572000" cy="457200"/>
          </a:xfrm>
          <a:prstGeom prst="rect">
            <a:avLst/>
          </a:prstGeom>
          <a:noFill/>
        </p:spPr>
        <p:txBody>
          <a:bodyPr wrap="square" lIns="0" tIns="0" rIns="0" bIns="0" anchor="t"/>
          <a:lstStyle/>
          <a:p>
            <a:pPr algn="l">
              <a:spcAft>
                <a:spcPts val="600"/>
              </a:spcAft>
            </a:pPr>
            <a:r>
              <a:rPr sz="2000" b="1">
                <a:solidFill>
                  <a:srgbClr val="1B2A41"/>
                </a:solidFill>
                <a:latin typeface="Arial"/>
              </a:rPr>
              <a:t>Sau buổi này, cả nhóm sẽ:</a:t>
            </a:r>
          </a:p>
        </p:txBody>
      </p:sp>
      <p:sp>
        <p:nvSpPr>
          <p:cNvPr id="11" name="TextBox 10"/>
          <p:cNvSpPr txBox="1"/>
          <p:nvPr/>
        </p:nvSpPr>
        <p:spPr>
          <a:xfrm>
            <a:off x="822959" y="2468880"/>
            <a:ext cx="4572000" cy="3474720"/>
          </a:xfrm>
          <a:prstGeom prst="rect">
            <a:avLst/>
          </a:prstGeom>
          <a:noFill/>
        </p:spPr>
        <p:txBody>
          <a:bodyPr wrap="square" lIns="0" tIns="0" rIns="0" bIns="0" anchor="t"/>
          <a:lstStyle/>
          <a:p>
            <a:pPr algn="l" marL="237744" indent="-237744">
              <a:spcAft>
                <a:spcPts val="1400"/>
              </a:spcAft>
              <a:buChar char="•"/>
            </a:pPr>
            <a:r>
              <a:rPr sz="2000" b="0">
                <a:solidFill>
                  <a:srgbClr val="1F2933"/>
                </a:solidFill>
                <a:latin typeface="Arial"/>
              </a:rPr>
              <a:t>Hiểu ý nghĩa của từng cột trên board</a:t>
            </a:r>
          </a:p>
          <a:p>
            <a:pPr algn="l" marL="237744" indent="-237744">
              <a:spcAft>
                <a:spcPts val="1400"/>
              </a:spcAft>
              <a:buChar char="•"/>
            </a:pPr>
            <a:r>
              <a:rPr sz="2000" b="0">
                <a:solidFill>
                  <a:srgbClr val="1F2933"/>
                </a:solidFill>
                <a:latin typeface="Arial"/>
              </a:rPr>
              <a:t>Biết khi nào được kéo thẻ sang cột tiếp theo</a:t>
            </a:r>
          </a:p>
          <a:p>
            <a:pPr algn="l" marL="237744" indent="-237744">
              <a:spcAft>
                <a:spcPts val="600"/>
              </a:spcAft>
              <a:buChar char="•"/>
            </a:pPr>
            <a:r>
              <a:rPr sz="2000" b="0">
                <a:solidFill>
                  <a:srgbClr val="1F2933"/>
                </a:solidFill>
                <a:latin typeface="Arial"/>
              </a:rPr>
              <a:t>Thống nhất cách làm việc hằng ngày với WIP limit, review và test</a:t>
            </a:r>
          </a:p>
        </p:txBody>
      </p:sp>
      <p:sp>
        <p:nvSpPr>
          <p:cNvPr id="12" name="Rectangle 11"/>
          <p:cNvSpPr/>
          <p:nvPr/>
        </p:nvSpPr>
        <p:spPr>
          <a:xfrm>
            <a:off x="6035040" y="1645920"/>
            <a:ext cx="640080" cy="731520"/>
          </a:xfrm>
          <a:prstGeom prst="rect">
            <a:avLst/>
          </a:prstGeom>
          <a:solidFill>
            <a:srgbClr val="0E7C86"/>
          </a:solidFill>
          <a:ln>
            <a:noFill/>
          </a:ln>
          <a:effectLst/>
        </p:spPr>
        <p:txBody>
          <a:bodyPr rtlCol="0" anchor="ctr" wrap="square" lIns="109728" tIns="73152" rIns="109728" bIns="73152"/>
          <a:lstStyle/>
          <a:p>
            <a:pPr algn="ctr">
              <a:spcAft>
                <a:spcPts val="600"/>
              </a:spcAft>
            </a:pPr>
            <a:r>
              <a:rPr sz="2200" b="1">
                <a:solidFill>
                  <a:srgbClr val="FFFFFF"/>
                </a:solidFill>
                <a:latin typeface="Arial"/>
              </a:rPr>
              <a:t>1</a:t>
            </a:r>
          </a:p>
        </p:txBody>
      </p:sp>
      <p:sp>
        <p:nvSpPr>
          <p:cNvPr id="13" name="Rectangle 12"/>
          <p:cNvSpPr/>
          <p:nvPr/>
        </p:nvSpPr>
        <p:spPr>
          <a:xfrm>
            <a:off x="6675120" y="1645920"/>
            <a:ext cx="4965192" cy="731520"/>
          </a:xfrm>
          <a:prstGeom prst="rect">
            <a:avLst/>
          </a:prstGeom>
          <a:solidFill>
            <a:srgbClr val="F3F6FA"/>
          </a:solidFill>
          <a:ln w="9525">
            <a:solidFill>
              <a:srgbClr val="D5DBE3"/>
            </a:solidFill>
          </a:ln>
          <a:effectLst/>
        </p:spPr>
        <p:txBody>
          <a:bodyPr rtlCol="0" anchor="ctr" wrap="square" lIns="182880" rIns="1188720"/>
          <a:lstStyle/>
          <a:p>
            <a:pPr algn="l">
              <a:spcAft>
                <a:spcPts val="600"/>
              </a:spcAft>
            </a:pPr>
            <a:r>
              <a:rPr sz="1800" b="1">
                <a:solidFill>
                  <a:srgbClr val="1F2933"/>
                </a:solidFill>
                <a:latin typeface="Arial"/>
              </a:rPr>
              <a:t>Nền tảng và vai trò  </a:t>
            </a:r>
          </a:p>
        </p:txBody>
      </p:sp>
      <p:sp>
        <p:nvSpPr>
          <p:cNvPr id="14" name="TextBox 13"/>
          <p:cNvSpPr txBox="1"/>
          <p:nvPr/>
        </p:nvSpPr>
        <p:spPr>
          <a:xfrm>
            <a:off x="10332720" y="1645920"/>
            <a:ext cx="1188720" cy="731520"/>
          </a:xfrm>
          <a:prstGeom prst="rect">
            <a:avLst/>
          </a:prstGeom>
          <a:noFill/>
        </p:spPr>
        <p:txBody>
          <a:bodyPr wrap="square" lIns="0" tIns="0" rIns="0" bIns="0" anchor="ctr"/>
          <a:lstStyle/>
          <a:p>
            <a:pPr algn="r">
              <a:spcAft>
                <a:spcPts val="600"/>
              </a:spcAft>
            </a:pPr>
            <a:r>
              <a:rPr sz="1600" b="0">
                <a:solidFill>
                  <a:srgbClr val="5F6B7A"/>
                </a:solidFill>
                <a:latin typeface="Arial"/>
              </a:rPr>
              <a:t>3 phút</a:t>
            </a:r>
          </a:p>
        </p:txBody>
      </p:sp>
      <p:sp>
        <p:nvSpPr>
          <p:cNvPr id="15" name="Rectangle 14"/>
          <p:cNvSpPr/>
          <p:nvPr/>
        </p:nvSpPr>
        <p:spPr>
          <a:xfrm>
            <a:off x="6035040" y="2560320"/>
            <a:ext cx="640080" cy="731520"/>
          </a:xfrm>
          <a:prstGeom prst="rect">
            <a:avLst/>
          </a:prstGeom>
          <a:solidFill>
            <a:srgbClr val="0E7C86"/>
          </a:solidFill>
          <a:ln>
            <a:noFill/>
          </a:ln>
          <a:effectLst/>
        </p:spPr>
        <p:txBody>
          <a:bodyPr rtlCol="0" anchor="ctr" wrap="square" lIns="109728" tIns="73152" rIns="109728" bIns="73152"/>
          <a:lstStyle/>
          <a:p>
            <a:pPr algn="ctr">
              <a:spcAft>
                <a:spcPts val="600"/>
              </a:spcAft>
            </a:pPr>
            <a:r>
              <a:rPr sz="2200" b="1">
                <a:solidFill>
                  <a:srgbClr val="FFFFFF"/>
                </a:solidFill>
                <a:latin typeface="Arial"/>
              </a:rPr>
              <a:t>2</a:t>
            </a:r>
          </a:p>
        </p:txBody>
      </p:sp>
      <p:sp>
        <p:nvSpPr>
          <p:cNvPr id="16" name="Rectangle 15"/>
          <p:cNvSpPr/>
          <p:nvPr/>
        </p:nvSpPr>
        <p:spPr>
          <a:xfrm>
            <a:off x="6675120" y="2560320"/>
            <a:ext cx="4965192" cy="731520"/>
          </a:xfrm>
          <a:prstGeom prst="rect">
            <a:avLst/>
          </a:prstGeom>
          <a:solidFill>
            <a:srgbClr val="F3F6FA"/>
          </a:solidFill>
          <a:ln w="9525">
            <a:solidFill>
              <a:srgbClr val="D5DBE3"/>
            </a:solidFill>
          </a:ln>
          <a:effectLst/>
        </p:spPr>
        <p:txBody>
          <a:bodyPr rtlCol="0" anchor="ctr" wrap="square" lIns="182880" rIns="1188720"/>
          <a:lstStyle/>
          <a:p>
            <a:pPr algn="l">
              <a:spcAft>
                <a:spcPts val="600"/>
              </a:spcAft>
            </a:pPr>
            <a:r>
              <a:rPr sz="1800" b="1">
                <a:solidFill>
                  <a:srgbClr val="1F2933"/>
                </a:solidFill>
                <a:latin typeface="Arial"/>
              </a:rPr>
              <a:t>Board 11 cột  </a:t>
            </a:r>
          </a:p>
        </p:txBody>
      </p:sp>
      <p:sp>
        <p:nvSpPr>
          <p:cNvPr id="17" name="TextBox 16"/>
          <p:cNvSpPr txBox="1"/>
          <p:nvPr/>
        </p:nvSpPr>
        <p:spPr>
          <a:xfrm>
            <a:off x="10332720" y="2560320"/>
            <a:ext cx="1188720" cy="731520"/>
          </a:xfrm>
          <a:prstGeom prst="rect">
            <a:avLst/>
          </a:prstGeom>
          <a:noFill/>
        </p:spPr>
        <p:txBody>
          <a:bodyPr wrap="square" lIns="0" tIns="0" rIns="0" bIns="0" anchor="ctr"/>
          <a:lstStyle/>
          <a:p>
            <a:pPr algn="r">
              <a:spcAft>
                <a:spcPts val="600"/>
              </a:spcAft>
            </a:pPr>
            <a:r>
              <a:rPr sz="1600" b="0">
                <a:solidFill>
                  <a:srgbClr val="5F6B7A"/>
                </a:solidFill>
                <a:latin typeface="Arial"/>
              </a:rPr>
              <a:t>8 phút</a:t>
            </a:r>
          </a:p>
        </p:txBody>
      </p:sp>
      <p:sp>
        <p:nvSpPr>
          <p:cNvPr id="18" name="Rectangle 17"/>
          <p:cNvSpPr/>
          <p:nvPr/>
        </p:nvSpPr>
        <p:spPr>
          <a:xfrm>
            <a:off x="6035040" y="3474720"/>
            <a:ext cx="640080" cy="731520"/>
          </a:xfrm>
          <a:prstGeom prst="rect">
            <a:avLst/>
          </a:prstGeom>
          <a:solidFill>
            <a:srgbClr val="0E7C86"/>
          </a:solidFill>
          <a:ln>
            <a:noFill/>
          </a:ln>
          <a:effectLst/>
        </p:spPr>
        <p:txBody>
          <a:bodyPr rtlCol="0" anchor="ctr" wrap="square" lIns="109728" tIns="73152" rIns="109728" bIns="73152"/>
          <a:lstStyle/>
          <a:p>
            <a:pPr algn="ctr">
              <a:spcAft>
                <a:spcPts val="600"/>
              </a:spcAft>
            </a:pPr>
            <a:r>
              <a:rPr sz="2200" b="1">
                <a:solidFill>
                  <a:srgbClr val="FFFFFF"/>
                </a:solidFill>
                <a:latin typeface="Arial"/>
              </a:rPr>
              <a:t>3</a:t>
            </a:r>
          </a:p>
        </p:txBody>
      </p:sp>
      <p:sp>
        <p:nvSpPr>
          <p:cNvPr id="19" name="Rectangle 18"/>
          <p:cNvSpPr/>
          <p:nvPr/>
        </p:nvSpPr>
        <p:spPr>
          <a:xfrm>
            <a:off x="6675120" y="3474720"/>
            <a:ext cx="4965192" cy="731520"/>
          </a:xfrm>
          <a:prstGeom prst="rect">
            <a:avLst/>
          </a:prstGeom>
          <a:solidFill>
            <a:srgbClr val="F3F6FA"/>
          </a:solidFill>
          <a:ln w="9525">
            <a:solidFill>
              <a:srgbClr val="D5DBE3"/>
            </a:solidFill>
          </a:ln>
          <a:effectLst/>
        </p:spPr>
        <p:txBody>
          <a:bodyPr rtlCol="0" anchor="ctr" wrap="square" lIns="182880" rIns="1188720"/>
          <a:lstStyle/>
          <a:p>
            <a:pPr algn="l">
              <a:spcAft>
                <a:spcPts val="600"/>
              </a:spcAft>
            </a:pPr>
            <a:r>
              <a:rPr sz="1800" b="1">
                <a:solidFill>
                  <a:srgbClr val="1F2933"/>
                </a:solidFill>
                <a:latin typeface="Arial"/>
              </a:rPr>
              <a:t>Quy định chuyển thẻ  </a:t>
            </a:r>
          </a:p>
        </p:txBody>
      </p:sp>
      <p:sp>
        <p:nvSpPr>
          <p:cNvPr id="20" name="TextBox 19"/>
          <p:cNvSpPr txBox="1"/>
          <p:nvPr/>
        </p:nvSpPr>
        <p:spPr>
          <a:xfrm>
            <a:off x="10332720" y="3474720"/>
            <a:ext cx="1188720" cy="731520"/>
          </a:xfrm>
          <a:prstGeom prst="rect">
            <a:avLst/>
          </a:prstGeom>
          <a:noFill/>
        </p:spPr>
        <p:txBody>
          <a:bodyPr wrap="square" lIns="0" tIns="0" rIns="0" bIns="0" anchor="ctr"/>
          <a:lstStyle/>
          <a:p>
            <a:pPr algn="r">
              <a:spcAft>
                <a:spcPts val="600"/>
              </a:spcAft>
            </a:pPr>
            <a:r>
              <a:rPr sz="1600" b="0">
                <a:solidFill>
                  <a:srgbClr val="5F6B7A"/>
                </a:solidFill>
                <a:latin typeface="Arial"/>
              </a:rPr>
              <a:t>7 phút</a:t>
            </a:r>
          </a:p>
        </p:txBody>
      </p:sp>
      <p:sp>
        <p:nvSpPr>
          <p:cNvPr id="21" name="Rectangle 20"/>
          <p:cNvSpPr/>
          <p:nvPr/>
        </p:nvSpPr>
        <p:spPr>
          <a:xfrm>
            <a:off x="6035040" y="4389120"/>
            <a:ext cx="640080" cy="731520"/>
          </a:xfrm>
          <a:prstGeom prst="rect">
            <a:avLst/>
          </a:prstGeom>
          <a:solidFill>
            <a:srgbClr val="0E7C86"/>
          </a:solidFill>
          <a:ln>
            <a:noFill/>
          </a:ln>
          <a:effectLst/>
        </p:spPr>
        <p:txBody>
          <a:bodyPr rtlCol="0" anchor="ctr" wrap="square" lIns="109728" tIns="73152" rIns="109728" bIns="73152"/>
          <a:lstStyle/>
          <a:p>
            <a:pPr algn="ctr">
              <a:spcAft>
                <a:spcPts val="600"/>
              </a:spcAft>
            </a:pPr>
            <a:r>
              <a:rPr sz="2200" b="1">
                <a:solidFill>
                  <a:srgbClr val="FFFFFF"/>
                </a:solidFill>
                <a:latin typeface="Arial"/>
              </a:rPr>
              <a:t>4</a:t>
            </a:r>
          </a:p>
        </p:txBody>
      </p:sp>
      <p:sp>
        <p:nvSpPr>
          <p:cNvPr id="22" name="Rectangle 21"/>
          <p:cNvSpPr/>
          <p:nvPr/>
        </p:nvSpPr>
        <p:spPr>
          <a:xfrm>
            <a:off x="6675120" y="4389120"/>
            <a:ext cx="4965192" cy="731520"/>
          </a:xfrm>
          <a:prstGeom prst="rect">
            <a:avLst/>
          </a:prstGeom>
          <a:solidFill>
            <a:srgbClr val="F3F6FA"/>
          </a:solidFill>
          <a:ln w="9525">
            <a:solidFill>
              <a:srgbClr val="D5DBE3"/>
            </a:solidFill>
          </a:ln>
          <a:effectLst/>
        </p:spPr>
        <p:txBody>
          <a:bodyPr rtlCol="0" anchor="ctr" wrap="square" lIns="182880" rIns="1188720"/>
          <a:lstStyle/>
          <a:p>
            <a:pPr algn="l">
              <a:spcAft>
                <a:spcPts val="600"/>
              </a:spcAft>
            </a:pPr>
            <a:r>
              <a:rPr sz="1800" b="1">
                <a:solidFill>
                  <a:srgbClr val="1F2933"/>
                </a:solidFill>
                <a:latin typeface="Arial"/>
              </a:rPr>
              <a:t>Vận hành hiệu quả  </a:t>
            </a:r>
          </a:p>
        </p:txBody>
      </p:sp>
      <p:sp>
        <p:nvSpPr>
          <p:cNvPr id="23" name="TextBox 22"/>
          <p:cNvSpPr txBox="1"/>
          <p:nvPr/>
        </p:nvSpPr>
        <p:spPr>
          <a:xfrm>
            <a:off x="10332720" y="4389120"/>
            <a:ext cx="1188720" cy="731520"/>
          </a:xfrm>
          <a:prstGeom prst="rect">
            <a:avLst/>
          </a:prstGeom>
          <a:noFill/>
        </p:spPr>
        <p:txBody>
          <a:bodyPr wrap="square" lIns="0" tIns="0" rIns="0" bIns="0" anchor="ctr"/>
          <a:lstStyle/>
          <a:p>
            <a:pPr algn="r">
              <a:spcAft>
                <a:spcPts val="600"/>
              </a:spcAft>
            </a:pPr>
            <a:r>
              <a:rPr sz="1600" b="0">
                <a:solidFill>
                  <a:srgbClr val="5F6B7A"/>
                </a:solidFill>
                <a:latin typeface="Arial"/>
              </a:rPr>
              <a:t>7,5 phút</a:t>
            </a:r>
          </a:p>
        </p:txBody>
      </p:sp>
      <p:sp>
        <p:nvSpPr>
          <p:cNvPr id="24" name="Rectangle 23"/>
          <p:cNvSpPr/>
          <p:nvPr/>
        </p:nvSpPr>
        <p:spPr>
          <a:xfrm>
            <a:off x="6035040" y="5303520"/>
            <a:ext cx="640080" cy="731520"/>
          </a:xfrm>
          <a:prstGeom prst="rect">
            <a:avLst/>
          </a:prstGeom>
          <a:solidFill>
            <a:srgbClr val="0E7C86"/>
          </a:solidFill>
          <a:ln>
            <a:noFill/>
          </a:ln>
          <a:effectLst/>
        </p:spPr>
        <p:txBody>
          <a:bodyPr rtlCol="0" anchor="ctr" wrap="square" lIns="109728" tIns="73152" rIns="109728" bIns="73152"/>
          <a:lstStyle/>
          <a:p>
            <a:pPr algn="ctr">
              <a:spcAft>
                <a:spcPts val="600"/>
              </a:spcAft>
            </a:pPr>
            <a:r>
              <a:rPr sz="2200" b="1">
                <a:solidFill>
                  <a:srgbClr val="FFFFFF"/>
                </a:solidFill>
                <a:latin typeface="Arial"/>
              </a:rPr>
              <a:t>·</a:t>
            </a:r>
          </a:p>
        </p:txBody>
      </p:sp>
      <p:sp>
        <p:nvSpPr>
          <p:cNvPr id="25" name="Rectangle 24"/>
          <p:cNvSpPr/>
          <p:nvPr/>
        </p:nvSpPr>
        <p:spPr>
          <a:xfrm>
            <a:off x="6675120" y="5303520"/>
            <a:ext cx="4965192" cy="731520"/>
          </a:xfrm>
          <a:prstGeom prst="rect">
            <a:avLst/>
          </a:prstGeom>
          <a:solidFill>
            <a:srgbClr val="F3F6FA"/>
          </a:solidFill>
          <a:ln w="9525">
            <a:solidFill>
              <a:srgbClr val="D5DBE3"/>
            </a:solidFill>
          </a:ln>
          <a:effectLst/>
        </p:spPr>
        <p:txBody>
          <a:bodyPr rtlCol="0" anchor="ctr" wrap="square" lIns="182880" rIns="1188720"/>
          <a:lstStyle/>
          <a:p>
            <a:pPr algn="l">
              <a:spcAft>
                <a:spcPts val="600"/>
              </a:spcAft>
            </a:pPr>
            <a:r>
              <a:rPr sz="1800" b="1">
                <a:solidFill>
                  <a:srgbClr val="1F2933"/>
                </a:solidFill>
                <a:latin typeface="Arial"/>
              </a:rPr>
              <a:t>Tổng kết và hỏi đáp  </a:t>
            </a:r>
          </a:p>
        </p:txBody>
      </p:sp>
      <p:sp>
        <p:nvSpPr>
          <p:cNvPr id="26" name="TextBox 25"/>
          <p:cNvSpPr txBox="1"/>
          <p:nvPr/>
        </p:nvSpPr>
        <p:spPr>
          <a:xfrm>
            <a:off x="10332720" y="5303520"/>
            <a:ext cx="1188720" cy="731520"/>
          </a:xfrm>
          <a:prstGeom prst="rect">
            <a:avLst/>
          </a:prstGeom>
          <a:noFill/>
        </p:spPr>
        <p:txBody>
          <a:bodyPr wrap="square" lIns="0" tIns="0" rIns="0" bIns="0" anchor="ctr"/>
          <a:lstStyle/>
          <a:p>
            <a:pPr algn="r">
              <a:spcAft>
                <a:spcPts val="600"/>
              </a:spcAft>
            </a:pPr>
            <a:r>
              <a:rPr sz="1600" b="0">
                <a:solidFill>
                  <a:srgbClr val="5F6B7A"/>
                </a:solidFill>
                <a:latin typeface="Arial"/>
              </a:rPr>
              <a:t>3 phút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1 · NỀN TẢNG</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Scrum cho nhịp, Kanban cho luồng</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D5DBE3"/>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D5DBE3"/>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D5DBE3"/>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3 / 21</a:t>
            </a:r>
          </a:p>
        </p:txBody>
      </p:sp>
      <p:sp>
        <p:nvSpPr>
          <p:cNvPr id="9" name="Rectangle 8"/>
          <p:cNvSpPr/>
          <p:nvPr/>
        </p:nvSpPr>
        <p:spPr>
          <a:xfrm>
            <a:off x="548640" y="1645920"/>
            <a:ext cx="5394960" cy="3383280"/>
          </a:xfrm>
          <a:prstGeom prst="rect">
            <a:avLst/>
          </a:prstGeom>
          <a:solidFill>
            <a:srgbClr val="F3F6FA"/>
          </a:solidFill>
          <a:ln w="9525">
            <a:solidFill>
              <a:srgbClr val="D5DBE3"/>
            </a:solidFill>
          </a:ln>
          <a:effectLst/>
        </p:spPr>
        <p:txBody>
          <a:bodyPr rtlCol="0" anchor="ctr"/>
          <a:lstStyle/>
          <a:p>
            <a:pPr algn="ctr"/>
          </a:p>
        </p:txBody>
      </p:sp>
      <p:sp>
        <p:nvSpPr>
          <p:cNvPr id="10" name="Rectangle 9"/>
          <p:cNvSpPr/>
          <p:nvPr/>
        </p:nvSpPr>
        <p:spPr>
          <a:xfrm>
            <a:off x="548640" y="1645920"/>
            <a:ext cx="5394960" cy="640080"/>
          </a:xfrm>
          <a:prstGeom prst="rect">
            <a:avLst/>
          </a:prstGeom>
          <a:solidFill>
            <a:srgbClr val="1B2A41"/>
          </a:solidFill>
          <a:ln>
            <a:noFill/>
          </a:ln>
          <a:effectLst/>
        </p:spPr>
        <p:txBody>
          <a:bodyPr rtlCol="0" anchor="ctr" wrap="square" lIns="274320"/>
          <a:lstStyle/>
          <a:p>
            <a:pPr algn="l">
              <a:spcAft>
                <a:spcPts val="600"/>
              </a:spcAft>
            </a:pPr>
            <a:r>
              <a:rPr sz="2400" b="1">
                <a:solidFill>
                  <a:srgbClr val="FFFFFF"/>
                </a:solidFill>
                <a:latin typeface="Arial"/>
              </a:rPr>
              <a:t>Scrum</a:t>
            </a:r>
          </a:p>
        </p:txBody>
      </p:sp>
      <p:sp>
        <p:nvSpPr>
          <p:cNvPr id="11" name="TextBox 10"/>
          <p:cNvSpPr txBox="1"/>
          <p:nvPr/>
        </p:nvSpPr>
        <p:spPr>
          <a:xfrm>
            <a:off x="822959" y="2514600"/>
            <a:ext cx="4846320" cy="2468880"/>
          </a:xfrm>
          <a:prstGeom prst="rect">
            <a:avLst/>
          </a:prstGeom>
          <a:noFill/>
        </p:spPr>
        <p:txBody>
          <a:bodyPr wrap="square" lIns="0" tIns="0" rIns="0" bIns="0" anchor="t"/>
          <a:lstStyle/>
          <a:p>
            <a:pPr algn="l" marL="237744" indent="-237744">
              <a:spcAft>
                <a:spcPts val="1400"/>
              </a:spcAft>
              <a:buChar char="•"/>
            </a:pPr>
            <a:r>
              <a:rPr sz="2000" b="0">
                <a:solidFill>
                  <a:srgbClr val="1F2933"/>
                </a:solidFill>
                <a:latin typeface="Arial"/>
              </a:rPr>
              <a:t>Sprint có độ dài cố định (1–4 tuần)</a:t>
            </a:r>
          </a:p>
          <a:p>
            <a:pPr algn="l" marL="237744" indent="-237744">
              <a:spcAft>
                <a:spcPts val="1400"/>
              </a:spcAft>
              <a:buChar char="•"/>
            </a:pPr>
            <a:r>
              <a:rPr sz="2000" b="0">
                <a:solidFill>
                  <a:srgbClr val="1F2933"/>
                </a:solidFill>
                <a:latin typeface="Arial"/>
              </a:rPr>
              <a:t>Sprint Goal và Sprint Backlog là cam kết</a:t>
            </a:r>
          </a:p>
          <a:p>
            <a:pPr algn="l" marL="237744" indent="-237744">
              <a:spcAft>
                <a:spcPts val="1400"/>
              </a:spcAft>
              <a:buChar char="•"/>
            </a:pPr>
            <a:r>
              <a:rPr sz="2000" b="0">
                <a:solidFill>
                  <a:srgbClr val="1F2933"/>
                </a:solidFill>
                <a:latin typeface="Arial"/>
              </a:rPr>
              <a:t>Các sự kiện: Planning, Daily, Review, Retrospective</a:t>
            </a:r>
          </a:p>
        </p:txBody>
      </p:sp>
      <p:sp>
        <p:nvSpPr>
          <p:cNvPr id="12" name="Rectangle 11"/>
          <p:cNvSpPr/>
          <p:nvPr/>
        </p:nvSpPr>
        <p:spPr>
          <a:xfrm>
            <a:off x="6217920" y="1645920"/>
            <a:ext cx="5394960" cy="3383280"/>
          </a:xfrm>
          <a:prstGeom prst="rect">
            <a:avLst/>
          </a:prstGeom>
          <a:solidFill>
            <a:srgbClr val="F3F6FA"/>
          </a:solidFill>
          <a:ln w="9525">
            <a:solidFill>
              <a:srgbClr val="D5DBE3"/>
            </a:solidFill>
          </a:ln>
          <a:effectLst/>
        </p:spPr>
        <p:txBody>
          <a:bodyPr rtlCol="0" anchor="ctr"/>
          <a:lstStyle/>
          <a:p>
            <a:pPr algn="ctr"/>
          </a:p>
        </p:txBody>
      </p:sp>
      <p:sp>
        <p:nvSpPr>
          <p:cNvPr id="13" name="Rectangle 12"/>
          <p:cNvSpPr/>
          <p:nvPr/>
        </p:nvSpPr>
        <p:spPr>
          <a:xfrm>
            <a:off x="6217920" y="1645920"/>
            <a:ext cx="5394960" cy="640080"/>
          </a:xfrm>
          <a:prstGeom prst="rect">
            <a:avLst/>
          </a:prstGeom>
          <a:solidFill>
            <a:srgbClr val="1B2A41"/>
          </a:solidFill>
          <a:ln>
            <a:noFill/>
          </a:ln>
          <a:effectLst/>
        </p:spPr>
        <p:txBody>
          <a:bodyPr rtlCol="0" anchor="ctr" wrap="square" lIns="274320"/>
          <a:lstStyle/>
          <a:p>
            <a:pPr algn="l">
              <a:spcAft>
                <a:spcPts val="600"/>
              </a:spcAft>
            </a:pPr>
            <a:r>
              <a:rPr sz="2400" b="1">
                <a:solidFill>
                  <a:srgbClr val="FFFFFF"/>
                </a:solidFill>
                <a:latin typeface="Arial"/>
              </a:rPr>
              <a:t>Kanban</a:t>
            </a:r>
          </a:p>
        </p:txBody>
      </p:sp>
      <p:sp>
        <p:nvSpPr>
          <p:cNvPr id="14" name="TextBox 13"/>
          <p:cNvSpPr txBox="1"/>
          <p:nvPr/>
        </p:nvSpPr>
        <p:spPr>
          <a:xfrm>
            <a:off x="6492240" y="2514600"/>
            <a:ext cx="4846320" cy="2468880"/>
          </a:xfrm>
          <a:prstGeom prst="rect">
            <a:avLst/>
          </a:prstGeom>
          <a:noFill/>
        </p:spPr>
        <p:txBody>
          <a:bodyPr wrap="square" lIns="0" tIns="0" rIns="0" bIns="0" anchor="t"/>
          <a:lstStyle/>
          <a:p>
            <a:pPr algn="l" marL="237744" indent="-237744">
              <a:spcAft>
                <a:spcPts val="1400"/>
              </a:spcAft>
              <a:buChar char="•"/>
            </a:pPr>
            <a:r>
              <a:rPr sz="2000" b="0">
                <a:solidFill>
                  <a:srgbClr val="1F2933"/>
                </a:solidFill>
                <a:latin typeface="Arial"/>
              </a:rPr>
              <a:t>Board hiển thị toàn bộ công việc</a:t>
            </a:r>
          </a:p>
          <a:p>
            <a:pPr algn="l" marL="237744" indent="-237744">
              <a:spcAft>
                <a:spcPts val="1400"/>
              </a:spcAft>
              <a:buChar char="•"/>
            </a:pPr>
            <a:r>
              <a:rPr sz="2000" b="0">
                <a:solidFill>
                  <a:srgbClr val="1F2933"/>
                </a:solidFill>
                <a:latin typeface="Arial"/>
              </a:rPr>
              <a:t>WIP limit giới hạn việc dang dở</a:t>
            </a:r>
          </a:p>
          <a:p>
            <a:pPr algn="l" marL="237744" indent="-237744">
              <a:spcAft>
                <a:spcPts val="1400"/>
              </a:spcAft>
              <a:buChar char="•"/>
            </a:pPr>
            <a:r>
              <a:rPr sz="2000" b="0">
                <a:solidFill>
                  <a:srgbClr val="1F2933"/>
                </a:solidFill>
                <a:latin typeface="Arial"/>
              </a:rPr>
              <a:t>Kéo (pull) thay vì đẩy, đo bằng chỉ số luồng</a:t>
            </a:r>
          </a:p>
        </p:txBody>
      </p:sp>
      <p:sp>
        <p:nvSpPr>
          <p:cNvPr id="15" name="Rectangle 14"/>
          <p:cNvSpPr/>
          <p:nvPr/>
        </p:nvSpPr>
        <p:spPr>
          <a:xfrm>
            <a:off x="548640" y="5349240"/>
            <a:ext cx="11091672" cy="640080"/>
          </a:xfrm>
          <a:prstGeom prst="rect">
            <a:avLst/>
          </a:prstGeom>
          <a:solidFill>
            <a:srgbClr val="0E7C86"/>
          </a:solidFill>
          <a:ln>
            <a:noFill/>
          </a:ln>
          <a:effectLst/>
        </p:spPr>
        <p:txBody>
          <a:bodyPr rtlCol="0" anchor="ctr" wrap="square" lIns="109728" tIns="73152" rIns="109728" bIns="73152"/>
          <a:lstStyle/>
          <a:p>
            <a:pPr algn="ctr">
              <a:spcAft>
                <a:spcPts val="600"/>
              </a:spcAft>
            </a:pPr>
            <a:r>
              <a:rPr sz="1800" b="1">
                <a:solidFill>
                  <a:srgbClr val="FFFFFF"/>
                </a:solidFill>
                <a:latin typeface="Arial"/>
              </a:rPr>
              <a:t>Kết hợp: sprint tạo nhịp cam kết, board giúp thấy và điều tiết luồng công việc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1 · NỀN TẢNG</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Vai trò của nhóm</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D5DBE3"/>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D5DBE3"/>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D5DBE3"/>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4 / 21</a:t>
            </a:r>
          </a:p>
        </p:txBody>
      </p:sp>
      <p:sp>
        <p:nvSpPr>
          <p:cNvPr id="9" name="Rectangle 8"/>
          <p:cNvSpPr/>
          <p:nvPr/>
        </p:nvSpPr>
        <p:spPr>
          <a:xfrm>
            <a:off x="548640" y="1645920"/>
            <a:ext cx="2615184" cy="3566160"/>
          </a:xfrm>
          <a:prstGeom prst="rect">
            <a:avLst/>
          </a:prstGeom>
          <a:solidFill>
            <a:srgbClr val="F3F6FA"/>
          </a:solidFill>
          <a:ln w="9525">
            <a:solidFill>
              <a:srgbClr val="D5DBE3"/>
            </a:solidFill>
          </a:ln>
          <a:effectLst/>
        </p:spPr>
        <p:txBody>
          <a:bodyPr rtlCol="0" anchor="ctr"/>
          <a:lstStyle/>
          <a:p>
            <a:pPr algn="ctr"/>
          </a:p>
        </p:txBody>
      </p:sp>
      <p:sp>
        <p:nvSpPr>
          <p:cNvPr id="10" name="Rectangle 9"/>
          <p:cNvSpPr/>
          <p:nvPr/>
        </p:nvSpPr>
        <p:spPr>
          <a:xfrm>
            <a:off x="548640" y="1645920"/>
            <a:ext cx="2615184" cy="640080"/>
          </a:xfrm>
          <a:prstGeom prst="rect">
            <a:avLst/>
          </a:prstGeom>
          <a:solidFill>
            <a:srgbClr val="1B2A41"/>
          </a:solidFill>
          <a:ln>
            <a:noFill/>
          </a:ln>
          <a:effectLst/>
        </p:spPr>
        <p:txBody>
          <a:bodyPr rtlCol="0" anchor="ctr" wrap="square" lIns="182880"/>
          <a:lstStyle/>
          <a:p>
            <a:pPr algn="l">
              <a:spcAft>
                <a:spcPts val="600"/>
              </a:spcAft>
            </a:pPr>
            <a:r>
              <a:rPr sz="2200" b="1">
                <a:solidFill>
                  <a:srgbClr val="FFFFFF"/>
                </a:solidFill>
                <a:latin typeface="Arial"/>
              </a:rPr>
              <a:t>Dev</a:t>
            </a:r>
          </a:p>
        </p:txBody>
      </p:sp>
      <p:sp>
        <p:nvSpPr>
          <p:cNvPr id="11" name="TextBox 10"/>
          <p:cNvSpPr txBox="1"/>
          <p:nvPr/>
        </p:nvSpPr>
        <p:spPr>
          <a:xfrm>
            <a:off x="731520" y="2395728"/>
            <a:ext cx="2249424" cy="548640"/>
          </a:xfrm>
          <a:prstGeom prst="rect">
            <a:avLst/>
          </a:prstGeom>
          <a:noFill/>
        </p:spPr>
        <p:txBody>
          <a:bodyPr wrap="square" lIns="0" tIns="0" rIns="0" bIns="0" anchor="t"/>
          <a:lstStyle/>
          <a:p>
            <a:pPr algn="l">
              <a:spcAft>
                <a:spcPts val="600"/>
              </a:spcAft>
            </a:pPr>
            <a:r>
              <a:rPr sz="1300" b="0">
                <a:solidFill>
                  <a:srgbClr val="5F6B7A"/>
                </a:solidFill>
                <a:latin typeface="Arial"/>
              </a:rPr>
              <a:t>Vai trò chính thức</a:t>
            </a:r>
          </a:p>
        </p:txBody>
      </p:sp>
      <p:sp>
        <p:nvSpPr>
          <p:cNvPr id="12" name="TextBox 11"/>
          <p:cNvSpPr txBox="1"/>
          <p:nvPr/>
        </p:nvSpPr>
        <p:spPr>
          <a:xfrm>
            <a:off x="731520" y="3017520"/>
            <a:ext cx="2249424" cy="2103120"/>
          </a:xfrm>
          <a:prstGeom prst="rect">
            <a:avLst/>
          </a:prstGeom>
          <a:noFill/>
        </p:spPr>
        <p:txBody>
          <a:bodyPr wrap="square" lIns="0" tIns="0" rIns="0" bIns="0" anchor="t"/>
          <a:lstStyle/>
          <a:p>
            <a:pPr algn="l" marL="237744" indent="-237744">
              <a:spcAft>
                <a:spcPts val="1000"/>
              </a:spcAft>
              <a:buChar char="•"/>
            </a:pPr>
            <a:r>
              <a:rPr sz="1700" b="0">
                <a:solidFill>
                  <a:srgbClr val="1F2933"/>
                </a:solidFill>
                <a:latin typeface="Arial"/>
              </a:rPr>
              <a:t>Làm việc và deploy</a:t>
            </a:r>
          </a:p>
          <a:p>
            <a:pPr algn="l" marL="237744" indent="-237744">
              <a:spcAft>
                <a:spcPts val="1000"/>
              </a:spcAft>
              <a:buChar char="•"/>
            </a:pPr>
            <a:r>
              <a:rPr sz="1700" b="0">
                <a:solidFill>
                  <a:srgbClr val="1F2933"/>
                </a:solidFill>
                <a:latin typeface="Arial"/>
              </a:rPr>
              <a:t>Review chéo: Dev khác tác giả thẻ</a:t>
            </a:r>
          </a:p>
        </p:txBody>
      </p:sp>
      <p:sp>
        <p:nvSpPr>
          <p:cNvPr id="13" name="Rectangle 12"/>
          <p:cNvSpPr/>
          <p:nvPr/>
        </p:nvSpPr>
        <p:spPr>
          <a:xfrm>
            <a:off x="3374136" y="1645920"/>
            <a:ext cx="2615184" cy="3566160"/>
          </a:xfrm>
          <a:prstGeom prst="rect">
            <a:avLst/>
          </a:prstGeom>
          <a:solidFill>
            <a:srgbClr val="F3F6FA"/>
          </a:solidFill>
          <a:ln w="9525">
            <a:solidFill>
              <a:srgbClr val="D5DBE3"/>
            </a:solidFill>
          </a:ln>
          <a:effectLst/>
        </p:spPr>
        <p:txBody>
          <a:bodyPr rtlCol="0" anchor="ctr"/>
          <a:lstStyle/>
          <a:p>
            <a:pPr algn="ctr"/>
          </a:p>
        </p:txBody>
      </p:sp>
      <p:sp>
        <p:nvSpPr>
          <p:cNvPr id="14" name="Rectangle 13"/>
          <p:cNvSpPr/>
          <p:nvPr/>
        </p:nvSpPr>
        <p:spPr>
          <a:xfrm>
            <a:off x="3374136" y="1645920"/>
            <a:ext cx="2615184" cy="640080"/>
          </a:xfrm>
          <a:prstGeom prst="rect">
            <a:avLst/>
          </a:prstGeom>
          <a:solidFill>
            <a:srgbClr val="1B2A41"/>
          </a:solidFill>
          <a:ln>
            <a:noFill/>
          </a:ln>
          <a:effectLst/>
        </p:spPr>
        <p:txBody>
          <a:bodyPr rtlCol="0" anchor="ctr" wrap="square" lIns="182880"/>
          <a:lstStyle/>
          <a:p>
            <a:pPr algn="l">
              <a:spcAft>
                <a:spcPts val="600"/>
              </a:spcAft>
            </a:pPr>
            <a:r>
              <a:rPr sz="2200" b="1">
                <a:solidFill>
                  <a:srgbClr val="FFFFFF"/>
                </a:solidFill>
                <a:latin typeface="Arial"/>
              </a:rPr>
              <a:t>Tester</a:t>
            </a:r>
          </a:p>
        </p:txBody>
      </p:sp>
      <p:sp>
        <p:nvSpPr>
          <p:cNvPr id="15" name="TextBox 14"/>
          <p:cNvSpPr txBox="1"/>
          <p:nvPr/>
        </p:nvSpPr>
        <p:spPr>
          <a:xfrm>
            <a:off x="3557016" y="2395728"/>
            <a:ext cx="2249424" cy="548640"/>
          </a:xfrm>
          <a:prstGeom prst="rect">
            <a:avLst/>
          </a:prstGeom>
          <a:noFill/>
        </p:spPr>
        <p:txBody>
          <a:bodyPr wrap="square" lIns="0" tIns="0" rIns="0" bIns="0" anchor="t"/>
          <a:lstStyle/>
          <a:p>
            <a:pPr algn="l">
              <a:spcAft>
                <a:spcPts val="600"/>
              </a:spcAft>
            </a:pPr>
            <a:r>
              <a:rPr sz="1300" b="0">
                <a:solidFill>
                  <a:srgbClr val="5F6B7A"/>
                </a:solidFill>
                <a:latin typeface="Arial"/>
              </a:rPr>
              <a:t>Vai trò chính thức</a:t>
            </a:r>
          </a:p>
        </p:txBody>
      </p:sp>
      <p:sp>
        <p:nvSpPr>
          <p:cNvPr id="16" name="TextBox 15"/>
          <p:cNvSpPr txBox="1"/>
          <p:nvPr/>
        </p:nvSpPr>
        <p:spPr>
          <a:xfrm>
            <a:off x="3557016" y="3017520"/>
            <a:ext cx="2249424" cy="2103120"/>
          </a:xfrm>
          <a:prstGeom prst="rect">
            <a:avLst/>
          </a:prstGeom>
          <a:noFill/>
        </p:spPr>
        <p:txBody>
          <a:bodyPr wrap="square" lIns="0" tIns="0" rIns="0" bIns="0" anchor="t"/>
          <a:lstStyle/>
          <a:p>
            <a:pPr algn="l" marL="237744" indent="-237744">
              <a:spcAft>
                <a:spcPts val="1000"/>
              </a:spcAft>
              <a:buChar char="•"/>
            </a:pPr>
            <a:r>
              <a:rPr sz="1700" b="0">
                <a:solidFill>
                  <a:srgbClr val="1F2933"/>
                </a:solidFill>
                <a:latin typeface="Arial"/>
              </a:rPr>
              <a:t>Kiểm thử theo tiêu chí chấp nhận</a:t>
            </a:r>
          </a:p>
          <a:p>
            <a:pPr algn="l" marL="237744" indent="-237744">
              <a:spcAft>
                <a:spcPts val="1000"/>
              </a:spcAft>
              <a:buChar char="•"/>
            </a:pPr>
            <a:r>
              <a:rPr sz="1700" b="0">
                <a:solidFill>
                  <a:srgbClr val="1F2933"/>
                </a:solidFill>
                <a:latin typeface="Arial"/>
              </a:rPr>
              <a:t>Nghiệm thu chất lượng, smoke test sau phát hành</a:t>
            </a:r>
          </a:p>
        </p:txBody>
      </p:sp>
      <p:sp>
        <p:nvSpPr>
          <p:cNvPr id="17" name="Rectangle 16"/>
          <p:cNvSpPr/>
          <p:nvPr/>
        </p:nvSpPr>
        <p:spPr>
          <a:xfrm>
            <a:off x="6199631" y="1645920"/>
            <a:ext cx="2615184" cy="3566160"/>
          </a:xfrm>
          <a:prstGeom prst="rect">
            <a:avLst/>
          </a:prstGeom>
          <a:solidFill>
            <a:srgbClr val="F3F6FA"/>
          </a:solidFill>
          <a:ln w="9525">
            <a:solidFill>
              <a:srgbClr val="D5DBE3"/>
            </a:solidFill>
          </a:ln>
          <a:effectLst/>
        </p:spPr>
        <p:txBody>
          <a:bodyPr rtlCol="0" anchor="ctr"/>
          <a:lstStyle/>
          <a:p>
            <a:pPr algn="ctr"/>
          </a:p>
        </p:txBody>
      </p:sp>
      <p:sp>
        <p:nvSpPr>
          <p:cNvPr id="18" name="Rectangle 17"/>
          <p:cNvSpPr/>
          <p:nvPr/>
        </p:nvSpPr>
        <p:spPr>
          <a:xfrm>
            <a:off x="6199631" y="1645920"/>
            <a:ext cx="2615184" cy="640080"/>
          </a:xfrm>
          <a:prstGeom prst="rect">
            <a:avLst/>
          </a:prstGeom>
          <a:solidFill>
            <a:srgbClr val="0E7C86"/>
          </a:solidFill>
          <a:ln>
            <a:noFill/>
          </a:ln>
          <a:effectLst/>
        </p:spPr>
        <p:txBody>
          <a:bodyPr rtlCol="0" anchor="ctr" wrap="square" lIns="182880"/>
          <a:lstStyle/>
          <a:p>
            <a:pPr algn="l">
              <a:spcAft>
                <a:spcPts val="600"/>
              </a:spcAft>
            </a:pPr>
            <a:r>
              <a:rPr sz="2200" b="1">
                <a:solidFill>
                  <a:srgbClr val="FFFFFF"/>
                </a:solidFill>
                <a:latin typeface="Arial"/>
              </a:rPr>
              <a:t>Trưởng nhóm</a:t>
            </a:r>
          </a:p>
        </p:txBody>
      </p:sp>
      <p:sp>
        <p:nvSpPr>
          <p:cNvPr id="19" name="TextBox 18"/>
          <p:cNvSpPr txBox="1"/>
          <p:nvPr/>
        </p:nvSpPr>
        <p:spPr>
          <a:xfrm>
            <a:off x="6382512" y="2395728"/>
            <a:ext cx="2249424" cy="548640"/>
          </a:xfrm>
          <a:prstGeom prst="rect">
            <a:avLst/>
          </a:prstGeom>
          <a:noFill/>
        </p:spPr>
        <p:txBody>
          <a:bodyPr wrap="square" lIns="0" tIns="0" rIns="0" bIns="0" anchor="t"/>
          <a:lstStyle/>
          <a:p>
            <a:pPr algn="l">
              <a:spcAft>
                <a:spcPts val="600"/>
              </a:spcAft>
            </a:pPr>
            <a:r>
              <a:rPr sz="1300" b="0">
                <a:solidFill>
                  <a:srgbClr val="5F6B7A"/>
                </a:solidFill>
                <a:latin typeface="Arial"/>
              </a:rPr>
              <a:t>Một Dev · thay Product Owner</a:t>
            </a:r>
          </a:p>
        </p:txBody>
      </p:sp>
      <p:sp>
        <p:nvSpPr>
          <p:cNvPr id="20" name="TextBox 19"/>
          <p:cNvSpPr txBox="1"/>
          <p:nvPr/>
        </p:nvSpPr>
        <p:spPr>
          <a:xfrm>
            <a:off x="6382512" y="3017520"/>
            <a:ext cx="2249424" cy="2103120"/>
          </a:xfrm>
          <a:prstGeom prst="rect">
            <a:avLst/>
          </a:prstGeom>
          <a:noFill/>
        </p:spPr>
        <p:txBody>
          <a:bodyPr wrap="square" lIns="0" tIns="0" rIns="0" bIns="0" anchor="t"/>
          <a:lstStyle/>
          <a:p>
            <a:pPr algn="l" marL="237744" indent="-237744">
              <a:spcAft>
                <a:spcPts val="1000"/>
              </a:spcAft>
              <a:buChar char="•"/>
            </a:pPr>
            <a:r>
              <a:rPr sz="1700" b="0">
                <a:solidFill>
                  <a:srgbClr val="1F2933"/>
                </a:solidFill>
                <a:latin typeface="Arial"/>
              </a:rPr>
              <a:t>Chốt thứ tự ưu tiên backlog</a:t>
            </a:r>
          </a:p>
          <a:p>
            <a:pPr algn="l" marL="237744" indent="-237744">
              <a:spcAft>
                <a:spcPts val="1000"/>
              </a:spcAft>
              <a:buChar char="•"/>
            </a:pPr>
            <a:r>
              <a:rPr sz="1700" b="0">
                <a:solidFill>
                  <a:srgbClr val="1F2933"/>
                </a:solidFill>
                <a:latin typeface="Arial"/>
              </a:rPr>
              <a:t>Phân loại thẻ Open, đóng thẻ</a:t>
            </a:r>
          </a:p>
        </p:txBody>
      </p:sp>
      <p:sp>
        <p:nvSpPr>
          <p:cNvPr id="21" name="Rectangle 20"/>
          <p:cNvSpPr/>
          <p:nvPr/>
        </p:nvSpPr>
        <p:spPr>
          <a:xfrm>
            <a:off x="9025128" y="1645920"/>
            <a:ext cx="2615184" cy="3566160"/>
          </a:xfrm>
          <a:prstGeom prst="rect">
            <a:avLst/>
          </a:prstGeom>
          <a:solidFill>
            <a:srgbClr val="F3F6FA"/>
          </a:solidFill>
          <a:ln w="9525">
            <a:solidFill>
              <a:srgbClr val="D5DBE3"/>
            </a:solidFill>
          </a:ln>
          <a:effectLst/>
        </p:spPr>
        <p:txBody>
          <a:bodyPr rtlCol="0" anchor="ctr"/>
          <a:lstStyle/>
          <a:p>
            <a:pPr algn="ctr"/>
          </a:p>
        </p:txBody>
      </p:sp>
      <p:sp>
        <p:nvSpPr>
          <p:cNvPr id="22" name="Rectangle 21"/>
          <p:cNvSpPr/>
          <p:nvPr/>
        </p:nvSpPr>
        <p:spPr>
          <a:xfrm>
            <a:off x="9025128" y="1645920"/>
            <a:ext cx="2615184" cy="640080"/>
          </a:xfrm>
          <a:prstGeom prst="rect">
            <a:avLst/>
          </a:prstGeom>
          <a:solidFill>
            <a:srgbClr val="0E7C86"/>
          </a:solidFill>
          <a:ln>
            <a:noFill/>
          </a:ln>
          <a:effectLst/>
        </p:spPr>
        <p:txBody>
          <a:bodyPr rtlCol="0" anchor="ctr" wrap="square" lIns="182880"/>
          <a:lstStyle/>
          <a:p>
            <a:pPr algn="l">
              <a:spcAft>
                <a:spcPts val="600"/>
              </a:spcAft>
            </a:pPr>
            <a:r>
              <a:rPr sz="2200" b="1">
                <a:solidFill>
                  <a:srgbClr val="FFFFFF"/>
                </a:solidFill>
                <a:latin typeface="Arial"/>
              </a:rPr>
              <a:t>Điều phối viên</a:t>
            </a:r>
          </a:p>
        </p:txBody>
      </p:sp>
      <p:sp>
        <p:nvSpPr>
          <p:cNvPr id="23" name="TextBox 22"/>
          <p:cNvSpPr txBox="1"/>
          <p:nvPr/>
        </p:nvSpPr>
        <p:spPr>
          <a:xfrm>
            <a:off x="9208007" y="2395728"/>
            <a:ext cx="2249424" cy="548640"/>
          </a:xfrm>
          <a:prstGeom prst="rect">
            <a:avLst/>
          </a:prstGeom>
          <a:noFill/>
        </p:spPr>
        <p:txBody>
          <a:bodyPr wrap="square" lIns="0" tIns="0" rIns="0" bIns="0" anchor="t"/>
          <a:lstStyle/>
          <a:p>
            <a:pPr algn="l">
              <a:spcAft>
                <a:spcPts val="600"/>
              </a:spcAft>
            </a:pPr>
            <a:r>
              <a:rPr sz="1300" b="0">
                <a:solidFill>
                  <a:srgbClr val="5F6B7A"/>
                </a:solidFill>
                <a:latin typeface="Arial"/>
              </a:rPr>
              <a:t>Một người cố định · thay Scrum Master</a:t>
            </a:r>
          </a:p>
        </p:txBody>
      </p:sp>
      <p:sp>
        <p:nvSpPr>
          <p:cNvPr id="24" name="TextBox 23"/>
          <p:cNvSpPr txBox="1"/>
          <p:nvPr/>
        </p:nvSpPr>
        <p:spPr>
          <a:xfrm>
            <a:off x="9208007" y="3017520"/>
            <a:ext cx="2249424" cy="2103120"/>
          </a:xfrm>
          <a:prstGeom prst="rect">
            <a:avLst/>
          </a:prstGeom>
          <a:noFill/>
        </p:spPr>
        <p:txBody>
          <a:bodyPr wrap="square" lIns="0" tIns="0" rIns="0" bIns="0" anchor="t"/>
          <a:lstStyle/>
          <a:p>
            <a:pPr algn="l" marL="237744" indent="-237744">
              <a:spcAft>
                <a:spcPts val="1000"/>
              </a:spcAft>
              <a:buChar char="•"/>
            </a:pPr>
            <a:r>
              <a:rPr sz="1700" b="0">
                <a:solidFill>
                  <a:srgbClr val="1F2933"/>
                </a:solidFill>
                <a:latin typeface="Arial"/>
              </a:rPr>
              <a:t>Chủ trì các sự kiện Scrum</a:t>
            </a:r>
          </a:p>
          <a:p>
            <a:pPr algn="l" marL="237744" indent="-237744">
              <a:spcAft>
                <a:spcPts val="1000"/>
              </a:spcAft>
              <a:buChar char="•"/>
            </a:pPr>
            <a:r>
              <a:rPr sz="1700" b="0">
                <a:solidFill>
                  <a:srgbClr val="1F2933"/>
                </a:solidFill>
                <a:latin typeface="Arial"/>
              </a:rPr>
              <a:t>Theo dõi Waiting, giữ WIP limit và DoD</a:t>
            </a:r>
          </a:p>
        </p:txBody>
      </p:sp>
      <p:sp>
        <p:nvSpPr>
          <p:cNvPr id="25" name="Rectangle 24"/>
          <p:cNvSpPr/>
          <p:nvPr/>
        </p:nvSpPr>
        <p:spPr>
          <a:xfrm>
            <a:off x="548640" y="5486400"/>
            <a:ext cx="11091672" cy="640080"/>
          </a:xfrm>
          <a:prstGeom prst="rect">
            <a:avLst/>
          </a:prstGeom>
          <a:solidFill>
            <a:srgbClr val="0E7C86"/>
          </a:solidFill>
          <a:ln>
            <a:noFill/>
          </a:ln>
          <a:effectLst/>
        </p:spPr>
        <p:txBody>
          <a:bodyPr rtlCol="0" anchor="ctr" wrap="square" lIns="109728" tIns="73152" rIns="109728" bIns="73152"/>
          <a:lstStyle/>
          <a:p>
            <a:pPr algn="ctr">
              <a:spcAft>
                <a:spcPts val="600"/>
              </a:spcAft>
            </a:pPr>
            <a:r>
              <a:rPr sz="1800" b="1">
                <a:solidFill>
                  <a:srgbClr val="FFFFFF"/>
                </a:solidFill>
                <a:latin typeface="Arial"/>
              </a:rPr>
              <a:t>Người viết thẻ không tự review và không tự nghiệm thu thẻ của mình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2 · BOARD 11 CỘT</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Toàn cảnh board</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D5DBE3"/>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D5DBE3"/>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5 / 21</a:t>
            </a:r>
          </a:p>
        </p:txBody>
      </p:sp>
      <p:sp>
        <p:nvSpPr>
          <p:cNvPr id="9" name="Rectangle 8"/>
          <p:cNvSpPr/>
          <p:nvPr/>
        </p:nvSpPr>
        <p:spPr>
          <a:xfrm>
            <a:off x="548640" y="2514600"/>
            <a:ext cx="941832" cy="914400"/>
          </a:xfrm>
          <a:prstGeom prst="rect">
            <a:avLst/>
          </a:prstGeom>
          <a:solidFill>
            <a:srgbClr val="2F6FDE"/>
          </a:solidFill>
          <a:ln>
            <a:noFill/>
          </a:ln>
          <a:effectLst/>
        </p:spPr>
        <p:txBody>
          <a:bodyPr rtlCol="0" anchor="ctr" wrap="square" lIns="27432" rIns="27432"/>
          <a:lstStyle/>
          <a:p>
            <a:pPr algn="ctr">
              <a:spcAft>
                <a:spcPts val="600"/>
              </a:spcAft>
            </a:pPr>
            <a:r>
              <a:rPr sz="1300" b="1">
                <a:solidFill>
                  <a:srgbClr val="FFFFFF"/>
                </a:solidFill>
                <a:latin typeface="Arial"/>
              </a:rPr>
              <a:t>Open</a:t>
            </a:r>
          </a:p>
        </p:txBody>
      </p:sp>
      <p:sp>
        <p:nvSpPr>
          <p:cNvPr id="10" name="Rectangle 9"/>
          <p:cNvSpPr/>
          <p:nvPr/>
        </p:nvSpPr>
        <p:spPr>
          <a:xfrm>
            <a:off x="548640" y="3429000"/>
            <a:ext cx="941832" cy="2011680"/>
          </a:xfrm>
          <a:prstGeom prst="rect">
            <a:avLst/>
          </a:prstGeom>
          <a:solidFill>
            <a:srgbClr val="E4ECFB"/>
          </a:solidFill>
          <a:ln>
            <a:noFill/>
          </a:ln>
          <a:effectLst/>
        </p:spPr>
        <p:txBody>
          <a:bodyPr rtlCol="0" anchor="t" wrap="square" lIns="45720" tIns="137160" rIns="45720"/>
          <a:lstStyle/>
          <a:p>
            <a:pPr algn="ctr">
              <a:spcAft>
                <a:spcPts val="1400"/>
              </a:spcAft>
            </a:pPr>
            <a:r>
              <a:rPr sz="1400" b="0">
                <a:solidFill>
                  <a:srgbClr val="1F2933"/>
                </a:solidFill>
                <a:latin typeface="Arial"/>
              </a:rPr>
              <a:t>Tiếp nhận yêu cầu</a:t>
            </a:r>
          </a:p>
          <a:p>
            <a:pPr algn="ctr">
              <a:spcAft>
                <a:spcPts val="200"/>
              </a:spcAft>
            </a:pPr>
            <a:r>
              <a:rPr sz="1000" b="1">
                <a:solidFill>
                  <a:srgbClr val="5F6B7A"/>
                </a:solidFill>
                <a:latin typeface="Arial"/>
              </a:rPr>
              <a:t>AI GIỮ</a:t>
            </a:r>
          </a:p>
          <a:p>
            <a:pPr algn="ctr">
              <a:spcAft>
                <a:spcPts val="600"/>
              </a:spcAft>
            </a:pPr>
            <a:r>
              <a:rPr sz="1300" b="1">
                <a:solidFill>
                  <a:srgbClr val="1F2933"/>
                </a:solidFill>
                <a:latin typeface="Arial"/>
              </a:rPr>
              <a:t>Trưởng nhóm phân loại</a:t>
            </a:r>
          </a:p>
        </p:txBody>
      </p:sp>
      <p:sp>
        <p:nvSpPr>
          <p:cNvPr id="11" name="Rectangle 10"/>
          <p:cNvSpPr/>
          <p:nvPr/>
        </p:nvSpPr>
        <p:spPr>
          <a:xfrm>
            <a:off x="1563624" y="2514600"/>
            <a:ext cx="941832" cy="914400"/>
          </a:xfrm>
          <a:prstGeom prst="rect">
            <a:avLst/>
          </a:prstGeom>
          <a:solidFill>
            <a:srgbClr val="2F6FDE"/>
          </a:solidFill>
          <a:ln>
            <a:noFill/>
          </a:ln>
          <a:effectLst/>
        </p:spPr>
        <p:txBody>
          <a:bodyPr rtlCol="0" anchor="ctr" wrap="square" lIns="27432" rIns="27432"/>
          <a:lstStyle/>
          <a:p>
            <a:pPr algn="ctr">
              <a:spcAft>
                <a:spcPts val="600"/>
              </a:spcAft>
            </a:pPr>
            <a:r>
              <a:rPr sz="1300" b="1">
                <a:solidFill>
                  <a:srgbClr val="FFFFFF"/>
                </a:solidFill>
                <a:latin typeface="Arial"/>
              </a:rPr>
              <a:t>Product Backlog</a:t>
            </a:r>
          </a:p>
        </p:txBody>
      </p:sp>
      <p:sp>
        <p:nvSpPr>
          <p:cNvPr id="12" name="Rectangle 11"/>
          <p:cNvSpPr/>
          <p:nvPr/>
        </p:nvSpPr>
        <p:spPr>
          <a:xfrm>
            <a:off x="1563624" y="3429000"/>
            <a:ext cx="941832" cy="2011680"/>
          </a:xfrm>
          <a:prstGeom prst="rect">
            <a:avLst/>
          </a:prstGeom>
          <a:solidFill>
            <a:srgbClr val="E4ECFB"/>
          </a:solidFill>
          <a:ln>
            <a:noFill/>
          </a:ln>
          <a:effectLst/>
        </p:spPr>
        <p:txBody>
          <a:bodyPr rtlCol="0" anchor="t" wrap="square" lIns="45720" tIns="137160" rIns="45720"/>
          <a:lstStyle/>
          <a:p>
            <a:pPr algn="ctr">
              <a:spcAft>
                <a:spcPts val="1400"/>
              </a:spcAft>
            </a:pPr>
            <a:r>
              <a:rPr sz="1400" b="0">
                <a:solidFill>
                  <a:srgbClr val="1F2933"/>
                </a:solidFill>
                <a:latin typeface="Arial"/>
              </a:rPr>
              <a:t>Xếp ưu tiên</a:t>
            </a:r>
          </a:p>
          <a:p>
            <a:pPr algn="ctr">
              <a:spcAft>
                <a:spcPts val="200"/>
              </a:spcAft>
            </a:pPr>
            <a:r>
              <a:rPr sz="1000" b="1">
                <a:solidFill>
                  <a:srgbClr val="5F6B7A"/>
                </a:solidFill>
                <a:latin typeface="Arial"/>
              </a:rPr>
              <a:t>AI GIỮ</a:t>
            </a:r>
          </a:p>
          <a:p>
            <a:pPr algn="ctr">
              <a:spcAft>
                <a:spcPts val="600"/>
              </a:spcAft>
            </a:pPr>
            <a:r>
              <a:rPr sz="1300" b="1">
                <a:solidFill>
                  <a:srgbClr val="1F2933"/>
                </a:solidFill>
                <a:latin typeface="Arial"/>
              </a:rPr>
              <a:t>Trưởng nhóm</a:t>
            </a:r>
          </a:p>
        </p:txBody>
      </p:sp>
      <p:sp>
        <p:nvSpPr>
          <p:cNvPr id="13" name="Rectangle 12"/>
          <p:cNvSpPr/>
          <p:nvPr/>
        </p:nvSpPr>
        <p:spPr>
          <a:xfrm>
            <a:off x="2578608" y="2514600"/>
            <a:ext cx="941832" cy="914400"/>
          </a:xfrm>
          <a:prstGeom prst="rect">
            <a:avLst/>
          </a:prstGeom>
          <a:solidFill>
            <a:srgbClr val="2F6FDE"/>
          </a:solidFill>
          <a:ln>
            <a:noFill/>
          </a:ln>
          <a:effectLst/>
        </p:spPr>
        <p:txBody>
          <a:bodyPr rtlCol="0" anchor="ctr" wrap="square" lIns="27432" rIns="27432"/>
          <a:lstStyle/>
          <a:p>
            <a:pPr algn="ctr">
              <a:spcAft>
                <a:spcPts val="600"/>
              </a:spcAft>
            </a:pPr>
            <a:r>
              <a:rPr sz="1300" b="1">
                <a:solidFill>
                  <a:srgbClr val="FFFFFF"/>
                </a:solidFill>
                <a:latin typeface="Arial"/>
              </a:rPr>
              <a:t>Sprint Backlog</a:t>
            </a:r>
          </a:p>
        </p:txBody>
      </p:sp>
      <p:sp>
        <p:nvSpPr>
          <p:cNvPr id="14" name="Rectangle 13"/>
          <p:cNvSpPr/>
          <p:nvPr/>
        </p:nvSpPr>
        <p:spPr>
          <a:xfrm>
            <a:off x="2578608" y="3429000"/>
            <a:ext cx="941832" cy="2011680"/>
          </a:xfrm>
          <a:prstGeom prst="rect">
            <a:avLst/>
          </a:prstGeom>
          <a:solidFill>
            <a:srgbClr val="E4ECFB"/>
          </a:solidFill>
          <a:ln>
            <a:noFill/>
          </a:ln>
          <a:effectLst/>
        </p:spPr>
        <p:txBody>
          <a:bodyPr rtlCol="0" anchor="t" wrap="square" lIns="45720" tIns="137160" rIns="45720"/>
          <a:lstStyle/>
          <a:p>
            <a:pPr algn="ctr">
              <a:spcAft>
                <a:spcPts val="1400"/>
              </a:spcAft>
            </a:pPr>
            <a:r>
              <a:rPr sz="1400" b="0">
                <a:solidFill>
                  <a:srgbClr val="1F2933"/>
                </a:solidFill>
                <a:latin typeface="Arial"/>
              </a:rPr>
              <a:t>Cam kết sprint</a:t>
            </a:r>
          </a:p>
          <a:p>
            <a:pPr algn="ctr">
              <a:spcAft>
                <a:spcPts val="200"/>
              </a:spcAft>
            </a:pPr>
            <a:r>
              <a:rPr sz="1000" b="1">
                <a:solidFill>
                  <a:srgbClr val="5F6B7A"/>
                </a:solidFill>
                <a:latin typeface="Arial"/>
              </a:rPr>
              <a:t>AI GIỮ</a:t>
            </a:r>
          </a:p>
          <a:p>
            <a:pPr algn="ctr">
              <a:spcAft>
                <a:spcPts val="600"/>
              </a:spcAft>
            </a:pPr>
            <a:r>
              <a:rPr sz="1300" b="1">
                <a:solidFill>
                  <a:srgbClr val="1F2933"/>
                </a:solidFill>
                <a:latin typeface="Arial"/>
              </a:rPr>
              <a:t>Cả nhóm</a:t>
            </a:r>
          </a:p>
        </p:txBody>
      </p:sp>
      <p:sp>
        <p:nvSpPr>
          <p:cNvPr id="15" name="Rectangle 14"/>
          <p:cNvSpPr/>
          <p:nvPr/>
        </p:nvSpPr>
        <p:spPr>
          <a:xfrm>
            <a:off x="3593592" y="2514600"/>
            <a:ext cx="941832" cy="914400"/>
          </a:xfrm>
          <a:prstGeom prst="rect">
            <a:avLst/>
          </a:prstGeom>
          <a:solidFill>
            <a:srgbClr val="F2B134"/>
          </a:solidFill>
          <a:ln>
            <a:noFill/>
          </a:ln>
          <a:effectLst/>
        </p:spPr>
        <p:txBody>
          <a:bodyPr rtlCol="0" anchor="ctr" wrap="square" lIns="27432" rIns="27432"/>
          <a:lstStyle/>
          <a:p>
            <a:pPr algn="ctr">
              <a:spcAft>
                <a:spcPts val="600"/>
              </a:spcAft>
            </a:pPr>
            <a:r>
              <a:rPr sz="1300" b="1">
                <a:solidFill>
                  <a:srgbClr val="1F2933"/>
                </a:solidFill>
                <a:latin typeface="Arial"/>
              </a:rPr>
              <a:t>Waiting</a:t>
            </a:r>
          </a:p>
        </p:txBody>
      </p:sp>
      <p:sp>
        <p:nvSpPr>
          <p:cNvPr id="16" name="Rectangle 15"/>
          <p:cNvSpPr/>
          <p:nvPr/>
        </p:nvSpPr>
        <p:spPr>
          <a:xfrm>
            <a:off x="3593592" y="3429000"/>
            <a:ext cx="941832" cy="2011680"/>
          </a:xfrm>
          <a:prstGeom prst="rect">
            <a:avLst/>
          </a:prstGeom>
          <a:solidFill>
            <a:srgbClr val="FCF1D9"/>
          </a:solidFill>
          <a:ln>
            <a:noFill/>
          </a:ln>
          <a:effectLst/>
        </p:spPr>
        <p:txBody>
          <a:bodyPr rtlCol="0" anchor="t" wrap="square" lIns="45720" tIns="137160" rIns="45720"/>
          <a:lstStyle/>
          <a:p>
            <a:pPr algn="ctr">
              <a:spcAft>
                <a:spcPts val="1400"/>
              </a:spcAft>
            </a:pPr>
            <a:r>
              <a:rPr sz="1400" b="0">
                <a:solidFill>
                  <a:srgbClr val="1F2933"/>
                </a:solidFill>
                <a:latin typeface="Arial"/>
              </a:rPr>
              <a:t>Bị chặn</a:t>
            </a:r>
          </a:p>
          <a:p>
            <a:pPr algn="ctr">
              <a:spcAft>
                <a:spcPts val="200"/>
              </a:spcAft>
            </a:pPr>
            <a:r>
              <a:rPr sz="1000" b="1">
                <a:solidFill>
                  <a:srgbClr val="5F6B7A"/>
                </a:solidFill>
                <a:latin typeface="Arial"/>
              </a:rPr>
              <a:t>AI GIỮ</a:t>
            </a:r>
          </a:p>
          <a:p>
            <a:pPr algn="ctr">
              <a:spcAft>
                <a:spcPts val="600"/>
              </a:spcAft>
            </a:pPr>
            <a:r>
              <a:rPr sz="1300" b="1">
                <a:solidFill>
                  <a:srgbClr val="1F2933"/>
                </a:solidFill>
                <a:latin typeface="Arial"/>
              </a:rPr>
              <a:t>Người giữ thẻ</a:t>
            </a:r>
          </a:p>
        </p:txBody>
      </p:sp>
      <p:sp>
        <p:nvSpPr>
          <p:cNvPr id="17" name="Rectangle 16"/>
          <p:cNvSpPr/>
          <p:nvPr/>
        </p:nvSpPr>
        <p:spPr>
          <a:xfrm>
            <a:off x="4608576" y="2514600"/>
            <a:ext cx="941832" cy="914400"/>
          </a:xfrm>
          <a:prstGeom prst="rect">
            <a:avLst/>
          </a:prstGeom>
          <a:solidFill>
            <a:srgbClr val="F2B134"/>
          </a:solidFill>
          <a:ln>
            <a:noFill/>
          </a:ln>
          <a:effectLst/>
        </p:spPr>
        <p:txBody>
          <a:bodyPr rtlCol="0" anchor="ctr" wrap="square" lIns="27432" rIns="27432"/>
          <a:lstStyle/>
          <a:p>
            <a:pPr algn="ctr">
              <a:spcAft>
                <a:spcPts val="600"/>
              </a:spcAft>
            </a:pPr>
            <a:r>
              <a:rPr sz="1300" b="1">
                <a:solidFill>
                  <a:srgbClr val="1F2933"/>
                </a:solidFill>
                <a:latin typeface="Arial"/>
              </a:rPr>
              <a:t>Today Todo</a:t>
            </a:r>
          </a:p>
        </p:txBody>
      </p:sp>
      <p:sp>
        <p:nvSpPr>
          <p:cNvPr id="18" name="Rectangle 17"/>
          <p:cNvSpPr/>
          <p:nvPr/>
        </p:nvSpPr>
        <p:spPr>
          <a:xfrm>
            <a:off x="4608576" y="3429000"/>
            <a:ext cx="941832" cy="2011680"/>
          </a:xfrm>
          <a:prstGeom prst="rect">
            <a:avLst/>
          </a:prstGeom>
          <a:solidFill>
            <a:srgbClr val="FCF1D9"/>
          </a:solidFill>
          <a:ln>
            <a:noFill/>
          </a:ln>
          <a:effectLst/>
        </p:spPr>
        <p:txBody>
          <a:bodyPr rtlCol="0" anchor="t" wrap="square" lIns="45720" tIns="137160" rIns="45720"/>
          <a:lstStyle/>
          <a:p>
            <a:pPr algn="ctr">
              <a:spcAft>
                <a:spcPts val="1400"/>
              </a:spcAft>
            </a:pPr>
            <a:r>
              <a:rPr sz="1400" b="0">
                <a:solidFill>
                  <a:srgbClr val="1F2933"/>
                </a:solidFill>
                <a:latin typeface="Arial"/>
              </a:rPr>
              <a:t>Việc hôm nay</a:t>
            </a:r>
          </a:p>
          <a:p>
            <a:pPr algn="ctr">
              <a:spcAft>
                <a:spcPts val="200"/>
              </a:spcAft>
            </a:pPr>
            <a:r>
              <a:rPr sz="1000" b="1">
                <a:solidFill>
                  <a:srgbClr val="5F6B7A"/>
                </a:solidFill>
                <a:latin typeface="Arial"/>
              </a:rPr>
              <a:t>AI GIỮ</a:t>
            </a:r>
          </a:p>
          <a:p>
            <a:pPr algn="ctr">
              <a:spcAft>
                <a:spcPts val="600"/>
              </a:spcAft>
            </a:pPr>
            <a:r>
              <a:rPr sz="1300" b="1">
                <a:solidFill>
                  <a:srgbClr val="1F2933"/>
                </a:solidFill>
                <a:latin typeface="Arial"/>
              </a:rPr>
              <a:t>Từng Dev</a:t>
            </a:r>
          </a:p>
        </p:txBody>
      </p:sp>
      <p:sp>
        <p:nvSpPr>
          <p:cNvPr id="19" name="Rectangle 18"/>
          <p:cNvSpPr/>
          <p:nvPr/>
        </p:nvSpPr>
        <p:spPr>
          <a:xfrm>
            <a:off x="5623560" y="2514600"/>
            <a:ext cx="941832" cy="914400"/>
          </a:xfrm>
          <a:prstGeom prst="rect">
            <a:avLst/>
          </a:prstGeom>
          <a:solidFill>
            <a:srgbClr val="12876F"/>
          </a:solidFill>
          <a:ln>
            <a:noFill/>
          </a:ln>
          <a:effectLst/>
        </p:spPr>
        <p:txBody>
          <a:bodyPr rtlCol="0" anchor="ctr" wrap="square" lIns="27432" rIns="27432"/>
          <a:lstStyle/>
          <a:p>
            <a:pPr algn="ctr">
              <a:spcAft>
                <a:spcPts val="600"/>
              </a:spcAft>
            </a:pPr>
            <a:r>
              <a:rPr sz="1300" b="1">
                <a:solidFill>
                  <a:srgbClr val="FFFFFF"/>
                </a:solidFill>
                <a:latin typeface="Arial"/>
              </a:rPr>
              <a:t>In Progress</a:t>
            </a:r>
          </a:p>
        </p:txBody>
      </p:sp>
      <p:sp>
        <p:nvSpPr>
          <p:cNvPr id="20" name="Rectangle 19"/>
          <p:cNvSpPr/>
          <p:nvPr/>
        </p:nvSpPr>
        <p:spPr>
          <a:xfrm>
            <a:off x="5623560" y="3429000"/>
            <a:ext cx="941832" cy="2011680"/>
          </a:xfrm>
          <a:prstGeom prst="rect">
            <a:avLst/>
          </a:prstGeom>
          <a:solidFill>
            <a:srgbClr val="DDF1EC"/>
          </a:solidFill>
          <a:ln>
            <a:noFill/>
          </a:ln>
          <a:effectLst/>
        </p:spPr>
        <p:txBody>
          <a:bodyPr rtlCol="0" anchor="t" wrap="square" lIns="45720" tIns="137160" rIns="45720"/>
          <a:lstStyle/>
          <a:p>
            <a:pPr algn="ctr">
              <a:spcAft>
                <a:spcPts val="1400"/>
              </a:spcAft>
            </a:pPr>
            <a:r>
              <a:rPr sz="1400" b="0">
                <a:solidFill>
                  <a:srgbClr val="1F2933"/>
                </a:solidFill>
                <a:latin typeface="Arial"/>
              </a:rPr>
              <a:t>Đang làm</a:t>
            </a:r>
          </a:p>
          <a:p>
            <a:pPr algn="ctr">
              <a:spcAft>
                <a:spcPts val="200"/>
              </a:spcAft>
            </a:pPr>
            <a:r>
              <a:rPr sz="1000" b="1">
                <a:solidFill>
                  <a:srgbClr val="5F6B7A"/>
                </a:solidFill>
                <a:latin typeface="Arial"/>
              </a:rPr>
              <a:t>AI GIỮ</a:t>
            </a:r>
          </a:p>
          <a:p>
            <a:pPr algn="ctr">
              <a:spcAft>
                <a:spcPts val="600"/>
              </a:spcAft>
            </a:pPr>
            <a:r>
              <a:rPr sz="1300" b="1">
                <a:solidFill>
                  <a:srgbClr val="1F2933"/>
                </a:solidFill>
                <a:latin typeface="Arial"/>
              </a:rPr>
              <a:t>Dev phụ trách</a:t>
            </a:r>
          </a:p>
        </p:txBody>
      </p:sp>
      <p:sp>
        <p:nvSpPr>
          <p:cNvPr id="21" name="Rectangle 20"/>
          <p:cNvSpPr/>
          <p:nvPr/>
        </p:nvSpPr>
        <p:spPr>
          <a:xfrm>
            <a:off x="6638544" y="2514600"/>
            <a:ext cx="941832" cy="914400"/>
          </a:xfrm>
          <a:prstGeom prst="rect">
            <a:avLst/>
          </a:prstGeom>
          <a:solidFill>
            <a:srgbClr val="12876F"/>
          </a:solidFill>
          <a:ln>
            <a:noFill/>
          </a:ln>
          <a:effectLst/>
        </p:spPr>
        <p:txBody>
          <a:bodyPr rtlCol="0" anchor="ctr" wrap="square" lIns="27432" rIns="27432"/>
          <a:lstStyle/>
          <a:p>
            <a:pPr algn="ctr">
              <a:spcAft>
                <a:spcPts val="600"/>
              </a:spcAft>
            </a:pPr>
            <a:r>
              <a:rPr sz="1300" b="1">
                <a:solidFill>
                  <a:srgbClr val="FFFFFF"/>
                </a:solidFill>
                <a:latin typeface="Arial"/>
              </a:rPr>
              <a:t>Ready to Review</a:t>
            </a:r>
          </a:p>
        </p:txBody>
      </p:sp>
      <p:sp>
        <p:nvSpPr>
          <p:cNvPr id="22" name="Rectangle 21"/>
          <p:cNvSpPr/>
          <p:nvPr/>
        </p:nvSpPr>
        <p:spPr>
          <a:xfrm>
            <a:off x="6638544" y="3429000"/>
            <a:ext cx="941832" cy="2011680"/>
          </a:xfrm>
          <a:prstGeom prst="rect">
            <a:avLst/>
          </a:prstGeom>
          <a:solidFill>
            <a:srgbClr val="DDF1EC"/>
          </a:solidFill>
          <a:ln>
            <a:noFill/>
          </a:ln>
          <a:effectLst/>
        </p:spPr>
        <p:txBody>
          <a:bodyPr rtlCol="0" anchor="t" wrap="square" lIns="45720" tIns="137160" rIns="45720"/>
          <a:lstStyle/>
          <a:p>
            <a:pPr algn="ctr">
              <a:spcAft>
                <a:spcPts val="1400"/>
              </a:spcAft>
            </a:pPr>
            <a:r>
              <a:rPr sz="1400" b="0">
                <a:solidFill>
                  <a:srgbClr val="1F2933"/>
                </a:solidFill>
                <a:latin typeface="Arial"/>
              </a:rPr>
              <a:t>Chờ review</a:t>
            </a:r>
          </a:p>
          <a:p>
            <a:pPr algn="ctr">
              <a:spcAft>
                <a:spcPts val="200"/>
              </a:spcAft>
            </a:pPr>
            <a:r>
              <a:rPr sz="1000" b="1">
                <a:solidFill>
                  <a:srgbClr val="5F6B7A"/>
                </a:solidFill>
                <a:latin typeface="Arial"/>
              </a:rPr>
              <a:t>AI GIỮ</a:t>
            </a:r>
          </a:p>
          <a:p>
            <a:pPr algn="ctr">
              <a:spcAft>
                <a:spcPts val="600"/>
              </a:spcAft>
            </a:pPr>
            <a:r>
              <a:rPr sz="1300" b="1">
                <a:solidFill>
                  <a:srgbClr val="1F2933"/>
                </a:solidFill>
                <a:latin typeface="Arial"/>
              </a:rPr>
              <a:t>Dev khác</a:t>
            </a:r>
          </a:p>
        </p:txBody>
      </p:sp>
      <p:sp>
        <p:nvSpPr>
          <p:cNvPr id="23" name="Rectangle 22"/>
          <p:cNvSpPr/>
          <p:nvPr/>
        </p:nvSpPr>
        <p:spPr>
          <a:xfrm>
            <a:off x="7653528" y="2514600"/>
            <a:ext cx="941832" cy="914400"/>
          </a:xfrm>
          <a:prstGeom prst="rect">
            <a:avLst/>
          </a:prstGeom>
          <a:solidFill>
            <a:srgbClr val="12876F"/>
          </a:solidFill>
          <a:ln>
            <a:noFill/>
          </a:ln>
          <a:effectLst/>
        </p:spPr>
        <p:txBody>
          <a:bodyPr rtlCol="0" anchor="ctr" wrap="square" lIns="27432" rIns="27432"/>
          <a:lstStyle/>
          <a:p>
            <a:pPr algn="ctr">
              <a:spcAft>
                <a:spcPts val="600"/>
              </a:spcAft>
            </a:pPr>
            <a:r>
              <a:rPr sz="1300" b="1">
                <a:solidFill>
                  <a:srgbClr val="FFFFFF"/>
                </a:solidFill>
                <a:latin typeface="Arial"/>
              </a:rPr>
              <a:t>Ready to Test</a:t>
            </a:r>
          </a:p>
        </p:txBody>
      </p:sp>
      <p:sp>
        <p:nvSpPr>
          <p:cNvPr id="24" name="Rectangle 23"/>
          <p:cNvSpPr/>
          <p:nvPr/>
        </p:nvSpPr>
        <p:spPr>
          <a:xfrm>
            <a:off x="7653528" y="3429000"/>
            <a:ext cx="941832" cy="2011680"/>
          </a:xfrm>
          <a:prstGeom prst="rect">
            <a:avLst/>
          </a:prstGeom>
          <a:solidFill>
            <a:srgbClr val="DDF1EC"/>
          </a:solidFill>
          <a:ln>
            <a:noFill/>
          </a:ln>
          <a:effectLst/>
        </p:spPr>
        <p:txBody>
          <a:bodyPr rtlCol="0" anchor="t" wrap="square" lIns="45720" tIns="137160" rIns="45720"/>
          <a:lstStyle/>
          <a:p>
            <a:pPr algn="ctr">
              <a:spcAft>
                <a:spcPts val="1400"/>
              </a:spcAft>
            </a:pPr>
            <a:r>
              <a:rPr sz="1400" b="0">
                <a:solidFill>
                  <a:srgbClr val="1F2933"/>
                </a:solidFill>
                <a:latin typeface="Arial"/>
              </a:rPr>
              <a:t>Chờ test</a:t>
            </a:r>
          </a:p>
          <a:p>
            <a:pPr algn="ctr">
              <a:spcAft>
                <a:spcPts val="200"/>
              </a:spcAft>
            </a:pPr>
            <a:r>
              <a:rPr sz="1000" b="1">
                <a:solidFill>
                  <a:srgbClr val="5F6B7A"/>
                </a:solidFill>
                <a:latin typeface="Arial"/>
              </a:rPr>
              <a:t>AI GIỮ</a:t>
            </a:r>
          </a:p>
          <a:p>
            <a:pPr algn="ctr">
              <a:spcAft>
                <a:spcPts val="600"/>
              </a:spcAft>
            </a:pPr>
            <a:r>
              <a:rPr sz="1300" b="1">
                <a:solidFill>
                  <a:srgbClr val="1F2933"/>
                </a:solidFill>
                <a:latin typeface="Arial"/>
              </a:rPr>
              <a:t>Tester</a:t>
            </a:r>
          </a:p>
        </p:txBody>
      </p:sp>
      <p:sp>
        <p:nvSpPr>
          <p:cNvPr id="25" name="Rectangle 24"/>
          <p:cNvSpPr/>
          <p:nvPr/>
        </p:nvSpPr>
        <p:spPr>
          <a:xfrm>
            <a:off x="8668512" y="2514600"/>
            <a:ext cx="941832" cy="914400"/>
          </a:xfrm>
          <a:prstGeom prst="rect">
            <a:avLst/>
          </a:prstGeom>
          <a:solidFill>
            <a:srgbClr val="7B4FD1"/>
          </a:solidFill>
          <a:ln>
            <a:noFill/>
          </a:ln>
          <a:effectLst/>
        </p:spPr>
        <p:txBody>
          <a:bodyPr rtlCol="0" anchor="ctr" wrap="square" lIns="27432" rIns="27432"/>
          <a:lstStyle/>
          <a:p>
            <a:pPr algn="ctr">
              <a:spcAft>
                <a:spcPts val="600"/>
              </a:spcAft>
            </a:pPr>
            <a:r>
              <a:rPr sz="1300" b="1">
                <a:solidFill>
                  <a:srgbClr val="FFFFFF"/>
                </a:solidFill>
                <a:latin typeface="Arial"/>
              </a:rPr>
              <a:t>Ready to Release</a:t>
            </a:r>
          </a:p>
        </p:txBody>
      </p:sp>
      <p:sp>
        <p:nvSpPr>
          <p:cNvPr id="26" name="Rectangle 25"/>
          <p:cNvSpPr/>
          <p:nvPr/>
        </p:nvSpPr>
        <p:spPr>
          <a:xfrm>
            <a:off x="8668512" y="3429000"/>
            <a:ext cx="941832" cy="2011680"/>
          </a:xfrm>
          <a:prstGeom prst="rect">
            <a:avLst/>
          </a:prstGeom>
          <a:solidFill>
            <a:srgbClr val="EBE3F8"/>
          </a:solidFill>
          <a:ln>
            <a:noFill/>
          </a:ln>
          <a:effectLst/>
        </p:spPr>
        <p:txBody>
          <a:bodyPr rtlCol="0" anchor="t" wrap="square" lIns="45720" tIns="137160" rIns="45720"/>
          <a:lstStyle/>
          <a:p>
            <a:pPr algn="ctr">
              <a:spcAft>
                <a:spcPts val="1400"/>
              </a:spcAft>
            </a:pPr>
            <a:r>
              <a:rPr sz="1400" b="0">
                <a:solidFill>
                  <a:srgbClr val="1F2933"/>
                </a:solidFill>
                <a:latin typeface="Arial"/>
              </a:rPr>
              <a:t>Chờ phát hành</a:t>
            </a:r>
          </a:p>
          <a:p>
            <a:pPr algn="ctr">
              <a:spcAft>
                <a:spcPts val="200"/>
              </a:spcAft>
            </a:pPr>
            <a:r>
              <a:rPr sz="1000" b="1">
                <a:solidFill>
                  <a:srgbClr val="5F6B7A"/>
                </a:solidFill>
                <a:latin typeface="Arial"/>
              </a:rPr>
              <a:t>AI GIỮ</a:t>
            </a:r>
          </a:p>
          <a:p>
            <a:pPr algn="ctr">
              <a:spcAft>
                <a:spcPts val="600"/>
              </a:spcAft>
            </a:pPr>
            <a:r>
              <a:rPr sz="1300" b="1">
                <a:solidFill>
                  <a:srgbClr val="1F2933"/>
                </a:solidFill>
                <a:latin typeface="Arial"/>
              </a:rPr>
              <a:t>Tester và Trưởng nhóm</a:t>
            </a:r>
          </a:p>
        </p:txBody>
      </p:sp>
      <p:sp>
        <p:nvSpPr>
          <p:cNvPr id="27" name="Rectangle 26"/>
          <p:cNvSpPr/>
          <p:nvPr/>
        </p:nvSpPr>
        <p:spPr>
          <a:xfrm>
            <a:off x="9683496" y="2514600"/>
            <a:ext cx="941832" cy="914400"/>
          </a:xfrm>
          <a:prstGeom prst="rect">
            <a:avLst/>
          </a:prstGeom>
          <a:solidFill>
            <a:srgbClr val="7B4FD1"/>
          </a:solidFill>
          <a:ln>
            <a:noFill/>
          </a:ln>
          <a:effectLst/>
        </p:spPr>
        <p:txBody>
          <a:bodyPr rtlCol="0" anchor="ctr" wrap="square" lIns="27432" rIns="27432"/>
          <a:lstStyle/>
          <a:p>
            <a:pPr algn="ctr">
              <a:spcAft>
                <a:spcPts val="600"/>
              </a:spcAft>
            </a:pPr>
            <a:r>
              <a:rPr sz="1300" b="1">
                <a:solidFill>
                  <a:srgbClr val="FFFFFF"/>
                </a:solidFill>
                <a:latin typeface="Arial"/>
              </a:rPr>
              <a:t>Released</a:t>
            </a:r>
          </a:p>
        </p:txBody>
      </p:sp>
      <p:sp>
        <p:nvSpPr>
          <p:cNvPr id="28" name="Rectangle 27"/>
          <p:cNvSpPr/>
          <p:nvPr/>
        </p:nvSpPr>
        <p:spPr>
          <a:xfrm>
            <a:off x="9683496" y="3429000"/>
            <a:ext cx="941832" cy="2011680"/>
          </a:xfrm>
          <a:prstGeom prst="rect">
            <a:avLst/>
          </a:prstGeom>
          <a:solidFill>
            <a:srgbClr val="EBE3F8"/>
          </a:solidFill>
          <a:ln>
            <a:noFill/>
          </a:ln>
          <a:effectLst/>
        </p:spPr>
        <p:txBody>
          <a:bodyPr rtlCol="0" anchor="t" wrap="square" lIns="45720" tIns="137160" rIns="45720"/>
          <a:lstStyle/>
          <a:p>
            <a:pPr algn="ctr">
              <a:spcAft>
                <a:spcPts val="1400"/>
              </a:spcAft>
            </a:pPr>
            <a:r>
              <a:rPr sz="1400" b="0">
                <a:solidFill>
                  <a:srgbClr val="1F2933"/>
                </a:solidFill>
                <a:latin typeface="Arial"/>
              </a:rPr>
              <a:t>Đã lên môi trường thật</a:t>
            </a:r>
          </a:p>
          <a:p>
            <a:pPr algn="ctr">
              <a:spcAft>
                <a:spcPts val="200"/>
              </a:spcAft>
            </a:pPr>
            <a:r>
              <a:rPr sz="1000" b="1">
                <a:solidFill>
                  <a:srgbClr val="5F6B7A"/>
                </a:solidFill>
                <a:latin typeface="Arial"/>
              </a:rPr>
              <a:t>AI GIỮ</a:t>
            </a:r>
          </a:p>
          <a:p>
            <a:pPr algn="ctr">
              <a:spcAft>
                <a:spcPts val="600"/>
              </a:spcAft>
            </a:pPr>
            <a:r>
              <a:rPr sz="1300" b="1">
                <a:solidFill>
                  <a:srgbClr val="1F2933"/>
                </a:solidFill>
                <a:latin typeface="Arial"/>
              </a:rPr>
              <a:t>Dev phát hành</a:t>
            </a:r>
          </a:p>
        </p:txBody>
      </p:sp>
      <p:sp>
        <p:nvSpPr>
          <p:cNvPr id="29" name="Rectangle 28"/>
          <p:cNvSpPr/>
          <p:nvPr/>
        </p:nvSpPr>
        <p:spPr>
          <a:xfrm>
            <a:off x="10698480" y="2514600"/>
            <a:ext cx="941832" cy="914400"/>
          </a:xfrm>
          <a:prstGeom prst="rect">
            <a:avLst/>
          </a:prstGeom>
          <a:solidFill>
            <a:srgbClr val="7B4FD1"/>
          </a:solidFill>
          <a:ln>
            <a:noFill/>
          </a:ln>
          <a:effectLst/>
        </p:spPr>
        <p:txBody>
          <a:bodyPr rtlCol="0" anchor="ctr" wrap="square" lIns="27432" rIns="27432"/>
          <a:lstStyle/>
          <a:p>
            <a:pPr algn="ctr">
              <a:spcAft>
                <a:spcPts val="600"/>
              </a:spcAft>
            </a:pPr>
            <a:r>
              <a:rPr sz="1300" b="1">
                <a:solidFill>
                  <a:srgbClr val="FFFFFF"/>
                </a:solidFill>
                <a:latin typeface="Arial"/>
              </a:rPr>
              <a:t>Closed</a:t>
            </a:r>
          </a:p>
        </p:txBody>
      </p:sp>
      <p:sp>
        <p:nvSpPr>
          <p:cNvPr id="30" name="Rectangle 29"/>
          <p:cNvSpPr/>
          <p:nvPr/>
        </p:nvSpPr>
        <p:spPr>
          <a:xfrm>
            <a:off x="10698480" y="3429000"/>
            <a:ext cx="941832" cy="2011680"/>
          </a:xfrm>
          <a:prstGeom prst="rect">
            <a:avLst/>
          </a:prstGeom>
          <a:solidFill>
            <a:srgbClr val="EBE3F8"/>
          </a:solidFill>
          <a:ln>
            <a:noFill/>
          </a:ln>
          <a:effectLst/>
        </p:spPr>
        <p:txBody>
          <a:bodyPr rtlCol="0" anchor="t" wrap="square" lIns="45720" tIns="137160" rIns="45720"/>
          <a:lstStyle/>
          <a:p>
            <a:pPr algn="ctr">
              <a:spcAft>
                <a:spcPts val="1400"/>
              </a:spcAft>
            </a:pPr>
            <a:r>
              <a:rPr sz="1400" b="0">
                <a:solidFill>
                  <a:srgbClr val="1F2933"/>
                </a:solidFill>
                <a:latin typeface="Arial"/>
              </a:rPr>
              <a:t>Xong hoặc hủy</a:t>
            </a:r>
          </a:p>
          <a:p>
            <a:pPr algn="ctr">
              <a:spcAft>
                <a:spcPts val="200"/>
              </a:spcAft>
            </a:pPr>
            <a:r>
              <a:rPr sz="1000" b="1">
                <a:solidFill>
                  <a:srgbClr val="5F6B7A"/>
                </a:solidFill>
                <a:latin typeface="Arial"/>
              </a:rPr>
              <a:t>AI GIỮ</a:t>
            </a:r>
          </a:p>
          <a:p>
            <a:pPr algn="ctr">
              <a:spcAft>
                <a:spcPts val="600"/>
              </a:spcAft>
            </a:pPr>
            <a:r>
              <a:rPr sz="1300" b="1">
                <a:solidFill>
                  <a:srgbClr val="1F2933"/>
                </a:solidFill>
                <a:latin typeface="Arial"/>
              </a:rPr>
              <a:t>Trưởng nhóm</a:t>
            </a:r>
          </a:p>
        </p:txBody>
      </p:sp>
      <p:sp>
        <p:nvSpPr>
          <p:cNvPr id="31" name="Rectangle 30"/>
          <p:cNvSpPr/>
          <p:nvPr/>
        </p:nvSpPr>
        <p:spPr>
          <a:xfrm>
            <a:off x="548640" y="1783080"/>
            <a:ext cx="2971800" cy="548640"/>
          </a:xfrm>
          <a:prstGeom prst="rect">
            <a:avLst/>
          </a:prstGeom>
          <a:solidFill>
            <a:srgbClr val="FFFFFF"/>
          </a:solidFill>
          <a:ln w="9525">
            <a:solidFill>
              <a:srgbClr val="2F6FDE"/>
            </a:solidFill>
          </a:ln>
          <a:effectLst/>
        </p:spPr>
        <p:txBody>
          <a:bodyPr rtlCol="0" anchor="ctr" wrap="square" lIns="45720" tIns="27432" rIns="45720" bIns="27432"/>
          <a:lstStyle/>
          <a:p>
            <a:pPr algn="ctr">
              <a:spcAft>
                <a:spcPts val="600"/>
              </a:spcAft>
            </a:pPr>
            <a:r>
              <a:rPr sz="1500" b="1">
                <a:solidFill>
                  <a:srgbClr val="1F2933"/>
                </a:solidFill>
                <a:latin typeface="Arial"/>
              </a:rPr>
              <a:t>Chuẩn bị</a:t>
            </a:r>
          </a:p>
        </p:txBody>
      </p:sp>
      <p:sp>
        <p:nvSpPr>
          <p:cNvPr id="32" name="Rectangle 31"/>
          <p:cNvSpPr/>
          <p:nvPr/>
        </p:nvSpPr>
        <p:spPr>
          <a:xfrm>
            <a:off x="3593592" y="1783080"/>
            <a:ext cx="1956816" cy="548640"/>
          </a:xfrm>
          <a:prstGeom prst="rect">
            <a:avLst/>
          </a:prstGeom>
          <a:solidFill>
            <a:srgbClr val="FFFFFF"/>
          </a:solidFill>
          <a:ln w="9525">
            <a:solidFill>
              <a:srgbClr val="F2B134"/>
            </a:solidFill>
          </a:ln>
          <a:effectLst/>
        </p:spPr>
        <p:txBody>
          <a:bodyPr rtlCol="0" anchor="ctr" wrap="square" lIns="45720" tIns="27432" rIns="45720" bIns="27432"/>
          <a:lstStyle/>
          <a:p>
            <a:pPr algn="ctr">
              <a:spcAft>
                <a:spcPts val="600"/>
              </a:spcAft>
            </a:pPr>
            <a:r>
              <a:rPr sz="1500" b="1">
                <a:solidFill>
                  <a:srgbClr val="1F2933"/>
                </a:solidFill>
                <a:latin typeface="Arial"/>
              </a:rPr>
              <a:t>Sẵn sàng làm</a:t>
            </a:r>
          </a:p>
        </p:txBody>
      </p:sp>
      <p:sp>
        <p:nvSpPr>
          <p:cNvPr id="33" name="Rectangle 32"/>
          <p:cNvSpPr/>
          <p:nvPr/>
        </p:nvSpPr>
        <p:spPr>
          <a:xfrm>
            <a:off x="5623560" y="1783080"/>
            <a:ext cx="2971800" cy="548640"/>
          </a:xfrm>
          <a:prstGeom prst="rect">
            <a:avLst/>
          </a:prstGeom>
          <a:solidFill>
            <a:srgbClr val="FFFFFF"/>
          </a:solidFill>
          <a:ln w="9525">
            <a:solidFill>
              <a:srgbClr val="12876F"/>
            </a:solidFill>
          </a:ln>
          <a:effectLst/>
        </p:spPr>
        <p:txBody>
          <a:bodyPr rtlCol="0" anchor="ctr" wrap="square" lIns="45720" tIns="27432" rIns="45720" bIns="27432"/>
          <a:lstStyle/>
          <a:p>
            <a:pPr algn="ctr">
              <a:spcAft>
                <a:spcPts val="600"/>
              </a:spcAft>
            </a:pPr>
            <a:r>
              <a:rPr sz="1500" b="1">
                <a:solidFill>
                  <a:srgbClr val="1F2933"/>
                </a:solidFill>
                <a:latin typeface="Arial"/>
              </a:rPr>
              <a:t>Thực thi</a:t>
            </a:r>
          </a:p>
        </p:txBody>
      </p:sp>
      <p:sp>
        <p:nvSpPr>
          <p:cNvPr id="34" name="Rectangle 33"/>
          <p:cNvSpPr/>
          <p:nvPr/>
        </p:nvSpPr>
        <p:spPr>
          <a:xfrm>
            <a:off x="8668512" y="1783080"/>
            <a:ext cx="2971800" cy="548640"/>
          </a:xfrm>
          <a:prstGeom prst="rect">
            <a:avLst/>
          </a:prstGeom>
          <a:solidFill>
            <a:srgbClr val="FFFFFF"/>
          </a:solidFill>
          <a:ln w="9525">
            <a:solidFill>
              <a:srgbClr val="7B4FD1"/>
            </a:solidFill>
          </a:ln>
          <a:effectLst/>
        </p:spPr>
        <p:txBody>
          <a:bodyPr rtlCol="0" anchor="ctr" wrap="square" lIns="45720" tIns="27432" rIns="45720" bIns="27432"/>
          <a:lstStyle/>
          <a:p>
            <a:pPr algn="ctr">
              <a:spcAft>
                <a:spcPts val="600"/>
              </a:spcAft>
            </a:pPr>
            <a:r>
              <a:rPr sz="1500" b="1">
                <a:solidFill>
                  <a:srgbClr val="1F2933"/>
                </a:solidFill>
                <a:latin typeface="Arial"/>
              </a:rPr>
              <a:t>Phát hành và đóng</a:t>
            </a:r>
          </a:p>
        </p:txBody>
      </p:sp>
      <p:sp>
        <p:nvSpPr>
          <p:cNvPr id="35" name="TextBox 34"/>
          <p:cNvSpPr txBox="1"/>
          <p:nvPr/>
        </p:nvSpPr>
        <p:spPr>
          <a:xfrm>
            <a:off x="548640" y="5715000"/>
            <a:ext cx="11091672" cy="548640"/>
          </a:xfrm>
          <a:prstGeom prst="rect">
            <a:avLst/>
          </a:prstGeom>
          <a:noFill/>
        </p:spPr>
        <p:txBody>
          <a:bodyPr wrap="square" lIns="0" tIns="0" rIns="0" bIns="0" anchor="t"/>
          <a:lstStyle/>
          <a:p>
            <a:pPr algn="ctr">
              <a:spcAft>
                <a:spcPts val="600"/>
              </a:spcAft>
            </a:pPr>
            <a:r>
              <a:rPr sz="1700" b="0">
                <a:solidFill>
                  <a:srgbClr val="5F6B7A"/>
                </a:solidFill>
                <a:latin typeface="Arial"/>
              </a:rPr>
              <a:t>Waiting là cột phụ: thẻ bị chặn vào đây và quay lại đúng cột cũ khi được gỡ chặn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2 · BOARD 11 CỘT</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Vùng Chuẩn bị</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D5DBE3"/>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D5DBE3"/>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6 / 21</a:t>
            </a:r>
          </a:p>
        </p:txBody>
      </p:sp>
      <p:sp>
        <p:nvSpPr>
          <p:cNvPr id="9" name="Rectangle 8"/>
          <p:cNvSpPr/>
          <p:nvPr/>
        </p:nvSpPr>
        <p:spPr>
          <a:xfrm>
            <a:off x="548640" y="1600200"/>
            <a:ext cx="3544824" cy="3931920"/>
          </a:xfrm>
          <a:prstGeom prst="rect">
            <a:avLst/>
          </a:prstGeom>
          <a:solidFill>
            <a:srgbClr val="F3F6FA"/>
          </a:solidFill>
          <a:ln w="9525">
            <a:solidFill>
              <a:srgbClr val="D5DBE3"/>
            </a:solidFill>
          </a:ln>
          <a:effectLst/>
        </p:spPr>
        <p:txBody>
          <a:bodyPr rtlCol="0" anchor="ctr"/>
          <a:lstStyle/>
          <a:p>
            <a:pPr algn="ctr"/>
          </a:p>
        </p:txBody>
      </p:sp>
      <p:sp>
        <p:nvSpPr>
          <p:cNvPr id="10" name="Rectangle 9"/>
          <p:cNvSpPr/>
          <p:nvPr/>
        </p:nvSpPr>
        <p:spPr>
          <a:xfrm>
            <a:off x="548640" y="1600200"/>
            <a:ext cx="3544824" cy="566928"/>
          </a:xfrm>
          <a:prstGeom prst="rect">
            <a:avLst/>
          </a:prstGeom>
          <a:solidFill>
            <a:srgbClr val="2F6FDE"/>
          </a:solidFill>
          <a:ln>
            <a:noFill/>
          </a:ln>
          <a:effectLst/>
        </p:spPr>
        <p:txBody>
          <a:bodyPr rtlCol="0" anchor="ctr" wrap="square" lIns="164592"/>
          <a:lstStyle/>
          <a:p>
            <a:pPr algn="l">
              <a:spcAft>
                <a:spcPts val="600"/>
              </a:spcAft>
            </a:pPr>
            <a:r>
              <a:rPr sz="2000" b="1">
                <a:solidFill>
                  <a:srgbClr val="FFFFFF"/>
                </a:solidFill>
                <a:latin typeface="Arial"/>
              </a:rPr>
              <a:t>Open</a:t>
            </a:r>
          </a:p>
        </p:txBody>
      </p:sp>
      <p:sp>
        <p:nvSpPr>
          <p:cNvPr id="11" name="TextBox 10"/>
          <p:cNvSpPr txBox="1"/>
          <p:nvPr/>
        </p:nvSpPr>
        <p:spPr>
          <a:xfrm>
            <a:off x="713232" y="2258568"/>
            <a:ext cx="3215640" cy="365760"/>
          </a:xfrm>
          <a:prstGeom prst="rect">
            <a:avLst/>
          </a:prstGeom>
          <a:noFill/>
        </p:spPr>
        <p:txBody>
          <a:bodyPr wrap="square" lIns="0" tIns="0" rIns="0" bIns="0" anchor="t"/>
          <a:lstStyle/>
          <a:p>
            <a:pPr algn="l">
              <a:spcAft>
                <a:spcPts val="600"/>
              </a:spcAft>
            </a:pPr>
            <a:r>
              <a:rPr sz="1400" b="0">
                <a:solidFill>
                  <a:srgbClr val="5F6B7A"/>
                </a:solidFill>
                <a:latin typeface="Arial"/>
              </a:rPr>
              <a:t>Trưởng nhóm phân loại</a:t>
            </a:r>
          </a:p>
        </p:txBody>
      </p:sp>
      <p:sp>
        <p:nvSpPr>
          <p:cNvPr id="12" name="TextBox 11"/>
          <p:cNvSpPr txBox="1"/>
          <p:nvPr/>
        </p:nvSpPr>
        <p:spPr>
          <a:xfrm>
            <a:off x="713232" y="2642615"/>
            <a:ext cx="3215640" cy="2798064"/>
          </a:xfrm>
          <a:prstGeom prst="rect">
            <a:avLst/>
          </a:prstGeom>
          <a:noFill/>
        </p:spPr>
        <p:txBody>
          <a:bodyPr wrap="square" lIns="0" tIns="0" rIns="0" bIns="0" anchor="t"/>
          <a:lstStyle/>
          <a:p>
            <a:pPr algn="l">
              <a:spcBef>
                <a:spcPts val="800"/>
              </a:spcBef>
              <a:spcAft>
                <a:spcPts val="100"/>
              </a:spcAft>
            </a:pPr>
            <a:r>
              <a:rPr sz="1100" b="1">
                <a:solidFill>
                  <a:srgbClr val="5F6B7A"/>
                </a:solidFill>
                <a:latin typeface="Arial"/>
              </a:rPr>
              <a:t>MỤC ĐÍCH</a:t>
            </a:r>
          </a:p>
          <a:p>
            <a:pPr algn="l">
              <a:spcAft>
                <a:spcPts val="200"/>
              </a:spcAft>
            </a:pPr>
            <a:r>
              <a:rPr sz="1800" b="0">
                <a:solidFill>
                  <a:srgbClr val="1F2933"/>
                </a:solidFill>
                <a:latin typeface="Arial"/>
              </a:rPr>
              <a:t>Hộp thư đến: yêu cầu, bug, ý tưởng chưa phân loại</a:t>
            </a:r>
          </a:p>
          <a:p>
            <a:pPr algn="l">
              <a:spcBef>
                <a:spcPts val="800"/>
              </a:spcBef>
              <a:spcAft>
                <a:spcPts val="100"/>
              </a:spcAft>
            </a:pPr>
            <a:r>
              <a:rPr sz="1100" b="1">
                <a:solidFill>
                  <a:srgbClr val="5F6B7A"/>
                </a:solidFill>
                <a:latin typeface="Arial"/>
              </a:rPr>
              <a:t>RA CỘT KHI</a:t>
            </a:r>
          </a:p>
          <a:p>
            <a:pPr algn="l">
              <a:spcAft>
                <a:spcPts val="200"/>
              </a:spcAft>
            </a:pPr>
            <a:r>
              <a:rPr sz="1800" b="0">
                <a:solidFill>
                  <a:srgbClr val="1F2933"/>
                </a:solidFill>
                <a:latin typeface="Arial"/>
              </a:rPr>
              <a:t>Trưởng nhóm đưa vào Product Backlog, hoặc đóng kèm lý do</a:t>
            </a:r>
          </a:p>
          <a:p>
            <a:pPr algn="l">
              <a:spcBef>
                <a:spcPts val="800"/>
              </a:spcBef>
              <a:spcAft>
                <a:spcPts val="100"/>
              </a:spcAft>
            </a:pPr>
            <a:r>
              <a:rPr sz="1100" b="1">
                <a:solidFill>
                  <a:srgbClr val="5F6B7A"/>
                </a:solidFill>
                <a:latin typeface="Arial"/>
              </a:rPr>
              <a:t>LƯU Ý</a:t>
            </a:r>
          </a:p>
          <a:p>
            <a:pPr algn="l">
              <a:spcAft>
                <a:spcPts val="200"/>
              </a:spcAft>
            </a:pPr>
            <a:r>
              <a:rPr sz="1800" b="0">
                <a:solidFill>
                  <a:srgbClr val="1F2933"/>
                </a:solidFill>
                <a:latin typeface="Arial"/>
              </a:rPr>
              <a:t>Chưa có cam kết, không ước lượng, không giao việc</a:t>
            </a:r>
          </a:p>
        </p:txBody>
      </p:sp>
      <p:sp>
        <p:nvSpPr>
          <p:cNvPr id="13" name="Rectangle 12"/>
          <p:cNvSpPr/>
          <p:nvPr/>
        </p:nvSpPr>
        <p:spPr>
          <a:xfrm>
            <a:off x="4322064" y="1600200"/>
            <a:ext cx="3544824" cy="3931920"/>
          </a:xfrm>
          <a:prstGeom prst="rect">
            <a:avLst/>
          </a:prstGeom>
          <a:solidFill>
            <a:srgbClr val="F3F6FA"/>
          </a:solidFill>
          <a:ln w="9525">
            <a:solidFill>
              <a:srgbClr val="D5DBE3"/>
            </a:solidFill>
          </a:ln>
          <a:effectLst/>
        </p:spPr>
        <p:txBody>
          <a:bodyPr rtlCol="0" anchor="ctr"/>
          <a:lstStyle/>
          <a:p>
            <a:pPr algn="ctr"/>
          </a:p>
        </p:txBody>
      </p:sp>
      <p:sp>
        <p:nvSpPr>
          <p:cNvPr id="14" name="Rectangle 13"/>
          <p:cNvSpPr/>
          <p:nvPr/>
        </p:nvSpPr>
        <p:spPr>
          <a:xfrm>
            <a:off x="4322064" y="1600200"/>
            <a:ext cx="3544824" cy="566928"/>
          </a:xfrm>
          <a:prstGeom prst="rect">
            <a:avLst/>
          </a:prstGeom>
          <a:solidFill>
            <a:srgbClr val="2F6FDE"/>
          </a:solidFill>
          <a:ln>
            <a:noFill/>
          </a:ln>
          <a:effectLst/>
        </p:spPr>
        <p:txBody>
          <a:bodyPr rtlCol="0" anchor="ctr" wrap="square" lIns="164592"/>
          <a:lstStyle/>
          <a:p>
            <a:pPr algn="l">
              <a:spcAft>
                <a:spcPts val="600"/>
              </a:spcAft>
            </a:pPr>
            <a:r>
              <a:rPr sz="2000" b="1">
                <a:solidFill>
                  <a:srgbClr val="FFFFFF"/>
                </a:solidFill>
                <a:latin typeface="Arial"/>
              </a:rPr>
              <a:t>Product Backlog</a:t>
            </a:r>
          </a:p>
        </p:txBody>
      </p:sp>
      <p:sp>
        <p:nvSpPr>
          <p:cNvPr id="15" name="TextBox 14"/>
          <p:cNvSpPr txBox="1"/>
          <p:nvPr/>
        </p:nvSpPr>
        <p:spPr>
          <a:xfrm>
            <a:off x="4486656" y="2258568"/>
            <a:ext cx="3215640" cy="365760"/>
          </a:xfrm>
          <a:prstGeom prst="rect">
            <a:avLst/>
          </a:prstGeom>
          <a:noFill/>
        </p:spPr>
        <p:txBody>
          <a:bodyPr wrap="square" lIns="0" tIns="0" rIns="0" bIns="0" anchor="t"/>
          <a:lstStyle/>
          <a:p>
            <a:pPr algn="l">
              <a:spcAft>
                <a:spcPts val="600"/>
              </a:spcAft>
            </a:pPr>
            <a:r>
              <a:rPr sz="1400" b="0">
                <a:solidFill>
                  <a:srgbClr val="5F6B7A"/>
                </a:solidFill>
                <a:latin typeface="Arial"/>
              </a:rPr>
              <a:t>Trưởng nhóm sở hữu</a:t>
            </a:r>
          </a:p>
        </p:txBody>
      </p:sp>
      <p:sp>
        <p:nvSpPr>
          <p:cNvPr id="16" name="TextBox 15"/>
          <p:cNvSpPr txBox="1"/>
          <p:nvPr/>
        </p:nvSpPr>
        <p:spPr>
          <a:xfrm>
            <a:off x="4486656" y="2642615"/>
            <a:ext cx="3215640" cy="2798064"/>
          </a:xfrm>
          <a:prstGeom prst="rect">
            <a:avLst/>
          </a:prstGeom>
          <a:noFill/>
        </p:spPr>
        <p:txBody>
          <a:bodyPr wrap="square" lIns="0" tIns="0" rIns="0" bIns="0" anchor="t"/>
          <a:lstStyle/>
          <a:p>
            <a:pPr algn="l">
              <a:spcBef>
                <a:spcPts val="800"/>
              </a:spcBef>
              <a:spcAft>
                <a:spcPts val="100"/>
              </a:spcAft>
            </a:pPr>
            <a:r>
              <a:rPr sz="1100" b="1">
                <a:solidFill>
                  <a:srgbClr val="5F6B7A"/>
                </a:solidFill>
                <a:latin typeface="Arial"/>
              </a:rPr>
              <a:t>MỤC ĐÍCH</a:t>
            </a:r>
          </a:p>
          <a:p>
            <a:pPr algn="l">
              <a:spcAft>
                <a:spcPts val="200"/>
              </a:spcAft>
            </a:pPr>
            <a:r>
              <a:rPr sz="1800" b="0">
                <a:solidFill>
                  <a:srgbClr val="1F2933"/>
                </a:solidFill>
                <a:latin typeface="Arial"/>
              </a:rPr>
              <a:t>Danh sách việc có thứ tự ưu tiên; phần đầu phải rõ nhất</a:t>
            </a:r>
          </a:p>
          <a:p>
            <a:pPr algn="l">
              <a:spcBef>
                <a:spcPts val="800"/>
              </a:spcBef>
              <a:spcAft>
                <a:spcPts val="100"/>
              </a:spcAft>
            </a:pPr>
            <a:r>
              <a:rPr sz="1100" b="1">
                <a:solidFill>
                  <a:srgbClr val="5F6B7A"/>
                </a:solidFill>
                <a:latin typeface="Arial"/>
              </a:rPr>
              <a:t>VÀO CỘT KHI</a:t>
            </a:r>
          </a:p>
          <a:p>
            <a:pPr algn="l">
              <a:spcAft>
                <a:spcPts val="200"/>
              </a:spcAft>
            </a:pPr>
            <a:r>
              <a:rPr sz="1800" b="0">
                <a:solidFill>
                  <a:srgbClr val="1F2933"/>
                </a:solidFill>
                <a:latin typeface="Arial"/>
              </a:rPr>
              <a:t>Trưởng nhóm thấy thẻ đáng làm</a:t>
            </a:r>
          </a:p>
          <a:p>
            <a:pPr algn="l">
              <a:spcBef>
                <a:spcPts val="800"/>
              </a:spcBef>
              <a:spcAft>
                <a:spcPts val="100"/>
              </a:spcAft>
            </a:pPr>
            <a:r>
              <a:rPr sz="1100" b="1">
                <a:solidFill>
                  <a:srgbClr val="5F6B7A"/>
                </a:solidFill>
                <a:latin typeface="Arial"/>
              </a:rPr>
              <a:t>RA CỘT KHI</a:t>
            </a:r>
          </a:p>
          <a:p>
            <a:pPr algn="l">
              <a:spcAft>
                <a:spcPts val="200"/>
              </a:spcAft>
            </a:pPr>
            <a:r>
              <a:rPr sz="1800" b="0">
                <a:solidFill>
                  <a:srgbClr val="1F2933"/>
                </a:solidFill>
                <a:latin typeface="Arial"/>
              </a:rPr>
              <a:t>Đạt DoR và được chọn ở Sprint Planning</a:t>
            </a:r>
          </a:p>
        </p:txBody>
      </p:sp>
      <p:sp>
        <p:nvSpPr>
          <p:cNvPr id="17" name="Rectangle 16"/>
          <p:cNvSpPr/>
          <p:nvPr/>
        </p:nvSpPr>
        <p:spPr>
          <a:xfrm>
            <a:off x="8095488" y="1600200"/>
            <a:ext cx="3544824" cy="3931920"/>
          </a:xfrm>
          <a:prstGeom prst="rect">
            <a:avLst/>
          </a:prstGeom>
          <a:solidFill>
            <a:srgbClr val="F3F6FA"/>
          </a:solidFill>
          <a:ln w="9525">
            <a:solidFill>
              <a:srgbClr val="D5DBE3"/>
            </a:solidFill>
          </a:ln>
          <a:effectLst/>
        </p:spPr>
        <p:txBody>
          <a:bodyPr rtlCol="0" anchor="ctr"/>
          <a:lstStyle/>
          <a:p>
            <a:pPr algn="ctr"/>
          </a:p>
        </p:txBody>
      </p:sp>
      <p:sp>
        <p:nvSpPr>
          <p:cNvPr id="18" name="Rectangle 17"/>
          <p:cNvSpPr/>
          <p:nvPr/>
        </p:nvSpPr>
        <p:spPr>
          <a:xfrm>
            <a:off x="8095488" y="1600200"/>
            <a:ext cx="3544824" cy="566928"/>
          </a:xfrm>
          <a:prstGeom prst="rect">
            <a:avLst/>
          </a:prstGeom>
          <a:solidFill>
            <a:srgbClr val="2F6FDE"/>
          </a:solidFill>
          <a:ln>
            <a:noFill/>
          </a:ln>
          <a:effectLst/>
        </p:spPr>
        <p:txBody>
          <a:bodyPr rtlCol="0" anchor="ctr" wrap="square" lIns="164592"/>
          <a:lstStyle/>
          <a:p>
            <a:pPr algn="l">
              <a:spcAft>
                <a:spcPts val="600"/>
              </a:spcAft>
            </a:pPr>
            <a:r>
              <a:rPr sz="2000" b="1">
                <a:solidFill>
                  <a:srgbClr val="FFFFFF"/>
                </a:solidFill>
                <a:latin typeface="Arial"/>
              </a:rPr>
              <a:t>Sprint Backlog</a:t>
            </a:r>
          </a:p>
        </p:txBody>
      </p:sp>
      <p:sp>
        <p:nvSpPr>
          <p:cNvPr id="19" name="TextBox 18"/>
          <p:cNvSpPr txBox="1"/>
          <p:nvPr/>
        </p:nvSpPr>
        <p:spPr>
          <a:xfrm>
            <a:off x="8260080" y="2258568"/>
            <a:ext cx="3215640" cy="365760"/>
          </a:xfrm>
          <a:prstGeom prst="rect">
            <a:avLst/>
          </a:prstGeom>
          <a:noFill/>
        </p:spPr>
        <p:txBody>
          <a:bodyPr wrap="square" lIns="0" tIns="0" rIns="0" bIns="0" anchor="t"/>
          <a:lstStyle/>
          <a:p>
            <a:pPr algn="l">
              <a:spcAft>
                <a:spcPts val="600"/>
              </a:spcAft>
            </a:pPr>
            <a:r>
              <a:rPr sz="1400" b="0">
                <a:solidFill>
                  <a:srgbClr val="5F6B7A"/>
                </a:solidFill>
                <a:latin typeface="Arial"/>
              </a:rPr>
              <a:t>Cả nhóm cam kết</a:t>
            </a:r>
          </a:p>
        </p:txBody>
      </p:sp>
      <p:sp>
        <p:nvSpPr>
          <p:cNvPr id="20" name="TextBox 19"/>
          <p:cNvSpPr txBox="1"/>
          <p:nvPr/>
        </p:nvSpPr>
        <p:spPr>
          <a:xfrm>
            <a:off x="8260080" y="2642615"/>
            <a:ext cx="3215640" cy="2798064"/>
          </a:xfrm>
          <a:prstGeom prst="rect">
            <a:avLst/>
          </a:prstGeom>
          <a:noFill/>
        </p:spPr>
        <p:txBody>
          <a:bodyPr wrap="square" lIns="0" tIns="0" rIns="0" bIns="0" anchor="t"/>
          <a:lstStyle/>
          <a:p>
            <a:pPr algn="l">
              <a:spcBef>
                <a:spcPts val="800"/>
              </a:spcBef>
              <a:spcAft>
                <a:spcPts val="100"/>
              </a:spcAft>
            </a:pPr>
            <a:r>
              <a:rPr sz="1100" b="1">
                <a:solidFill>
                  <a:srgbClr val="5F6B7A"/>
                </a:solidFill>
                <a:latin typeface="Arial"/>
              </a:rPr>
              <a:t>MỤC ĐÍCH</a:t>
            </a:r>
          </a:p>
          <a:p>
            <a:pPr algn="l">
              <a:spcAft>
                <a:spcPts val="200"/>
              </a:spcAft>
            </a:pPr>
            <a:r>
              <a:rPr sz="1800" b="0">
                <a:solidFill>
                  <a:srgbClr val="1F2933"/>
                </a:solidFill>
                <a:latin typeface="Arial"/>
              </a:rPr>
              <a:t>Việc nhóm cam kết hoàn thành trong sprint</a:t>
            </a:r>
          </a:p>
          <a:p>
            <a:pPr algn="l">
              <a:spcBef>
                <a:spcPts val="800"/>
              </a:spcBef>
              <a:spcAft>
                <a:spcPts val="100"/>
              </a:spcAft>
            </a:pPr>
            <a:r>
              <a:rPr sz="1100" b="1">
                <a:solidFill>
                  <a:srgbClr val="5F6B7A"/>
                </a:solidFill>
                <a:latin typeface="Arial"/>
              </a:rPr>
              <a:t>VÀO CỘT KHI</a:t>
            </a:r>
          </a:p>
          <a:p>
            <a:pPr algn="l">
              <a:spcAft>
                <a:spcPts val="200"/>
              </a:spcAft>
            </a:pPr>
            <a:r>
              <a:rPr sz="1800" b="0">
                <a:solidFill>
                  <a:srgbClr val="1F2933"/>
                </a:solidFill>
                <a:latin typeface="Arial"/>
              </a:rPr>
              <a:t>Được chọn ở Planning và đạt DoR</a:t>
            </a:r>
          </a:p>
          <a:p>
            <a:pPr algn="l">
              <a:spcBef>
                <a:spcPts val="800"/>
              </a:spcBef>
              <a:spcAft>
                <a:spcPts val="100"/>
              </a:spcAft>
            </a:pPr>
            <a:r>
              <a:rPr sz="1100" b="1">
                <a:solidFill>
                  <a:srgbClr val="5F6B7A"/>
                </a:solidFill>
                <a:latin typeface="Arial"/>
              </a:rPr>
              <a:t>LƯU Ý</a:t>
            </a:r>
          </a:p>
          <a:p>
            <a:pPr algn="l">
              <a:spcAft>
                <a:spcPts val="200"/>
              </a:spcAft>
            </a:pPr>
            <a:r>
              <a:rPr sz="1800" b="0">
                <a:solidFill>
                  <a:srgbClr val="1F2933"/>
                </a:solidFill>
                <a:latin typeface="Arial"/>
              </a:rPr>
              <a:t>Thêm việc giữa sprint phải đánh đổi bằng việc tương đương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2 · BOARD 11 CỘT</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Vùng Sẵn sàng làm</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D5DBE3"/>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D5DBE3"/>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7 / 21</a:t>
            </a:r>
          </a:p>
        </p:txBody>
      </p:sp>
      <p:sp>
        <p:nvSpPr>
          <p:cNvPr id="9" name="Rectangle 8"/>
          <p:cNvSpPr/>
          <p:nvPr/>
        </p:nvSpPr>
        <p:spPr>
          <a:xfrm>
            <a:off x="548640" y="1600200"/>
            <a:ext cx="5431536" cy="3931920"/>
          </a:xfrm>
          <a:prstGeom prst="rect">
            <a:avLst/>
          </a:prstGeom>
          <a:solidFill>
            <a:srgbClr val="F3F6FA"/>
          </a:solidFill>
          <a:ln w="9525">
            <a:solidFill>
              <a:srgbClr val="D5DBE3"/>
            </a:solidFill>
          </a:ln>
          <a:effectLst/>
        </p:spPr>
        <p:txBody>
          <a:bodyPr rtlCol="0" anchor="ctr"/>
          <a:lstStyle/>
          <a:p>
            <a:pPr algn="ctr"/>
          </a:p>
        </p:txBody>
      </p:sp>
      <p:sp>
        <p:nvSpPr>
          <p:cNvPr id="10" name="Rectangle 9"/>
          <p:cNvSpPr/>
          <p:nvPr/>
        </p:nvSpPr>
        <p:spPr>
          <a:xfrm>
            <a:off x="548640" y="1600200"/>
            <a:ext cx="5431536" cy="566928"/>
          </a:xfrm>
          <a:prstGeom prst="rect">
            <a:avLst/>
          </a:prstGeom>
          <a:solidFill>
            <a:srgbClr val="F2B134"/>
          </a:solidFill>
          <a:ln>
            <a:noFill/>
          </a:ln>
          <a:effectLst/>
        </p:spPr>
        <p:txBody>
          <a:bodyPr rtlCol="0" anchor="ctr" wrap="square" lIns="164592"/>
          <a:lstStyle/>
          <a:p>
            <a:pPr algn="l">
              <a:spcAft>
                <a:spcPts val="600"/>
              </a:spcAft>
            </a:pPr>
            <a:r>
              <a:rPr sz="2000" b="1">
                <a:solidFill>
                  <a:srgbClr val="1F2933"/>
                </a:solidFill>
                <a:latin typeface="Arial"/>
              </a:rPr>
              <a:t>Waiting</a:t>
            </a:r>
          </a:p>
        </p:txBody>
      </p:sp>
      <p:sp>
        <p:nvSpPr>
          <p:cNvPr id="11" name="TextBox 10"/>
          <p:cNvSpPr txBox="1"/>
          <p:nvPr/>
        </p:nvSpPr>
        <p:spPr>
          <a:xfrm>
            <a:off x="713232" y="2258568"/>
            <a:ext cx="5102352" cy="365760"/>
          </a:xfrm>
          <a:prstGeom prst="rect">
            <a:avLst/>
          </a:prstGeom>
          <a:noFill/>
        </p:spPr>
        <p:txBody>
          <a:bodyPr wrap="square" lIns="0" tIns="0" rIns="0" bIns="0" anchor="t"/>
          <a:lstStyle/>
          <a:p>
            <a:pPr algn="l">
              <a:spcAft>
                <a:spcPts val="600"/>
              </a:spcAft>
            </a:pPr>
            <a:r>
              <a:rPr sz="1400" b="0">
                <a:solidFill>
                  <a:srgbClr val="5F6B7A"/>
                </a:solidFill>
                <a:latin typeface="Arial"/>
              </a:rPr>
              <a:t>Người giữ thẻ · tối đa 3 thẻ</a:t>
            </a:r>
          </a:p>
        </p:txBody>
      </p:sp>
      <p:sp>
        <p:nvSpPr>
          <p:cNvPr id="12" name="TextBox 11"/>
          <p:cNvSpPr txBox="1"/>
          <p:nvPr/>
        </p:nvSpPr>
        <p:spPr>
          <a:xfrm>
            <a:off x="713232" y="2642615"/>
            <a:ext cx="5102352" cy="2798064"/>
          </a:xfrm>
          <a:prstGeom prst="rect">
            <a:avLst/>
          </a:prstGeom>
          <a:noFill/>
        </p:spPr>
        <p:txBody>
          <a:bodyPr wrap="square" lIns="0" tIns="0" rIns="0" bIns="0" anchor="t"/>
          <a:lstStyle/>
          <a:p>
            <a:pPr algn="l">
              <a:spcBef>
                <a:spcPts val="800"/>
              </a:spcBef>
              <a:spcAft>
                <a:spcPts val="100"/>
              </a:spcAft>
            </a:pPr>
            <a:r>
              <a:rPr sz="1100" b="1">
                <a:solidFill>
                  <a:srgbClr val="5F6B7A"/>
                </a:solidFill>
                <a:latin typeface="Arial"/>
              </a:rPr>
              <a:t>MỤC ĐÍCH</a:t>
            </a:r>
          </a:p>
          <a:p>
            <a:pPr algn="l">
              <a:spcAft>
                <a:spcPts val="200"/>
              </a:spcAft>
            </a:pPr>
            <a:r>
              <a:rPr sz="1900" b="0">
                <a:solidFill>
                  <a:srgbClr val="1F2933"/>
                </a:solidFill>
                <a:latin typeface="Arial"/>
              </a:rPr>
              <a:t>Việc đã cam kết nhưng bị chặn bởi yếu tố bên ngoài</a:t>
            </a:r>
          </a:p>
          <a:p>
            <a:pPr algn="l">
              <a:spcBef>
                <a:spcPts val="800"/>
              </a:spcBef>
              <a:spcAft>
                <a:spcPts val="100"/>
              </a:spcAft>
            </a:pPr>
            <a:r>
              <a:rPr sz="1100" b="1">
                <a:solidFill>
                  <a:srgbClr val="5F6B7A"/>
                </a:solidFill>
                <a:latin typeface="Arial"/>
              </a:rPr>
              <a:t>BẮT BUỘC GHI TRÊN THẺ</a:t>
            </a:r>
          </a:p>
          <a:p>
            <a:pPr algn="l">
              <a:spcAft>
                <a:spcPts val="200"/>
              </a:spcAft>
            </a:pPr>
            <a:r>
              <a:rPr sz="1900" b="0">
                <a:solidFill>
                  <a:srgbClr val="1F2933"/>
                </a:solidFill>
                <a:latin typeface="Arial"/>
              </a:rPr>
              <a:t>Lý do chặn, người gỡ chặn, ngày dự kiến, cột trước đó</a:t>
            </a:r>
          </a:p>
          <a:p>
            <a:pPr algn="l">
              <a:spcBef>
                <a:spcPts val="800"/>
              </a:spcBef>
              <a:spcAft>
                <a:spcPts val="100"/>
              </a:spcAft>
            </a:pPr>
            <a:r>
              <a:rPr sz="1100" b="1">
                <a:solidFill>
                  <a:srgbClr val="5F6B7A"/>
                </a:solidFill>
                <a:latin typeface="Arial"/>
              </a:rPr>
              <a:t>QUY TẮC</a:t>
            </a:r>
          </a:p>
          <a:p>
            <a:pPr algn="l">
              <a:spcAft>
                <a:spcPts val="200"/>
              </a:spcAft>
            </a:pPr>
            <a:r>
              <a:rPr sz="1900" b="0">
                <a:solidFill>
                  <a:srgbClr val="1F2933"/>
                </a:solidFill>
                <a:latin typeface="Arial"/>
              </a:rPr>
              <a:t>Quá 2 ngày làm việc: nêu ở Daily và leo thang. Gỡ chặn thì quay lại đúng cột cũ</a:t>
            </a:r>
          </a:p>
        </p:txBody>
      </p:sp>
      <p:sp>
        <p:nvSpPr>
          <p:cNvPr id="13" name="Rectangle 12"/>
          <p:cNvSpPr/>
          <p:nvPr/>
        </p:nvSpPr>
        <p:spPr>
          <a:xfrm>
            <a:off x="6208776" y="1600200"/>
            <a:ext cx="5431536" cy="3931920"/>
          </a:xfrm>
          <a:prstGeom prst="rect">
            <a:avLst/>
          </a:prstGeom>
          <a:solidFill>
            <a:srgbClr val="F3F6FA"/>
          </a:solidFill>
          <a:ln w="9525">
            <a:solidFill>
              <a:srgbClr val="D5DBE3"/>
            </a:solidFill>
          </a:ln>
          <a:effectLst/>
        </p:spPr>
        <p:txBody>
          <a:bodyPr rtlCol="0" anchor="ctr"/>
          <a:lstStyle/>
          <a:p>
            <a:pPr algn="ctr"/>
          </a:p>
        </p:txBody>
      </p:sp>
      <p:sp>
        <p:nvSpPr>
          <p:cNvPr id="14" name="Rectangle 13"/>
          <p:cNvSpPr/>
          <p:nvPr/>
        </p:nvSpPr>
        <p:spPr>
          <a:xfrm>
            <a:off x="6208776" y="1600200"/>
            <a:ext cx="5431536" cy="566928"/>
          </a:xfrm>
          <a:prstGeom prst="rect">
            <a:avLst/>
          </a:prstGeom>
          <a:solidFill>
            <a:srgbClr val="F2B134"/>
          </a:solidFill>
          <a:ln>
            <a:noFill/>
          </a:ln>
          <a:effectLst/>
        </p:spPr>
        <p:txBody>
          <a:bodyPr rtlCol="0" anchor="ctr" wrap="square" lIns="164592"/>
          <a:lstStyle/>
          <a:p>
            <a:pPr algn="l">
              <a:spcAft>
                <a:spcPts val="600"/>
              </a:spcAft>
            </a:pPr>
            <a:r>
              <a:rPr sz="2000" b="1">
                <a:solidFill>
                  <a:srgbClr val="1F2933"/>
                </a:solidFill>
                <a:latin typeface="Arial"/>
              </a:rPr>
              <a:t>Today Todo</a:t>
            </a:r>
          </a:p>
        </p:txBody>
      </p:sp>
      <p:sp>
        <p:nvSpPr>
          <p:cNvPr id="15" name="TextBox 14"/>
          <p:cNvSpPr txBox="1"/>
          <p:nvPr/>
        </p:nvSpPr>
        <p:spPr>
          <a:xfrm>
            <a:off x="6373368" y="2258568"/>
            <a:ext cx="5102352" cy="365760"/>
          </a:xfrm>
          <a:prstGeom prst="rect">
            <a:avLst/>
          </a:prstGeom>
          <a:noFill/>
        </p:spPr>
        <p:txBody>
          <a:bodyPr wrap="square" lIns="0" tIns="0" rIns="0" bIns="0" anchor="t"/>
          <a:lstStyle/>
          <a:p>
            <a:pPr algn="l">
              <a:spcAft>
                <a:spcPts val="600"/>
              </a:spcAft>
            </a:pPr>
            <a:r>
              <a:rPr sz="1400" b="0">
                <a:solidFill>
                  <a:srgbClr val="5F6B7A"/>
                </a:solidFill>
                <a:latin typeface="Arial"/>
              </a:rPr>
              <a:t>Từng Dev · vừa đủ 1 ngày làm việc</a:t>
            </a:r>
          </a:p>
        </p:txBody>
      </p:sp>
      <p:sp>
        <p:nvSpPr>
          <p:cNvPr id="16" name="TextBox 15"/>
          <p:cNvSpPr txBox="1"/>
          <p:nvPr/>
        </p:nvSpPr>
        <p:spPr>
          <a:xfrm>
            <a:off x="6373368" y="2642615"/>
            <a:ext cx="5102352" cy="2798064"/>
          </a:xfrm>
          <a:prstGeom prst="rect">
            <a:avLst/>
          </a:prstGeom>
          <a:noFill/>
        </p:spPr>
        <p:txBody>
          <a:bodyPr wrap="square" lIns="0" tIns="0" rIns="0" bIns="0" anchor="t"/>
          <a:lstStyle/>
          <a:p>
            <a:pPr algn="l">
              <a:spcBef>
                <a:spcPts val="800"/>
              </a:spcBef>
              <a:spcAft>
                <a:spcPts val="100"/>
              </a:spcAft>
            </a:pPr>
            <a:r>
              <a:rPr sz="1100" b="1">
                <a:solidFill>
                  <a:srgbClr val="5F6B7A"/>
                </a:solidFill>
                <a:latin typeface="Arial"/>
              </a:rPr>
              <a:t>MỤC ĐÍCH</a:t>
            </a:r>
          </a:p>
          <a:p>
            <a:pPr algn="l">
              <a:spcAft>
                <a:spcPts val="200"/>
              </a:spcAft>
            </a:pPr>
            <a:r>
              <a:rPr sz="1900" b="0">
                <a:solidFill>
                  <a:srgbClr val="1F2933"/>
                </a:solidFill>
                <a:latin typeface="Arial"/>
              </a:rPr>
              <a:t>Kế hoạch hôm nay của từng người</a:t>
            </a:r>
          </a:p>
          <a:p>
            <a:pPr algn="l">
              <a:spcBef>
                <a:spcPts val="800"/>
              </a:spcBef>
              <a:spcAft>
                <a:spcPts val="100"/>
              </a:spcAft>
            </a:pPr>
            <a:r>
              <a:rPr sz="1100" b="1">
                <a:solidFill>
                  <a:srgbClr val="5F6B7A"/>
                </a:solidFill>
                <a:latin typeface="Arial"/>
              </a:rPr>
              <a:t>VÀO CỘT KHI</a:t>
            </a:r>
          </a:p>
          <a:p>
            <a:pPr algn="l">
              <a:spcAft>
                <a:spcPts val="200"/>
              </a:spcAft>
            </a:pPr>
            <a:r>
              <a:rPr sz="1900" b="0">
                <a:solidFill>
                  <a:srgbClr val="1F2933"/>
                </a:solidFill>
                <a:latin typeface="Arial"/>
              </a:rPr>
              <a:t>Chọn từ Sprint Backlog theo thứ tự ưu tiên, trong Daily hoặc đầu ngày</a:t>
            </a:r>
          </a:p>
          <a:p>
            <a:pPr algn="l">
              <a:spcBef>
                <a:spcPts val="800"/>
              </a:spcBef>
              <a:spcAft>
                <a:spcPts val="100"/>
              </a:spcAft>
            </a:pPr>
            <a:r>
              <a:rPr sz="1100" b="1">
                <a:solidFill>
                  <a:srgbClr val="5F6B7A"/>
                </a:solidFill>
                <a:latin typeface="Arial"/>
              </a:rPr>
              <a:t>CUỐI NGÀY</a:t>
            </a:r>
          </a:p>
          <a:p>
            <a:pPr algn="l">
              <a:spcAft>
                <a:spcPts val="200"/>
              </a:spcAft>
            </a:pPr>
            <a:r>
              <a:rPr sz="1900" b="0">
                <a:solidFill>
                  <a:srgbClr val="1F2933"/>
                </a:solidFill>
                <a:latin typeface="Arial"/>
              </a:rPr>
              <a:t>Thẻ chưa làm quay lại Sprint Backlog; không biến cột này thành backlog thứ hai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2 · BOARD 11 CỘT</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Vùng Thực thi</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D5DBE3"/>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D5DBE3"/>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8 / 21</a:t>
            </a:r>
          </a:p>
        </p:txBody>
      </p:sp>
      <p:sp>
        <p:nvSpPr>
          <p:cNvPr id="9" name="Rectangle 8"/>
          <p:cNvSpPr/>
          <p:nvPr/>
        </p:nvSpPr>
        <p:spPr>
          <a:xfrm>
            <a:off x="548640" y="1600200"/>
            <a:ext cx="3544824" cy="3931920"/>
          </a:xfrm>
          <a:prstGeom prst="rect">
            <a:avLst/>
          </a:prstGeom>
          <a:solidFill>
            <a:srgbClr val="F3F6FA"/>
          </a:solidFill>
          <a:ln w="9525">
            <a:solidFill>
              <a:srgbClr val="D5DBE3"/>
            </a:solidFill>
          </a:ln>
          <a:effectLst/>
        </p:spPr>
        <p:txBody>
          <a:bodyPr rtlCol="0" anchor="ctr"/>
          <a:lstStyle/>
          <a:p>
            <a:pPr algn="ctr"/>
          </a:p>
        </p:txBody>
      </p:sp>
      <p:sp>
        <p:nvSpPr>
          <p:cNvPr id="10" name="Rectangle 9"/>
          <p:cNvSpPr/>
          <p:nvPr/>
        </p:nvSpPr>
        <p:spPr>
          <a:xfrm>
            <a:off x="548640" y="1600200"/>
            <a:ext cx="3544824" cy="566928"/>
          </a:xfrm>
          <a:prstGeom prst="rect">
            <a:avLst/>
          </a:prstGeom>
          <a:solidFill>
            <a:srgbClr val="12876F"/>
          </a:solidFill>
          <a:ln>
            <a:noFill/>
          </a:ln>
          <a:effectLst/>
        </p:spPr>
        <p:txBody>
          <a:bodyPr rtlCol="0" anchor="ctr" wrap="square" lIns="164592"/>
          <a:lstStyle/>
          <a:p>
            <a:pPr algn="l">
              <a:spcAft>
                <a:spcPts val="600"/>
              </a:spcAft>
            </a:pPr>
            <a:r>
              <a:rPr sz="2000" b="1">
                <a:solidFill>
                  <a:srgbClr val="FFFFFF"/>
                </a:solidFill>
                <a:latin typeface="Arial"/>
              </a:rPr>
              <a:t>In Progress</a:t>
            </a:r>
          </a:p>
        </p:txBody>
      </p:sp>
      <p:sp>
        <p:nvSpPr>
          <p:cNvPr id="11" name="TextBox 10"/>
          <p:cNvSpPr txBox="1"/>
          <p:nvPr/>
        </p:nvSpPr>
        <p:spPr>
          <a:xfrm>
            <a:off x="713232" y="2258568"/>
            <a:ext cx="3215640" cy="365760"/>
          </a:xfrm>
          <a:prstGeom prst="rect">
            <a:avLst/>
          </a:prstGeom>
          <a:noFill/>
        </p:spPr>
        <p:txBody>
          <a:bodyPr wrap="square" lIns="0" tIns="0" rIns="0" bIns="0" anchor="t"/>
          <a:lstStyle/>
          <a:p>
            <a:pPr algn="l">
              <a:spcAft>
                <a:spcPts val="600"/>
              </a:spcAft>
            </a:pPr>
            <a:r>
              <a:rPr sz="1400" b="0">
                <a:solidFill>
                  <a:srgbClr val="5F6B7A"/>
                </a:solidFill>
                <a:latin typeface="Arial"/>
              </a:rPr>
              <a:t>Một người phụ trách · 1–2 thẻ mỗi người</a:t>
            </a:r>
          </a:p>
        </p:txBody>
      </p:sp>
      <p:sp>
        <p:nvSpPr>
          <p:cNvPr id="12" name="TextBox 11"/>
          <p:cNvSpPr txBox="1"/>
          <p:nvPr/>
        </p:nvSpPr>
        <p:spPr>
          <a:xfrm>
            <a:off x="713232" y="2642615"/>
            <a:ext cx="3215640" cy="2798064"/>
          </a:xfrm>
          <a:prstGeom prst="rect">
            <a:avLst/>
          </a:prstGeom>
          <a:noFill/>
        </p:spPr>
        <p:txBody>
          <a:bodyPr wrap="square" lIns="0" tIns="0" rIns="0" bIns="0" anchor="t"/>
          <a:lstStyle/>
          <a:p>
            <a:pPr algn="l">
              <a:spcBef>
                <a:spcPts val="800"/>
              </a:spcBef>
              <a:spcAft>
                <a:spcPts val="100"/>
              </a:spcAft>
            </a:pPr>
            <a:r>
              <a:rPr sz="1100" b="1">
                <a:solidFill>
                  <a:srgbClr val="5F6B7A"/>
                </a:solidFill>
                <a:latin typeface="Arial"/>
              </a:rPr>
              <a:t>RA CỘT KHI</a:t>
            </a:r>
          </a:p>
          <a:p>
            <a:pPr algn="l">
              <a:spcAft>
                <a:spcPts val="200"/>
              </a:spcAft>
            </a:pPr>
            <a:r>
              <a:rPr sz="1800" b="0">
                <a:solidFill>
                  <a:srgbClr val="1F2933"/>
                </a:solidFill>
                <a:latin typeface="Arial"/>
              </a:rPr>
              <a:t>Đạt DoD cổng Review, hoặc bị chặn thì sang Waiting</a:t>
            </a:r>
          </a:p>
          <a:p>
            <a:pPr algn="l">
              <a:spcBef>
                <a:spcPts val="800"/>
              </a:spcBef>
              <a:spcAft>
                <a:spcPts val="100"/>
              </a:spcAft>
            </a:pPr>
            <a:r>
              <a:rPr sz="1100" b="1">
                <a:solidFill>
                  <a:srgbClr val="5F6B7A"/>
                </a:solidFill>
                <a:latin typeface="Arial"/>
              </a:rPr>
              <a:t>LƯU Ý</a:t>
            </a:r>
          </a:p>
          <a:p>
            <a:pPr algn="l">
              <a:spcAft>
                <a:spcPts val="200"/>
              </a:spcAft>
            </a:pPr>
            <a:r>
              <a:rPr sz="1800" b="0">
                <a:solidFill>
                  <a:srgbClr val="1F2933"/>
                </a:solidFill>
                <a:latin typeface="Arial"/>
              </a:rPr>
              <a:t>Quá 3 ngày không tiến triển: nêu ở Daily, cân nhắc tách nhỏ hoặc nhờ giúp</a:t>
            </a:r>
          </a:p>
        </p:txBody>
      </p:sp>
      <p:sp>
        <p:nvSpPr>
          <p:cNvPr id="13" name="Rectangle 12"/>
          <p:cNvSpPr/>
          <p:nvPr/>
        </p:nvSpPr>
        <p:spPr>
          <a:xfrm>
            <a:off x="4322064" y="1600200"/>
            <a:ext cx="3544824" cy="3931920"/>
          </a:xfrm>
          <a:prstGeom prst="rect">
            <a:avLst/>
          </a:prstGeom>
          <a:solidFill>
            <a:srgbClr val="F3F6FA"/>
          </a:solidFill>
          <a:ln w="9525">
            <a:solidFill>
              <a:srgbClr val="D5DBE3"/>
            </a:solidFill>
          </a:ln>
          <a:effectLst/>
        </p:spPr>
        <p:txBody>
          <a:bodyPr rtlCol="0" anchor="ctr"/>
          <a:lstStyle/>
          <a:p>
            <a:pPr algn="ctr"/>
          </a:p>
        </p:txBody>
      </p:sp>
      <p:sp>
        <p:nvSpPr>
          <p:cNvPr id="14" name="Rectangle 13"/>
          <p:cNvSpPr/>
          <p:nvPr/>
        </p:nvSpPr>
        <p:spPr>
          <a:xfrm>
            <a:off x="4322064" y="1600200"/>
            <a:ext cx="3544824" cy="566928"/>
          </a:xfrm>
          <a:prstGeom prst="rect">
            <a:avLst/>
          </a:prstGeom>
          <a:solidFill>
            <a:srgbClr val="12876F"/>
          </a:solidFill>
          <a:ln>
            <a:noFill/>
          </a:ln>
          <a:effectLst/>
        </p:spPr>
        <p:txBody>
          <a:bodyPr rtlCol="0" anchor="ctr" wrap="square" lIns="164592"/>
          <a:lstStyle/>
          <a:p>
            <a:pPr algn="l">
              <a:spcAft>
                <a:spcPts val="600"/>
              </a:spcAft>
            </a:pPr>
            <a:r>
              <a:rPr sz="2000" b="1">
                <a:solidFill>
                  <a:srgbClr val="FFFFFF"/>
                </a:solidFill>
                <a:latin typeface="Arial"/>
              </a:rPr>
              <a:t>Ready to Review</a:t>
            </a:r>
          </a:p>
        </p:txBody>
      </p:sp>
      <p:sp>
        <p:nvSpPr>
          <p:cNvPr id="15" name="TextBox 14"/>
          <p:cNvSpPr txBox="1"/>
          <p:nvPr/>
        </p:nvSpPr>
        <p:spPr>
          <a:xfrm>
            <a:off x="4486656" y="2258568"/>
            <a:ext cx="3215640" cy="365760"/>
          </a:xfrm>
          <a:prstGeom prst="rect">
            <a:avLst/>
          </a:prstGeom>
          <a:noFill/>
        </p:spPr>
        <p:txBody>
          <a:bodyPr wrap="square" lIns="0" tIns="0" rIns="0" bIns="0" anchor="t"/>
          <a:lstStyle/>
          <a:p>
            <a:pPr algn="l">
              <a:spcAft>
                <a:spcPts val="600"/>
              </a:spcAft>
            </a:pPr>
            <a:r>
              <a:rPr sz="1400" b="0">
                <a:solidFill>
                  <a:srgbClr val="5F6B7A"/>
                </a:solidFill>
                <a:latin typeface="Arial"/>
              </a:rPr>
              <a:t>Dev khác tác giả review</a:t>
            </a:r>
          </a:p>
        </p:txBody>
      </p:sp>
      <p:sp>
        <p:nvSpPr>
          <p:cNvPr id="16" name="TextBox 15"/>
          <p:cNvSpPr txBox="1"/>
          <p:nvPr/>
        </p:nvSpPr>
        <p:spPr>
          <a:xfrm>
            <a:off x="4486656" y="2642615"/>
            <a:ext cx="3215640" cy="2798064"/>
          </a:xfrm>
          <a:prstGeom prst="rect">
            <a:avLst/>
          </a:prstGeom>
          <a:noFill/>
        </p:spPr>
        <p:txBody>
          <a:bodyPr wrap="square" lIns="0" tIns="0" rIns="0" bIns="0" anchor="t"/>
          <a:lstStyle/>
          <a:p>
            <a:pPr algn="l">
              <a:spcBef>
                <a:spcPts val="800"/>
              </a:spcBef>
              <a:spcAft>
                <a:spcPts val="100"/>
              </a:spcAft>
            </a:pPr>
            <a:r>
              <a:rPr sz="1100" b="1">
                <a:solidFill>
                  <a:srgbClr val="5F6B7A"/>
                </a:solidFill>
                <a:latin typeface="Arial"/>
              </a:rPr>
              <a:t>VÀO CỘT KHI</a:t>
            </a:r>
          </a:p>
          <a:p>
            <a:pPr algn="l">
              <a:spcAft>
                <a:spcPts val="200"/>
              </a:spcAft>
            </a:pPr>
            <a:r>
              <a:rPr sz="1800" b="0">
                <a:solidFill>
                  <a:srgbClr val="1F2933"/>
                </a:solidFill>
                <a:latin typeface="Arial"/>
              </a:rPr>
              <a:t>Đã mở PR và gắn link vào thẻ</a:t>
            </a:r>
          </a:p>
          <a:p>
            <a:pPr algn="l">
              <a:spcBef>
                <a:spcPts val="800"/>
              </a:spcBef>
              <a:spcAft>
                <a:spcPts val="100"/>
              </a:spcAft>
            </a:pPr>
            <a:r>
              <a:rPr sz="1100" b="1">
                <a:solidFill>
                  <a:srgbClr val="5F6B7A"/>
                </a:solidFill>
                <a:latin typeface="Arial"/>
              </a:rPr>
              <a:t>MỤC TIÊU</a:t>
            </a:r>
          </a:p>
          <a:p>
            <a:pPr algn="l">
              <a:spcAft>
                <a:spcPts val="200"/>
              </a:spcAft>
            </a:pPr>
            <a:r>
              <a:rPr sz="1800" b="0">
                <a:solidFill>
                  <a:srgbClr val="1F2933"/>
                </a:solidFill>
                <a:latin typeface="Arial"/>
              </a:rPr>
              <a:t>Phản hồi trong 1 ngày làm việc</a:t>
            </a:r>
          </a:p>
          <a:p>
            <a:pPr algn="l">
              <a:spcBef>
                <a:spcPts val="800"/>
              </a:spcBef>
              <a:spcAft>
                <a:spcPts val="100"/>
              </a:spcAft>
            </a:pPr>
            <a:r>
              <a:rPr sz="1100" b="1">
                <a:solidFill>
                  <a:srgbClr val="5F6B7A"/>
                </a:solidFill>
                <a:latin typeface="Arial"/>
              </a:rPr>
              <a:t>RA CỘT KHI</a:t>
            </a:r>
          </a:p>
          <a:p>
            <a:pPr algn="l">
              <a:spcAft>
                <a:spcPts val="200"/>
              </a:spcAft>
            </a:pPr>
            <a:r>
              <a:rPr sz="1800" b="0">
                <a:solidFill>
                  <a:srgbClr val="1F2933"/>
                </a:solidFill>
                <a:latin typeface="Arial"/>
              </a:rPr>
              <a:t>Duyệt: sang Ready to Test. Cần sửa: về In Progress</a:t>
            </a:r>
          </a:p>
        </p:txBody>
      </p:sp>
      <p:sp>
        <p:nvSpPr>
          <p:cNvPr id="17" name="Rectangle 16"/>
          <p:cNvSpPr/>
          <p:nvPr/>
        </p:nvSpPr>
        <p:spPr>
          <a:xfrm>
            <a:off x="8095488" y="1600200"/>
            <a:ext cx="3544824" cy="3931920"/>
          </a:xfrm>
          <a:prstGeom prst="rect">
            <a:avLst/>
          </a:prstGeom>
          <a:solidFill>
            <a:srgbClr val="F3F6FA"/>
          </a:solidFill>
          <a:ln w="9525">
            <a:solidFill>
              <a:srgbClr val="D5DBE3"/>
            </a:solidFill>
          </a:ln>
          <a:effectLst/>
        </p:spPr>
        <p:txBody>
          <a:bodyPr rtlCol="0" anchor="ctr"/>
          <a:lstStyle/>
          <a:p>
            <a:pPr algn="ctr"/>
          </a:p>
        </p:txBody>
      </p:sp>
      <p:sp>
        <p:nvSpPr>
          <p:cNvPr id="18" name="Rectangle 17"/>
          <p:cNvSpPr/>
          <p:nvPr/>
        </p:nvSpPr>
        <p:spPr>
          <a:xfrm>
            <a:off x="8095488" y="1600200"/>
            <a:ext cx="3544824" cy="566928"/>
          </a:xfrm>
          <a:prstGeom prst="rect">
            <a:avLst/>
          </a:prstGeom>
          <a:solidFill>
            <a:srgbClr val="12876F"/>
          </a:solidFill>
          <a:ln>
            <a:noFill/>
          </a:ln>
          <a:effectLst/>
        </p:spPr>
        <p:txBody>
          <a:bodyPr rtlCol="0" anchor="ctr" wrap="square" lIns="164592"/>
          <a:lstStyle/>
          <a:p>
            <a:pPr algn="l">
              <a:spcAft>
                <a:spcPts val="600"/>
              </a:spcAft>
            </a:pPr>
            <a:r>
              <a:rPr sz="2000" b="1">
                <a:solidFill>
                  <a:srgbClr val="FFFFFF"/>
                </a:solidFill>
                <a:latin typeface="Arial"/>
              </a:rPr>
              <a:t>Ready to Test</a:t>
            </a:r>
          </a:p>
        </p:txBody>
      </p:sp>
      <p:sp>
        <p:nvSpPr>
          <p:cNvPr id="19" name="TextBox 18"/>
          <p:cNvSpPr txBox="1"/>
          <p:nvPr/>
        </p:nvSpPr>
        <p:spPr>
          <a:xfrm>
            <a:off x="8260080" y="2258568"/>
            <a:ext cx="3215640" cy="365760"/>
          </a:xfrm>
          <a:prstGeom prst="rect">
            <a:avLst/>
          </a:prstGeom>
          <a:noFill/>
        </p:spPr>
        <p:txBody>
          <a:bodyPr wrap="square" lIns="0" tIns="0" rIns="0" bIns="0" anchor="t"/>
          <a:lstStyle/>
          <a:p>
            <a:pPr algn="l">
              <a:spcAft>
                <a:spcPts val="600"/>
              </a:spcAft>
            </a:pPr>
            <a:r>
              <a:rPr sz="1400" b="0">
                <a:solidFill>
                  <a:srgbClr val="5F6B7A"/>
                </a:solidFill>
                <a:latin typeface="Arial"/>
              </a:rPr>
              <a:t>Tester kiểm thử</a:t>
            </a:r>
          </a:p>
        </p:txBody>
      </p:sp>
      <p:sp>
        <p:nvSpPr>
          <p:cNvPr id="20" name="TextBox 19"/>
          <p:cNvSpPr txBox="1"/>
          <p:nvPr/>
        </p:nvSpPr>
        <p:spPr>
          <a:xfrm>
            <a:off x="8260080" y="2642615"/>
            <a:ext cx="3215640" cy="2798064"/>
          </a:xfrm>
          <a:prstGeom prst="rect">
            <a:avLst/>
          </a:prstGeom>
          <a:noFill/>
        </p:spPr>
        <p:txBody>
          <a:bodyPr wrap="square" lIns="0" tIns="0" rIns="0" bIns="0" anchor="t"/>
          <a:lstStyle/>
          <a:p>
            <a:pPr algn="l">
              <a:spcBef>
                <a:spcPts val="800"/>
              </a:spcBef>
              <a:spcAft>
                <a:spcPts val="100"/>
              </a:spcAft>
            </a:pPr>
            <a:r>
              <a:rPr sz="1100" b="1">
                <a:solidFill>
                  <a:srgbClr val="5F6B7A"/>
                </a:solidFill>
                <a:latin typeface="Arial"/>
              </a:rPr>
              <a:t>VÀO CỘT KHI</a:t>
            </a:r>
          </a:p>
          <a:p>
            <a:pPr algn="l">
              <a:spcAft>
                <a:spcPts val="200"/>
              </a:spcAft>
            </a:pPr>
            <a:r>
              <a:rPr sz="1800" b="0">
                <a:solidFill>
                  <a:srgbClr val="1F2933"/>
                </a:solidFill>
                <a:latin typeface="Arial"/>
              </a:rPr>
              <a:t>Đã qua review, đã deploy lên môi trường test</a:t>
            </a:r>
          </a:p>
          <a:p>
            <a:pPr algn="l">
              <a:spcBef>
                <a:spcPts val="800"/>
              </a:spcBef>
              <a:spcAft>
                <a:spcPts val="100"/>
              </a:spcAft>
            </a:pPr>
            <a:r>
              <a:rPr sz="1100" b="1">
                <a:solidFill>
                  <a:srgbClr val="5F6B7A"/>
                </a:solidFill>
                <a:latin typeface="Arial"/>
              </a:rPr>
              <a:t>RA CỘT KHI</a:t>
            </a:r>
          </a:p>
          <a:p>
            <a:pPr algn="l">
              <a:spcAft>
                <a:spcPts val="200"/>
              </a:spcAft>
            </a:pPr>
            <a:r>
              <a:rPr sz="1800" b="0">
                <a:solidFill>
                  <a:srgbClr val="1F2933"/>
                </a:solidFill>
                <a:latin typeface="Arial"/>
              </a:rPr>
              <a:t>Đạt: sang Ready to Release. Lỗi: về In Progress kèm cách tái hiện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2 · BOARD 11 CỘT</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Vùng Phát hành và đóng</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D5DBE3"/>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D5DBE3"/>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9 / 21</a:t>
            </a:r>
          </a:p>
        </p:txBody>
      </p:sp>
      <p:sp>
        <p:nvSpPr>
          <p:cNvPr id="9" name="Rectangle 8"/>
          <p:cNvSpPr/>
          <p:nvPr/>
        </p:nvSpPr>
        <p:spPr>
          <a:xfrm>
            <a:off x="548640" y="1600200"/>
            <a:ext cx="3544824" cy="3931920"/>
          </a:xfrm>
          <a:prstGeom prst="rect">
            <a:avLst/>
          </a:prstGeom>
          <a:solidFill>
            <a:srgbClr val="F3F6FA"/>
          </a:solidFill>
          <a:ln w="9525">
            <a:solidFill>
              <a:srgbClr val="D5DBE3"/>
            </a:solidFill>
          </a:ln>
          <a:effectLst/>
        </p:spPr>
        <p:txBody>
          <a:bodyPr rtlCol="0" anchor="ctr"/>
          <a:lstStyle/>
          <a:p>
            <a:pPr algn="ctr"/>
          </a:p>
        </p:txBody>
      </p:sp>
      <p:sp>
        <p:nvSpPr>
          <p:cNvPr id="10" name="Rectangle 9"/>
          <p:cNvSpPr/>
          <p:nvPr/>
        </p:nvSpPr>
        <p:spPr>
          <a:xfrm>
            <a:off x="548640" y="1600200"/>
            <a:ext cx="3544824" cy="566928"/>
          </a:xfrm>
          <a:prstGeom prst="rect">
            <a:avLst/>
          </a:prstGeom>
          <a:solidFill>
            <a:srgbClr val="7B4FD1"/>
          </a:solidFill>
          <a:ln>
            <a:noFill/>
          </a:ln>
          <a:effectLst/>
        </p:spPr>
        <p:txBody>
          <a:bodyPr rtlCol="0" anchor="ctr" wrap="square" lIns="164592"/>
          <a:lstStyle/>
          <a:p>
            <a:pPr algn="l">
              <a:spcAft>
                <a:spcPts val="600"/>
              </a:spcAft>
            </a:pPr>
            <a:r>
              <a:rPr sz="2000" b="1">
                <a:solidFill>
                  <a:srgbClr val="FFFFFF"/>
                </a:solidFill>
                <a:latin typeface="Arial"/>
              </a:rPr>
              <a:t>Ready to Release</a:t>
            </a:r>
          </a:p>
        </p:txBody>
      </p:sp>
      <p:sp>
        <p:nvSpPr>
          <p:cNvPr id="11" name="TextBox 10"/>
          <p:cNvSpPr txBox="1"/>
          <p:nvPr/>
        </p:nvSpPr>
        <p:spPr>
          <a:xfrm>
            <a:off x="713232" y="2258568"/>
            <a:ext cx="3215640" cy="365760"/>
          </a:xfrm>
          <a:prstGeom prst="rect">
            <a:avLst/>
          </a:prstGeom>
          <a:noFill/>
        </p:spPr>
        <p:txBody>
          <a:bodyPr wrap="square" lIns="0" tIns="0" rIns="0" bIns="0" anchor="t"/>
          <a:lstStyle/>
          <a:p>
            <a:pPr algn="l">
              <a:spcAft>
                <a:spcPts val="600"/>
              </a:spcAft>
            </a:pPr>
            <a:r>
              <a:rPr sz="1400" b="0">
                <a:solidFill>
                  <a:srgbClr val="5F6B7A"/>
                </a:solidFill>
                <a:latin typeface="Arial"/>
              </a:rPr>
              <a:t>Tester nghiệm thu · Trưởng nhóm</a:t>
            </a:r>
          </a:p>
        </p:txBody>
      </p:sp>
      <p:sp>
        <p:nvSpPr>
          <p:cNvPr id="12" name="TextBox 11"/>
          <p:cNvSpPr txBox="1"/>
          <p:nvPr/>
        </p:nvSpPr>
        <p:spPr>
          <a:xfrm>
            <a:off x="713232" y="2642615"/>
            <a:ext cx="3215640" cy="2798064"/>
          </a:xfrm>
          <a:prstGeom prst="rect">
            <a:avLst/>
          </a:prstGeom>
          <a:noFill/>
        </p:spPr>
        <p:txBody>
          <a:bodyPr wrap="square" lIns="0" tIns="0" rIns="0" bIns="0" anchor="t"/>
          <a:lstStyle/>
          <a:p>
            <a:pPr algn="l">
              <a:spcBef>
                <a:spcPts val="800"/>
              </a:spcBef>
              <a:spcAft>
                <a:spcPts val="100"/>
              </a:spcAft>
            </a:pPr>
            <a:r>
              <a:rPr sz="1100" b="1">
                <a:solidFill>
                  <a:srgbClr val="5F6B7A"/>
                </a:solidFill>
                <a:latin typeface="Arial"/>
              </a:rPr>
              <a:t>VÀO CỘT KHI</a:t>
            </a:r>
          </a:p>
          <a:p>
            <a:pPr algn="l">
              <a:spcAft>
                <a:spcPts val="200"/>
              </a:spcAft>
            </a:pPr>
            <a:r>
              <a:rPr sz="1800" b="0">
                <a:solidFill>
                  <a:srgbClr val="1F2933"/>
                </a:solidFill>
                <a:latin typeface="Arial"/>
              </a:rPr>
              <a:t>Đạt DoD cổng Release, Tester đã nghiệm thu</a:t>
            </a:r>
          </a:p>
          <a:p>
            <a:pPr algn="l">
              <a:spcBef>
                <a:spcPts val="800"/>
              </a:spcBef>
              <a:spcAft>
                <a:spcPts val="100"/>
              </a:spcAft>
            </a:pPr>
            <a:r>
              <a:rPr sz="1100" b="1">
                <a:solidFill>
                  <a:srgbClr val="5F6B7A"/>
                </a:solidFill>
                <a:latin typeface="Arial"/>
              </a:rPr>
              <a:t>LƯU Ý</a:t>
            </a:r>
          </a:p>
          <a:p>
            <a:pPr algn="l">
              <a:spcAft>
                <a:spcPts val="200"/>
              </a:spcAft>
            </a:pPr>
            <a:r>
              <a:rPr sz="1800" b="0">
                <a:solidFill>
                  <a:srgbClr val="1F2933"/>
                </a:solidFill>
                <a:latin typeface="Arial"/>
              </a:rPr>
              <a:t>Không để tồn quá một chu kỳ phát hành: giá trị chưa đến tay người dùng</a:t>
            </a:r>
          </a:p>
        </p:txBody>
      </p:sp>
      <p:sp>
        <p:nvSpPr>
          <p:cNvPr id="13" name="Rectangle 12"/>
          <p:cNvSpPr/>
          <p:nvPr/>
        </p:nvSpPr>
        <p:spPr>
          <a:xfrm>
            <a:off x="4322064" y="1600200"/>
            <a:ext cx="3544824" cy="3931920"/>
          </a:xfrm>
          <a:prstGeom prst="rect">
            <a:avLst/>
          </a:prstGeom>
          <a:solidFill>
            <a:srgbClr val="F3F6FA"/>
          </a:solidFill>
          <a:ln w="9525">
            <a:solidFill>
              <a:srgbClr val="D5DBE3"/>
            </a:solidFill>
          </a:ln>
          <a:effectLst/>
        </p:spPr>
        <p:txBody>
          <a:bodyPr rtlCol="0" anchor="ctr"/>
          <a:lstStyle/>
          <a:p>
            <a:pPr algn="ctr"/>
          </a:p>
        </p:txBody>
      </p:sp>
      <p:sp>
        <p:nvSpPr>
          <p:cNvPr id="14" name="Rectangle 13"/>
          <p:cNvSpPr/>
          <p:nvPr/>
        </p:nvSpPr>
        <p:spPr>
          <a:xfrm>
            <a:off x="4322064" y="1600200"/>
            <a:ext cx="3544824" cy="566928"/>
          </a:xfrm>
          <a:prstGeom prst="rect">
            <a:avLst/>
          </a:prstGeom>
          <a:solidFill>
            <a:srgbClr val="7B4FD1"/>
          </a:solidFill>
          <a:ln>
            <a:noFill/>
          </a:ln>
          <a:effectLst/>
        </p:spPr>
        <p:txBody>
          <a:bodyPr rtlCol="0" anchor="ctr" wrap="square" lIns="164592"/>
          <a:lstStyle/>
          <a:p>
            <a:pPr algn="l">
              <a:spcAft>
                <a:spcPts val="600"/>
              </a:spcAft>
            </a:pPr>
            <a:r>
              <a:rPr sz="2000" b="1">
                <a:solidFill>
                  <a:srgbClr val="FFFFFF"/>
                </a:solidFill>
                <a:latin typeface="Arial"/>
              </a:rPr>
              <a:t>Released</a:t>
            </a:r>
          </a:p>
        </p:txBody>
      </p:sp>
      <p:sp>
        <p:nvSpPr>
          <p:cNvPr id="15" name="TextBox 14"/>
          <p:cNvSpPr txBox="1"/>
          <p:nvPr/>
        </p:nvSpPr>
        <p:spPr>
          <a:xfrm>
            <a:off x="4486656" y="2258568"/>
            <a:ext cx="3215640" cy="365760"/>
          </a:xfrm>
          <a:prstGeom prst="rect">
            <a:avLst/>
          </a:prstGeom>
          <a:noFill/>
        </p:spPr>
        <p:txBody>
          <a:bodyPr wrap="square" lIns="0" tIns="0" rIns="0" bIns="0" anchor="t"/>
          <a:lstStyle/>
          <a:p>
            <a:pPr algn="l">
              <a:spcAft>
                <a:spcPts val="600"/>
              </a:spcAft>
            </a:pPr>
            <a:r>
              <a:rPr sz="1400" b="0">
                <a:solidFill>
                  <a:srgbClr val="5F6B7A"/>
                </a:solidFill>
                <a:latin typeface="Arial"/>
              </a:rPr>
              <a:t>Dev phát hành</a:t>
            </a:r>
          </a:p>
        </p:txBody>
      </p:sp>
      <p:sp>
        <p:nvSpPr>
          <p:cNvPr id="16" name="TextBox 15"/>
          <p:cNvSpPr txBox="1"/>
          <p:nvPr/>
        </p:nvSpPr>
        <p:spPr>
          <a:xfrm>
            <a:off x="4486656" y="2642615"/>
            <a:ext cx="3215640" cy="2798064"/>
          </a:xfrm>
          <a:prstGeom prst="rect">
            <a:avLst/>
          </a:prstGeom>
          <a:noFill/>
        </p:spPr>
        <p:txBody>
          <a:bodyPr wrap="square" lIns="0" tIns="0" rIns="0" bIns="0" anchor="t"/>
          <a:lstStyle/>
          <a:p>
            <a:pPr algn="l">
              <a:spcBef>
                <a:spcPts val="800"/>
              </a:spcBef>
              <a:spcAft>
                <a:spcPts val="100"/>
              </a:spcAft>
            </a:pPr>
            <a:r>
              <a:rPr sz="1100" b="1">
                <a:solidFill>
                  <a:srgbClr val="5F6B7A"/>
                </a:solidFill>
                <a:latin typeface="Arial"/>
              </a:rPr>
              <a:t>VÀO CỘT KHI</a:t>
            </a:r>
          </a:p>
          <a:p>
            <a:pPr algn="l">
              <a:spcAft>
                <a:spcPts val="200"/>
              </a:spcAft>
            </a:pPr>
            <a:r>
              <a:rPr sz="1800" b="0">
                <a:solidFill>
                  <a:srgbClr val="1F2933"/>
                </a:solidFill>
                <a:latin typeface="Arial"/>
              </a:rPr>
              <a:t>Deploy thành công và smoke test đạt</a:t>
            </a:r>
          </a:p>
          <a:p>
            <a:pPr algn="l">
              <a:spcBef>
                <a:spcPts val="800"/>
              </a:spcBef>
              <a:spcAft>
                <a:spcPts val="100"/>
              </a:spcAft>
            </a:pPr>
            <a:r>
              <a:rPr sz="1100" b="1">
                <a:solidFill>
                  <a:srgbClr val="5F6B7A"/>
                </a:solidFill>
                <a:latin typeface="Arial"/>
              </a:rPr>
              <a:t>RA CỘT KHI</a:t>
            </a:r>
          </a:p>
          <a:p>
            <a:pPr algn="l">
              <a:spcAft>
                <a:spcPts val="200"/>
              </a:spcAft>
            </a:pPr>
            <a:r>
              <a:rPr sz="1800" b="0">
                <a:solidFill>
                  <a:srgbClr val="1F2933"/>
                </a:solidFill>
                <a:latin typeface="Arial"/>
              </a:rPr>
              <a:t>Hết 1–3 ngày theo dõi. Lỗi nghiêm trọng: tạo thẻ bug mới ở Open</a:t>
            </a:r>
          </a:p>
        </p:txBody>
      </p:sp>
      <p:sp>
        <p:nvSpPr>
          <p:cNvPr id="17" name="Rectangle 16"/>
          <p:cNvSpPr/>
          <p:nvPr/>
        </p:nvSpPr>
        <p:spPr>
          <a:xfrm>
            <a:off x="8095488" y="1600200"/>
            <a:ext cx="3544824" cy="3931920"/>
          </a:xfrm>
          <a:prstGeom prst="rect">
            <a:avLst/>
          </a:prstGeom>
          <a:solidFill>
            <a:srgbClr val="F3F6FA"/>
          </a:solidFill>
          <a:ln w="9525">
            <a:solidFill>
              <a:srgbClr val="D5DBE3"/>
            </a:solidFill>
          </a:ln>
          <a:effectLst/>
        </p:spPr>
        <p:txBody>
          <a:bodyPr rtlCol="0" anchor="ctr"/>
          <a:lstStyle/>
          <a:p>
            <a:pPr algn="ctr"/>
          </a:p>
        </p:txBody>
      </p:sp>
      <p:sp>
        <p:nvSpPr>
          <p:cNvPr id="18" name="Rectangle 17"/>
          <p:cNvSpPr/>
          <p:nvPr/>
        </p:nvSpPr>
        <p:spPr>
          <a:xfrm>
            <a:off x="8095488" y="1600200"/>
            <a:ext cx="3544824" cy="566928"/>
          </a:xfrm>
          <a:prstGeom prst="rect">
            <a:avLst/>
          </a:prstGeom>
          <a:solidFill>
            <a:srgbClr val="7B4FD1"/>
          </a:solidFill>
          <a:ln>
            <a:noFill/>
          </a:ln>
          <a:effectLst/>
        </p:spPr>
        <p:txBody>
          <a:bodyPr rtlCol="0" anchor="ctr" wrap="square" lIns="164592"/>
          <a:lstStyle/>
          <a:p>
            <a:pPr algn="l">
              <a:spcAft>
                <a:spcPts val="600"/>
              </a:spcAft>
            </a:pPr>
            <a:r>
              <a:rPr sz="2000" b="1">
                <a:solidFill>
                  <a:srgbClr val="FFFFFF"/>
                </a:solidFill>
                <a:latin typeface="Arial"/>
              </a:rPr>
              <a:t>Closed</a:t>
            </a:r>
          </a:p>
        </p:txBody>
      </p:sp>
      <p:sp>
        <p:nvSpPr>
          <p:cNvPr id="19" name="TextBox 18"/>
          <p:cNvSpPr txBox="1"/>
          <p:nvPr/>
        </p:nvSpPr>
        <p:spPr>
          <a:xfrm>
            <a:off x="8260080" y="2258568"/>
            <a:ext cx="3215640" cy="365760"/>
          </a:xfrm>
          <a:prstGeom prst="rect">
            <a:avLst/>
          </a:prstGeom>
          <a:noFill/>
        </p:spPr>
        <p:txBody>
          <a:bodyPr wrap="square" lIns="0" tIns="0" rIns="0" bIns="0" anchor="t"/>
          <a:lstStyle/>
          <a:p>
            <a:pPr algn="l">
              <a:spcAft>
                <a:spcPts val="600"/>
              </a:spcAft>
            </a:pPr>
            <a:r>
              <a:rPr sz="1400" b="0">
                <a:solidFill>
                  <a:srgbClr val="5F6B7A"/>
                </a:solidFill>
                <a:latin typeface="Arial"/>
              </a:rPr>
              <a:t>Trưởng nhóm xác nhận</a:t>
            </a:r>
          </a:p>
        </p:txBody>
      </p:sp>
      <p:sp>
        <p:nvSpPr>
          <p:cNvPr id="20" name="TextBox 19"/>
          <p:cNvSpPr txBox="1"/>
          <p:nvPr/>
        </p:nvSpPr>
        <p:spPr>
          <a:xfrm>
            <a:off x="8260080" y="2642615"/>
            <a:ext cx="3215640" cy="2798064"/>
          </a:xfrm>
          <a:prstGeom prst="rect">
            <a:avLst/>
          </a:prstGeom>
          <a:noFill/>
        </p:spPr>
        <p:txBody>
          <a:bodyPr wrap="square" lIns="0" tIns="0" rIns="0" bIns="0" anchor="t"/>
          <a:lstStyle/>
          <a:p>
            <a:pPr algn="l">
              <a:spcBef>
                <a:spcPts val="800"/>
              </a:spcBef>
              <a:spcAft>
                <a:spcPts val="100"/>
              </a:spcAft>
            </a:pPr>
            <a:r>
              <a:rPr sz="1100" b="1">
                <a:solidFill>
                  <a:srgbClr val="5F6B7A"/>
                </a:solidFill>
                <a:latin typeface="Arial"/>
              </a:rPr>
              <a:t>HAI LOẠI</a:t>
            </a:r>
          </a:p>
          <a:p>
            <a:pPr algn="l">
              <a:spcAft>
                <a:spcPts val="200"/>
              </a:spcAft>
            </a:pPr>
            <a:r>
              <a:rPr sz="1800" b="0">
                <a:solidFill>
                  <a:srgbClr val="1F2933"/>
                </a:solidFill>
                <a:latin typeface="Arial"/>
              </a:rPr>
              <a:t>Hoàn thành, hoặc Không làm kèm lý do</a:t>
            </a:r>
          </a:p>
          <a:p>
            <a:pPr algn="l">
              <a:spcBef>
                <a:spcPts val="800"/>
              </a:spcBef>
              <a:spcAft>
                <a:spcPts val="100"/>
              </a:spcAft>
            </a:pPr>
            <a:r>
              <a:rPr sz="1100" b="1">
                <a:solidFill>
                  <a:srgbClr val="5F6B7A"/>
                </a:solidFill>
                <a:latin typeface="Arial"/>
              </a:rPr>
              <a:t>LƯU Ý</a:t>
            </a:r>
          </a:p>
          <a:p>
            <a:pPr algn="l">
              <a:spcAft>
                <a:spcPts val="200"/>
              </a:spcAft>
            </a:pPr>
            <a:r>
              <a:rPr sz="1800" b="0">
                <a:solidFill>
                  <a:srgbClr val="1F2933"/>
                </a:solidFill>
                <a:latin typeface="Arial"/>
              </a:rPr>
              <a:t>Không mở lại. Cần làm tiếp thì tạo thẻ mới ở Open và liên kết thẻ cũ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3 · QUY ĐỊNH CHUYỂN THẺ</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5 quy tắc khi chuyển thẻ</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0E7C86"/>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D5DBE3"/>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10 / 21</a:t>
            </a:r>
          </a:p>
        </p:txBody>
      </p:sp>
      <p:sp>
        <p:nvSpPr>
          <p:cNvPr id="9" name="Oval 8"/>
          <p:cNvSpPr/>
          <p:nvPr/>
        </p:nvSpPr>
        <p:spPr>
          <a:xfrm>
            <a:off x="548640" y="1645920"/>
            <a:ext cx="685800" cy="685800"/>
          </a:xfrm>
          <a:prstGeom prst="ellipse">
            <a:avLst/>
          </a:prstGeom>
          <a:solidFill>
            <a:srgbClr val="0E7C86"/>
          </a:solidFill>
          <a:ln>
            <a:noFill/>
          </a:ln>
          <a:effectLst/>
        </p:spPr>
        <p:txBody>
          <a:bodyPr rtlCol="0" anchor="ctr" wrap="square" lIns="0" tIns="0" rIns="0" bIns="0"/>
          <a:lstStyle/>
          <a:p>
            <a:pPr algn="ctr">
              <a:spcAft>
                <a:spcPts val="600"/>
              </a:spcAft>
            </a:pPr>
            <a:r>
              <a:rPr sz="2200" b="1">
                <a:solidFill>
                  <a:srgbClr val="FFFFFF"/>
                </a:solidFill>
                <a:latin typeface="Arial"/>
              </a:rPr>
              <a:t>1</a:t>
            </a:r>
          </a:p>
        </p:txBody>
      </p:sp>
      <p:sp>
        <p:nvSpPr>
          <p:cNvPr id="10" name="TextBox 9"/>
          <p:cNvSpPr txBox="1"/>
          <p:nvPr/>
        </p:nvSpPr>
        <p:spPr>
          <a:xfrm>
            <a:off x="1554480" y="1645920"/>
            <a:ext cx="10085832" cy="685800"/>
          </a:xfrm>
          <a:prstGeom prst="rect">
            <a:avLst/>
          </a:prstGeom>
          <a:noFill/>
        </p:spPr>
        <p:txBody>
          <a:bodyPr wrap="square" lIns="0" tIns="0" rIns="0" bIns="0" anchor="ctr"/>
          <a:lstStyle/>
          <a:p>
            <a:pPr algn="l">
              <a:spcAft>
                <a:spcPts val="600"/>
              </a:spcAft>
            </a:pPr>
            <a:r>
              <a:rPr sz="2200" b="1">
                <a:solidFill>
                  <a:srgbClr val="1F2933"/>
                </a:solidFill>
                <a:latin typeface="Arial"/>
              </a:rPr>
              <a:t>Người kéo thẻ tự kiểm tra</a:t>
            </a:r>
            <a:r>
              <a:rPr sz="2200" b="0">
                <a:solidFill>
                  <a:srgbClr val="1F2933"/>
                </a:solidFill>
                <a:latin typeface="Arial"/>
              </a:rPr>
              <a:t>: điều kiện vào cột trước khi chuyển</a:t>
            </a:r>
          </a:p>
        </p:txBody>
      </p:sp>
      <p:sp>
        <p:nvSpPr>
          <p:cNvPr id="11" name="Oval 10"/>
          <p:cNvSpPr/>
          <p:nvPr/>
        </p:nvSpPr>
        <p:spPr>
          <a:xfrm>
            <a:off x="548640" y="2542032"/>
            <a:ext cx="685800" cy="685800"/>
          </a:xfrm>
          <a:prstGeom prst="ellipse">
            <a:avLst/>
          </a:prstGeom>
          <a:solidFill>
            <a:srgbClr val="0E7C86"/>
          </a:solidFill>
          <a:ln>
            <a:noFill/>
          </a:ln>
          <a:effectLst/>
        </p:spPr>
        <p:txBody>
          <a:bodyPr rtlCol="0" anchor="ctr" wrap="square" lIns="0" tIns="0" rIns="0" bIns="0"/>
          <a:lstStyle/>
          <a:p>
            <a:pPr algn="ctr">
              <a:spcAft>
                <a:spcPts val="600"/>
              </a:spcAft>
            </a:pPr>
            <a:r>
              <a:rPr sz="2200" b="1">
                <a:solidFill>
                  <a:srgbClr val="FFFFFF"/>
                </a:solidFill>
                <a:latin typeface="Arial"/>
              </a:rPr>
              <a:t>2</a:t>
            </a:r>
          </a:p>
        </p:txBody>
      </p:sp>
      <p:sp>
        <p:nvSpPr>
          <p:cNvPr id="12" name="TextBox 11"/>
          <p:cNvSpPr txBox="1"/>
          <p:nvPr/>
        </p:nvSpPr>
        <p:spPr>
          <a:xfrm>
            <a:off x="1554480" y="2542032"/>
            <a:ext cx="10085832" cy="685800"/>
          </a:xfrm>
          <a:prstGeom prst="rect">
            <a:avLst/>
          </a:prstGeom>
          <a:noFill/>
        </p:spPr>
        <p:txBody>
          <a:bodyPr wrap="square" lIns="0" tIns="0" rIns="0" bIns="0" anchor="ctr"/>
          <a:lstStyle/>
          <a:p>
            <a:pPr algn="l">
              <a:spcAft>
                <a:spcPts val="600"/>
              </a:spcAft>
            </a:pPr>
            <a:r>
              <a:rPr sz="2200" b="1">
                <a:solidFill>
                  <a:srgbClr val="1F2933"/>
                </a:solidFill>
                <a:latin typeface="Arial"/>
              </a:rPr>
              <a:t>Kéo, không đẩy</a:t>
            </a:r>
            <a:r>
              <a:rPr sz="2200" b="0">
                <a:solidFill>
                  <a:srgbClr val="1F2933"/>
                </a:solidFill>
                <a:latin typeface="Arial"/>
              </a:rPr>
              <a:t>: cột sau chủ động kéo khi có năng lực</a:t>
            </a:r>
          </a:p>
        </p:txBody>
      </p:sp>
      <p:sp>
        <p:nvSpPr>
          <p:cNvPr id="13" name="Oval 12"/>
          <p:cNvSpPr/>
          <p:nvPr/>
        </p:nvSpPr>
        <p:spPr>
          <a:xfrm>
            <a:off x="548640" y="3438144"/>
            <a:ext cx="685800" cy="685800"/>
          </a:xfrm>
          <a:prstGeom prst="ellipse">
            <a:avLst/>
          </a:prstGeom>
          <a:solidFill>
            <a:srgbClr val="0E7C86"/>
          </a:solidFill>
          <a:ln>
            <a:noFill/>
          </a:ln>
          <a:effectLst/>
        </p:spPr>
        <p:txBody>
          <a:bodyPr rtlCol="0" anchor="ctr" wrap="square" lIns="0" tIns="0" rIns="0" bIns="0"/>
          <a:lstStyle/>
          <a:p>
            <a:pPr algn="ctr">
              <a:spcAft>
                <a:spcPts val="600"/>
              </a:spcAft>
            </a:pPr>
            <a:r>
              <a:rPr sz="2200" b="1">
                <a:solidFill>
                  <a:srgbClr val="FFFFFF"/>
                </a:solidFill>
                <a:latin typeface="Arial"/>
              </a:rPr>
              <a:t>3</a:t>
            </a:r>
          </a:p>
        </p:txBody>
      </p:sp>
      <p:sp>
        <p:nvSpPr>
          <p:cNvPr id="14" name="TextBox 13"/>
          <p:cNvSpPr txBox="1"/>
          <p:nvPr/>
        </p:nvSpPr>
        <p:spPr>
          <a:xfrm>
            <a:off x="1554480" y="3438144"/>
            <a:ext cx="10085832" cy="685800"/>
          </a:xfrm>
          <a:prstGeom prst="rect">
            <a:avLst/>
          </a:prstGeom>
          <a:noFill/>
        </p:spPr>
        <p:txBody>
          <a:bodyPr wrap="square" lIns="0" tIns="0" rIns="0" bIns="0" anchor="ctr"/>
          <a:lstStyle/>
          <a:p>
            <a:pPr algn="l">
              <a:spcAft>
                <a:spcPts val="600"/>
              </a:spcAft>
            </a:pPr>
            <a:r>
              <a:rPr sz="2200" b="1">
                <a:solidFill>
                  <a:srgbClr val="1F2933"/>
                </a:solidFill>
                <a:latin typeface="Arial"/>
              </a:rPr>
              <a:t>Chuyển ngược phải ghi lý do</a:t>
            </a:r>
            <a:r>
              <a:rPr sz="2200" b="0">
                <a:solidFill>
                  <a:srgbClr val="1F2933"/>
                </a:solidFill>
                <a:latin typeface="Arial"/>
              </a:rPr>
              <a:t>: ngay trên thẻ</a:t>
            </a:r>
          </a:p>
        </p:txBody>
      </p:sp>
      <p:sp>
        <p:nvSpPr>
          <p:cNvPr id="15" name="Oval 14"/>
          <p:cNvSpPr/>
          <p:nvPr/>
        </p:nvSpPr>
        <p:spPr>
          <a:xfrm>
            <a:off x="548640" y="4334256"/>
            <a:ext cx="685800" cy="685800"/>
          </a:xfrm>
          <a:prstGeom prst="ellipse">
            <a:avLst/>
          </a:prstGeom>
          <a:solidFill>
            <a:srgbClr val="0E7C86"/>
          </a:solidFill>
          <a:ln>
            <a:noFill/>
          </a:ln>
          <a:effectLst/>
        </p:spPr>
        <p:txBody>
          <a:bodyPr rtlCol="0" anchor="ctr" wrap="square" lIns="0" tIns="0" rIns="0" bIns="0"/>
          <a:lstStyle/>
          <a:p>
            <a:pPr algn="ctr">
              <a:spcAft>
                <a:spcPts val="600"/>
              </a:spcAft>
            </a:pPr>
            <a:r>
              <a:rPr sz="2200" b="1">
                <a:solidFill>
                  <a:srgbClr val="FFFFFF"/>
                </a:solidFill>
                <a:latin typeface="Arial"/>
              </a:rPr>
              <a:t>4</a:t>
            </a:r>
          </a:p>
        </p:txBody>
      </p:sp>
      <p:sp>
        <p:nvSpPr>
          <p:cNvPr id="16" name="TextBox 15"/>
          <p:cNvSpPr txBox="1"/>
          <p:nvPr/>
        </p:nvSpPr>
        <p:spPr>
          <a:xfrm>
            <a:off x="1554480" y="4334256"/>
            <a:ext cx="10085832" cy="685800"/>
          </a:xfrm>
          <a:prstGeom prst="rect">
            <a:avLst/>
          </a:prstGeom>
          <a:noFill/>
        </p:spPr>
        <p:txBody>
          <a:bodyPr wrap="square" lIns="0" tIns="0" rIns="0" bIns="0" anchor="ctr"/>
          <a:lstStyle/>
          <a:p>
            <a:pPr algn="l">
              <a:spcAft>
                <a:spcPts val="600"/>
              </a:spcAft>
            </a:pPr>
            <a:r>
              <a:rPr sz="2200" b="1">
                <a:solidFill>
                  <a:srgbClr val="1F2933"/>
                </a:solidFill>
                <a:latin typeface="Arial"/>
              </a:rPr>
              <a:t>Đi tuần tự theo thứ tự cột</a:t>
            </a:r>
            <a:r>
              <a:rPr sz="2200" b="0">
                <a:solidFill>
                  <a:srgbClr val="1F2933"/>
                </a:solidFill>
                <a:latin typeface="Arial"/>
              </a:rPr>
              <a:t>: bỏ qua cột chỉ khi có lý do ghi trên thẻ</a:t>
            </a:r>
          </a:p>
        </p:txBody>
      </p:sp>
      <p:sp>
        <p:nvSpPr>
          <p:cNvPr id="17" name="Oval 16"/>
          <p:cNvSpPr/>
          <p:nvPr/>
        </p:nvSpPr>
        <p:spPr>
          <a:xfrm>
            <a:off x="548640" y="5230368"/>
            <a:ext cx="685800" cy="685800"/>
          </a:xfrm>
          <a:prstGeom prst="ellipse">
            <a:avLst/>
          </a:prstGeom>
          <a:solidFill>
            <a:srgbClr val="0E7C86"/>
          </a:solidFill>
          <a:ln>
            <a:noFill/>
          </a:ln>
          <a:effectLst/>
        </p:spPr>
        <p:txBody>
          <a:bodyPr rtlCol="0" anchor="ctr" wrap="square" lIns="0" tIns="0" rIns="0" bIns="0"/>
          <a:lstStyle/>
          <a:p>
            <a:pPr algn="ctr">
              <a:spcAft>
                <a:spcPts val="600"/>
              </a:spcAft>
            </a:pPr>
            <a:r>
              <a:rPr sz="2200" b="1">
                <a:solidFill>
                  <a:srgbClr val="FFFFFF"/>
                </a:solidFill>
                <a:latin typeface="Arial"/>
              </a:rPr>
              <a:t>5</a:t>
            </a:r>
          </a:p>
        </p:txBody>
      </p:sp>
      <p:sp>
        <p:nvSpPr>
          <p:cNvPr id="18" name="TextBox 17"/>
          <p:cNvSpPr txBox="1"/>
          <p:nvPr/>
        </p:nvSpPr>
        <p:spPr>
          <a:xfrm>
            <a:off x="1554480" y="5230368"/>
            <a:ext cx="10085832" cy="685800"/>
          </a:xfrm>
          <a:prstGeom prst="rect">
            <a:avLst/>
          </a:prstGeom>
          <a:noFill/>
        </p:spPr>
        <p:txBody>
          <a:bodyPr wrap="square" lIns="0" tIns="0" rIns="0" bIns="0" anchor="ctr"/>
          <a:lstStyle/>
          <a:p>
            <a:pPr algn="l">
              <a:spcAft>
                <a:spcPts val="600"/>
              </a:spcAft>
            </a:pPr>
            <a:r>
              <a:rPr sz="2200" b="1">
                <a:solidFill>
                  <a:srgbClr val="1F2933"/>
                </a:solidFill>
                <a:latin typeface="Arial"/>
              </a:rPr>
              <a:t>Cập nhật board ngay</a:t>
            </a:r>
            <a:r>
              <a:rPr sz="2200" b="0">
                <a:solidFill>
                  <a:srgbClr val="1F2933"/>
                </a:solidFill>
                <a:latin typeface="Arial"/>
              </a:rPr>
              <a:t>: không chờ đến Daily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3 · QUY ĐỊNH CHUYỂN THẺ</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Definition of Ready</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0E7C86"/>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D5DBE3"/>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11 / 21</a:t>
            </a:r>
          </a:p>
        </p:txBody>
      </p:sp>
      <p:sp>
        <p:nvSpPr>
          <p:cNvPr id="9" name="Rectangle 8"/>
          <p:cNvSpPr/>
          <p:nvPr/>
        </p:nvSpPr>
        <p:spPr>
          <a:xfrm>
            <a:off x="548640" y="1764792"/>
            <a:ext cx="310896" cy="310896"/>
          </a:xfrm>
          <a:prstGeom prst="rect">
            <a:avLst/>
          </a:prstGeom>
          <a:noFill/>
          <a:ln w="25400">
            <a:solidFill>
              <a:srgbClr val="0E7C86"/>
            </a:solidFill>
          </a:ln>
          <a:effectLst/>
        </p:spPr>
        <p:txBody>
          <a:bodyPr rtlCol="0" anchor="ctr"/>
          <a:lstStyle/>
          <a:p>
            <a:pPr algn="ctr"/>
          </a:p>
        </p:txBody>
      </p:sp>
      <p:sp>
        <p:nvSpPr>
          <p:cNvPr id="10" name="TextBox 9"/>
          <p:cNvSpPr txBox="1"/>
          <p:nvPr/>
        </p:nvSpPr>
        <p:spPr>
          <a:xfrm>
            <a:off x="1097280" y="1691640"/>
            <a:ext cx="6309360" cy="502920"/>
          </a:xfrm>
          <a:prstGeom prst="rect">
            <a:avLst/>
          </a:prstGeom>
          <a:noFill/>
        </p:spPr>
        <p:txBody>
          <a:bodyPr wrap="square" lIns="0" tIns="0" rIns="0" bIns="0" anchor="ctr"/>
          <a:lstStyle/>
          <a:p>
            <a:pPr algn="l">
              <a:spcAft>
                <a:spcPts val="600"/>
              </a:spcAft>
            </a:pPr>
            <a:r>
              <a:rPr sz="2000" b="0">
                <a:solidFill>
                  <a:srgbClr val="1F2933"/>
                </a:solidFill>
                <a:latin typeface="Arial"/>
              </a:rPr>
              <a:t>Mô tả rõ, cả nhóm hiểu giá trị và mục tiêu</a:t>
            </a:r>
          </a:p>
        </p:txBody>
      </p:sp>
      <p:sp>
        <p:nvSpPr>
          <p:cNvPr id="11" name="Rectangle 10"/>
          <p:cNvSpPr/>
          <p:nvPr/>
        </p:nvSpPr>
        <p:spPr>
          <a:xfrm>
            <a:off x="548640" y="2404872"/>
            <a:ext cx="310896" cy="310896"/>
          </a:xfrm>
          <a:prstGeom prst="rect">
            <a:avLst/>
          </a:prstGeom>
          <a:noFill/>
          <a:ln w="25400">
            <a:solidFill>
              <a:srgbClr val="0E7C86"/>
            </a:solidFill>
          </a:ln>
          <a:effectLst/>
        </p:spPr>
        <p:txBody>
          <a:bodyPr rtlCol="0" anchor="ctr"/>
          <a:lstStyle/>
          <a:p>
            <a:pPr algn="ctr"/>
          </a:p>
        </p:txBody>
      </p:sp>
      <p:sp>
        <p:nvSpPr>
          <p:cNvPr id="12" name="TextBox 11"/>
          <p:cNvSpPr txBox="1"/>
          <p:nvPr/>
        </p:nvSpPr>
        <p:spPr>
          <a:xfrm>
            <a:off x="1097280" y="2331720"/>
            <a:ext cx="6309360" cy="502920"/>
          </a:xfrm>
          <a:prstGeom prst="rect">
            <a:avLst/>
          </a:prstGeom>
          <a:noFill/>
        </p:spPr>
        <p:txBody>
          <a:bodyPr wrap="square" lIns="0" tIns="0" rIns="0" bIns="0" anchor="ctr"/>
          <a:lstStyle/>
          <a:p>
            <a:pPr algn="l">
              <a:spcAft>
                <a:spcPts val="600"/>
              </a:spcAft>
            </a:pPr>
            <a:r>
              <a:rPr sz="2000" b="0">
                <a:solidFill>
                  <a:srgbClr val="1F2933"/>
                </a:solidFill>
                <a:latin typeface="Arial"/>
              </a:rPr>
              <a:t>Có tiêu chí chấp nhận cụ thể, kiểm chứng được</a:t>
            </a:r>
          </a:p>
        </p:txBody>
      </p:sp>
      <p:sp>
        <p:nvSpPr>
          <p:cNvPr id="13" name="Rectangle 12"/>
          <p:cNvSpPr/>
          <p:nvPr/>
        </p:nvSpPr>
        <p:spPr>
          <a:xfrm>
            <a:off x="548640" y="3044952"/>
            <a:ext cx="310896" cy="310896"/>
          </a:xfrm>
          <a:prstGeom prst="rect">
            <a:avLst/>
          </a:prstGeom>
          <a:noFill/>
          <a:ln w="25400">
            <a:solidFill>
              <a:srgbClr val="0E7C86"/>
            </a:solidFill>
          </a:ln>
          <a:effectLst/>
        </p:spPr>
        <p:txBody>
          <a:bodyPr rtlCol="0" anchor="ctr"/>
          <a:lstStyle/>
          <a:p>
            <a:pPr algn="ctr"/>
          </a:p>
        </p:txBody>
      </p:sp>
      <p:sp>
        <p:nvSpPr>
          <p:cNvPr id="14" name="TextBox 13"/>
          <p:cNvSpPr txBox="1"/>
          <p:nvPr/>
        </p:nvSpPr>
        <p:spPr>
          <a:xfrm>
            <a:off x="1097280" y="2971800"/>
            <a:ext cx="6309360" cy="502920"/>
          </a:xfrm>
          <a:prstGeom prst="rect">
            <a:avLst/>
          </a:prstGeom>
          <a:noFill/>
        </p:spPr>
        <p:txBody>
          <a:bodyPr wrap="square" lIns="0" tIns="0" rIns="0" bIns="0" anchor="ctr"/>
          <a:lstStyle/>
          <a:p>
            <a:pPr algn="l">
              <a:spcAft>
                <a:spcPts val="600"/>
              </a:spcAft>
            </a:pPr>
            <a:r>
              <a:rPr sz="2000" b="0">
                <a:solidFill>
                  <a:srgbClr val="1F2933"/>
                </a:solidFill>
                <a:latin typeface="Arial"/>
              </a:rPr>
              <a:t>Đã được cả nhóm ước lượng</a:t>
            </a:r>
          </a:p>
        </p:txBody>
      </p:sp>
      <p:sp>
        <p:nvSpPr>
          <p:cNvPr id="15" name="Rectangle 14"/>
          <p:cNvSpPr/>
          <p:nvPr/>
        </p:nvSpPr>
        <p:spPr>
          <a:xfrm>
            <a:off x="548640" y="3685031"/>
            <a:ext cx="310896" cy="310896"/>
          </a:xfrm>
          <a:prstGeom prst="rect">
            <a:avLst/>
          </a:prstGeom>
          <a:noFill/>
          <a:ln w="25400">
            <a:solidFill>
              <a:srgbClr val="0E7C86"/>
            </a:solidFill>
          </a:ln>
          <a:effectLst/>
        </p:spPr>
        <p:txBody>
          <a:bodyPr rtlCol="0" anchor="ctr"/>
          <a:lstStyle/>
          <a:p>
            <a:pPr algn="ctr"/>
          </a:p>
        </p:txBody>
      </p:sp>
      <p:sp>
        <p:nvSpPr>
          <p:cNvPr id="16" name="TextBox 15"/>
          <p:cNvSpPr txBox="1"/>
          <p:nvPr/>
        </p:nvSpPr>
        <p:spPr>
          <a:xfrm>
            <a:off x="1097280" y="3611879"/>
            <a:ext cx="6309360" cy="502920"/>
          </a:xfrm>
          <a:prstGeom prst="rect">
            <a:avLst/>
          </a:prstGeom>
          <a:noFill/>
        </p:spPr>
        <p:txBody>
          <a:bodyPr wrap="square" lIns="0" tIns="0" rIns="0" bIns="0" anchor="ctr"/>
          <a:lstStyle/>
          <a:p>
            <a:pPr algn="l">
              <a:spcAft>
                <a:spcPts val="600"/>
              </a:spcAft>
            </a:pPr>
            <a:r>
              <a:rPr sz="2000" b="0">
                <a:solidFill>
                  <a:srgbClr val="1F2933"/>
                </a:solidFill>
                <a:latin typeface="Arial"/>
              </a:rPr>
              <a:t>Đủ nhỏ để xong trong một sprint</a:t>
            </a:r>
          </a:p>
        </p:txBody>
      </p:sp>
      <p:sp>
        <p:nvSpPr>
          <p:cNvPr id="17" name="Rectangle 16"/>
          <p:cNvSpPr/>
          <p:nvPr/>
        </p:nvSpPr>
        <p:spPr>
          <a:xfrm>
            <a:off x="548640" y="4325112"/>
            <a:ext cx="310896" cy="310896"/>
          </a:xfrm>
          <a:prstGeom prst="rect">
            <a:avLst/>
          </a:prstGeom>
          <a:noFill/>
          <a:ln w="25400">
            <a:solidFill>
              <a:srgbClr val="0E7C86"/>
            </a:solidFill>
          </a:ln>
          <a:effectLst/>
        </p:spPr>
        <p:txBody>
          <a:bodyPr rtlCol="0" anchor="ctr"/>
          <a:lstStyle/>
          <a:p>
            <a:pPr algn="ctr"/>
          </a:p>
        </p:txBody>
      </p:sp>
      <p:sp>
        <p:nvSpPr>
          <p:cNvPr id="18" name="TextBox 17"/>
          <p:cNvSpPr txBox="1"/>
          <p:nvPr/>
        </p:nvSpPr>
        <p:spPr>
          <a:xfrm>
            <a:off x="1097280" y="4251960"/>
            <a:ext cx="6309360" cy="502920"/>
          </a:xfrm>
          <a:prstGeom prst="rect">
            <a:avLst/>
          </a:prstGeom>
          <a:noFill/>
        </p:spPr>
        <p:txBody>
          <a:bodyPr wrap="square" lIns="0" tIns="0" rIns="0" bIns="0" anchor="ctr"/>
          <a:lstStyle/>
          <a:p>
            <a:pPr algn="l">
              <a:spcAft>
                <a:spcPts val="600"/>
              </a:spcAft>
            </a:pPr>
            <a:r>
              <a:rPr sz="2000" b="0">
                <a:solidFill>
                  <a:srgbClr val="1F2933"/>
                </a:solidFill>
                <a:latin typeface="Arial"/>
              </a:rPr>
              <a:t>Phụ thuộc đã biết, không chặn việc bắt đầu</a:t>
            </a:r>
          </a:p>
        </p:txBody>
      </p:sp>
      <p:sp>
        <p:nvSpPr>
          <p:cNvPr id="19" name="Rectangle 18"/>
          <p:cNvSpPr/>
          <p:nvPr/>
        </p:nvSpPr>
        <p:spPr>
          <a:xfrm>
            <a:off x="548640" y="4965192"/>
            <a:ext cx="310896" cy="310896"/>
          </a:xfrm>
          <a:prstGeom prst="rect">
            <a:avLst/>
          </a:prstGeom>
          <a:noFill/>
          <a:ln w="25400">
            <a:solidFill>
              <a:srgbClr val="0E7C86"/>
            </a:solidFill>
          </a:ln>
          <a:effectLst/>
        </p:spPr>
        <p:txBody>
          <a:bodyPr rtlCol="0" anchor="ctr"/>
          <a:lstStyle/>
          <a:p>
            <a:pPr algn="ctr"/>
          </a:p>
        </p:txBody>
      </p:sp>
      <p:sp>
        <p:nvSpPr>
          <p:cNvPr id="20" name="TextBox 19"/>
          <p:cNvSpPr txBox="1"/>
          <p:nvPr/>
        </p:nvSpPr>
        <p:spPr>
          <a:xfrm>
            <a:off x="1097280" y="4892040"/>
            <a:ext cx="6309360" cy="502920"/>
          </a:xfrm>
          <a:prstGeom prst="rect">
            <a:avLst/>
          </a:prstGeom>
          <a:noFill/>
        </p:spPr>
        <p:txBody>
          <a:bodyPr wrap="square" lIns="0" tIns="0" rIns="0" bIns="0" anchor="ctr"/>
          <a:lstStyle/>
          <a:p>
            <a:pPr algn="l">
              <a:spcAft>
                <a:spcPts val="600"/>
              </a:spcAft>
            </a:pPr>
            <a:r>
              <a:rPr sz="2000" b="0">
                <a:solidFill>
                  <a:srgbClr val="1F2933"/>
                </a:solidFill>
                <a:latin typeface="Arial"/>
              </a:rPr>
              <a:t>Trưởng nhóm đã xác nhận mức ưu tiên</a:t>
            </a:r>
          </a:p>
        </p:txBody>
      </p:sp>
      <p:sp>
        <p:nvSpPr>
          <p:cNvPr id="21" name="Rectangle 20"/>
          <p:cNvSpPr/>
          <p:nvPr/>
        </p:nvSpPr>
        <p:spPr>
          <a:xfrm>
            <a:off x="548640" y="5605271"/>
            <a:ext cx="310896" cy="310896"/>
          </a:xfrm>
          <a:prstGeom prst="rect">
            <a:avLst/>
          </a:prstGeom>
          <a:noFill/>
          <a:ln w="25400">
            <a:solidFill>
              <a:srgbClr val="0E7C86"/>
            </a:solidFill>
          </a:ln>
          <a:effectLst/>
        </p:spPr>
        <p:txBody>
          <a:bodyPr rtlCol="0" anchor="ctr"/>
          <a:lstStyle/>
          <a:p>
            <a:pPr algn="ctr"/>
          </a:p>
        </p:txBody>
      </p:sp>
      <p:sp>
        <p:nvSpPr>
          <p:cNvPr id="22" name="TextBox 21"/>
          <p:cNvSpPr txBox="1"/>
          <p:nvPr/>
        </p:nvSpPr>
        <p:spPr>
          <a:xfrm>
            <a:off x="1097280" y="5532119"/>
            <a:ext cx="6309360" cy="502920"/>
          </a:xfrm>
          <a:prstGeom prst="rect">
            <a:avLst/>
          </a:prstGeom>
          <a:noFill/>
        </p:spPr>
        <p:txBody>
          <a:bodyPr wrap="square" lIns="0" tIns="0" rIns="0" bIns="0" anchor="ctr"/>
          <a:lstStyle/>
          <a:p>
            <a:pPr algn="l">
              <a:spcAft>
                <a:spcPts val="600"/>
              </a:spcAft>
            </a:pPr>
            <a:r>
              <a:rPr sz="2000" b="0">
                <a:solidFill>
                  <a:srgbClr val="1F2933"/>
                </a:solidFill>
                <a:latin typeface="Arial"/>
              </a:rPr>
              <a:t>Có thiết kế hoặc tài liệu tham khảo nếu cần</a:t>
            </a:r>
          </a:p>
        </p:txBody>
      </p:sp>
      <p:sp>
        <p:nvSpPr>
          <p:cNvPr id="23" name="Rectangle 22"/>
          <p:cNvSpPr/>
          <p:nvPr/>
        </p:nvSpPr>
        <p:spPr>
          <a:xfrm>
            <a:off x="7772400" y="1691640"/>
            <a:ext cx="3867912" cy="3383280"/>
          </a:xfrm>
          <a:prstGeom prst="rect">
            <a:avLst/>
          </a:prstGeom>
          <a:solidFill>
            <a:srgbClr val="F3F6FA"/>
          </a:solidFill>
          <a:ln w="9525">
            <a:solidFill>
              <a:srgbClr val="D5DBE3"/>
            </a:solidFill>
          </a:ln>
          <a:effectLst/>
        </p:spPr>
        <p:txBody>
          <a:bodyPr rtlCol="0" anchor="ctr"/>
          <a:lstStyle/>
          <a:p>
            <a:pPr algn="ctr"/>
          </a:p>
        </p:txBody>
      </p:sp>
      <p:sp>
        <p:nvSpPr>
          <p:cNvPr id="24" name="TextBox 23"/>
          <p:cNvSpPr txBox="1"/>
          <p:nvPr/>
        </p:nvSpPr>
        <p:spPr>
          <a:xfrm>
            <a:off x="8046720" y="1874519"/>
            <a:ext cx="3383280" cy="3108960"/>
          </a:xfrm>
          <a:prstGeom prst="rect">
            <a:avLst/>
          </a:prstGeom>
          <a:noFill/>
        </p:spPr>
        <p:txBody>
          <a:bodyPr wrap="square" lIns="0" tIns="0" rIns="0" bIns="0" anchor="t"/>
          <a:lstStyle/>
          <a:p>
            <a:pPr algn="l">
              <a:spcAft>
                <a:spcPts val="1400"/>
              </a:spcAft>
            </a:pPr>
            <a:r>
              <a:rPr sz="2200" b="1">
                <a:solidFill>
                  <a:srgbClr val="1B2A41"/>
                </a:solidFill>
                <a:latin typeface="Arial"/>
              </a:rPr>
              <a:t>Chưa đạt DoR?</a:t>
            </a:r>
          </a:p>
          <a:p>
            <a:pPr algn="l">
              <a:spcAft>
                <a:spcPts val="1400"/>
              </a:spcAft>
            </a:pPr>
            <a:r>
              <a:rPr sz="1900" b="0">
                <a:solidFill>
                  <a:srgbClr val="1F2933"/>
                </a:solidFill>
                <a:latin typeface="Arial"/>
              </a:rPr>
              <a:t>Thẻ chưa vào Sprint Backlog.</a:t>
            </a:r>
          </a:p>
          <a:p>
            <a:pPr algn="l">
              <a:spcAft>
                <a:spcPts val="1400"/>
              </a:spcAft>
            </a:pPr>
            <a:r>
              <a:rPr sz="1900" b="0">
                <a:solidFill>
                  <a:srgbClr val="1F2933"/>
                </a:solidFill>
                <a:latin typeface="Arial"/>
              </a:rPr>
              <a:t>Thẻ lớn: </a:t>
            </a:r>
            <a:r>
              <a:rPr sz="1900" b="1">
                <a:solidFill>
                  <a:srgbClr val="1F2933"/>
                </a:solidFill>
                <a:latin typeface="Arial"/>
              </a:rPr>
              <a:t>tách nhỏ</a:t>
            </a:r>
            <a:r>
              <a:rPr sz="1900" b="0">
                <a:solidFill>
                  <a:srgbClr val="1F2933"/>
                </a:solidFill>
                <a:latin typeface="Arial"/>
              </a:rPr>
              <a:t>.</a:t>
            </a:r>
          </a:p>
          <a:p>
            <a:pPr algn="l">
              <a:spcAft>
                <a:spcPts val="600"/>
              </a:spcAft>
            </a:pPr>
            <a:r>
              <a:rPr sz="1900" b="0">
                <a:solidFill>
                  <a:srgbClr val="1F2933"/>
                </a:solidFill>
                <a:latin typeface="Arial"/>
              </a:rPr>
              <a:t>Thẻ chưa rõ: làm </a:t>
            </a:r>
            <a:r>
              <a:rPr sz="1900" b="1">
                <a:solidFill>
                  <a:srgbClr val="1F2933"/>
                </a:solidFill>
                <a:latin typeface="Arial"/>
              </a:rPr>
              <a:t>Spike</a:t>
            </a:r>
            <a:r>
              <a:rPr sz="1900" b="0">
                <a:solidFill>
                  <a:srgbClr val="1F2933"/>
                </a:solidFill>
                <a:latin typeface="Arial"/>
              </a:rPr>
              <a:t> có giới hạn thời gian trước.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3 · QUY ĐỊNH CHUYỂN THẺ</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Definition of Done theo từng cổng</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0E7C86"/>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D5DBE3"/>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12 / 21</a:t>
            </a:r>
          </a:p>
        </p:txBody>
      </p:sp>
      <p:graphicFrame>
        <p:nvGraphicFramePr>
          <p:cNvPr id="9" name="Table 8"/>
          <p:cNvGraphicFramePr>
            <a:graphicFrameLocks noGrp="1"/>
          </p:cNvGraphicFramePr>
          <p:nvPr/>
        </p:nvGraphicFramePr>
        <p:xfrm>
          <a:off x="548640" y="1600200"/>
          <a:ext cx="11091672" cy="4114800"/>
        </p:xfrm>
        <a:graphic>
          <a:graphicData uri="http://schemas.openxmlformats.org/drawingml/2006/table">
            <a:tbl>
              <a:tblPr firstRow="1" bandRow="1">
                <a:tableStyleId>{5C22544A-7EE6-4342-B048-85BDC9FD1C3A}</a:tableStyleId>
              </a:tblPr>
              <a:tblGrid>
                <a:gridCol w="2377440"/>
                <a:gridCol w="8714232"/>
              </a:tblGrid>
              <a:tr h="457200">
                <a:tc>
                  <a:txBody>
                    <a:bodyPr wrap="square"/>
                    <a:lstStyle/>
                    <a:p>
                      <a:r>
                        <a:rPr sz="1400" b="1">
                          <a:solidFill>
                            <a:srgbClr val="FFFFFF"/>
                          </a:solidFill>
                          <a:latin typeface="Arial"/>
                        </a:rPr>
                        <a:t>Chuyển sang</a:t>
                      </a:r>
                    </a:p>
                  </a:txBody>
                  <a:tcPr marL="128016" marR="128016" marT="54864" marB="54864" anchor="ctr">
                    <a:solidFill>
                      <a:srgbClr val="1B2A41"/>
                    </a:solidFill>
                  </a:tcPr>
                </a:tc>
                <a:tc>
                  <a:txBody>
                    <a:bodyPr wrap="square"/>
                    <a:lstStyle/>
                    <a:p>
                      <a:r>
                        <a:rPr sz="1400" b="1">
                          <a:solidFill>
                            <a:srgbClr val="FFFFFF"/>
                          </a:solidFill>
                          <a:latin typeface="Arial"/>
                        </a:rPr>
                        <a:t>Điều kiện chính</a:t>
                      </a:r>
                    </a:p>
                  </a:txBody>
                  <a:tcPr marL="128016" marR="128016" marT="54864" marB="54864" anchor="ctr">
                    <a:solidFill>
                      <a:srgbClr val="1B2A41"/>
                    </a:solidFill>
                  </a:tcPr>
                </a:tc>
              </a:tr>
              <a:tr h="731520">
                <a:tc>
                  <a:txBody>
                    <a:bodyPr wrap="square"/>
                    <a:lstStyle/>
                    <a:p>
                      <a:r>
                        <a:rPr sz="1600" b="1">
                          <a:solidFill>
                            <a:srgbClr val="1F2933"/>
                          </a:solidFill>
                          <a:latin typeface="Arial"/>
                        </a:rPr>
                        <a:t>Ready to Review</a:t>
                      </a:r>
                    </a:p>
                  </a:txBody>
                  <a:tcPr marL="128016" marR="128016" marT="54864" marB="54864" anchor="ctr">
                    <a:solidFill>
                      <a:srgbClr val="FFFFFF"/>
                    </a:solidFill>
                  </a:tcPr>
                </a:tc>
                <a:tc>
                  <a:txBody>
                    <a:bodyPr wrap="square"/>
                    <a:lstStyle/>
                    <a:p>
                      <a:r>
                        <a:rPr sz="1600" b="0">
                          <a:solidFill>
                            <a:srgbClr val="1F2933"/>
                          </a:solidFill>
                          <a:latin typeface="Arial"/>
                        </a:rPr>
                        <a:t>Code xong theo tiêu chí · tự chạy được · unit test đạt · không lỗi lint/build · đã mở PR gắn vào thẻ</a:t>
                      </a:r>
                    </a:p>
                  </a:txBody>
                  <a:tcPr marL="128016" marR="128016" marT="54864" marB="54864" anchor="ctr">
                    <a:solidFill>
                      <a:srgbClr val="FFFFFF"/>
                    </a:solidFill>
                  </a:tcPr>
                </a:tc>
              </a:tr>
              <a:tr h="731520">
                <a:tc>
                  <a:txBody>
                    <a:bodyPr wrap="square"/>
                    <a:lstStyle/>
                    <a:p>
                      <a:r>
                        <a:rPr sz="1600" b="1">
                          <a:solidFill>
                            <a:srgbClr val="1F2933"/>
                          </a:solidFill>
                          <a:latin typeface="Arial"/>
                        </a:rPr>
                        <a:t>Ready to Test</a:t>
                      </a:r>
                    </a:p>
                  </a:txBody>
                  <a:tcPr marL="128016" marR="128016" marT="54864" marB="54864" anchor="ctr">
                    <a:solidFill>
                      <a:srgbClr val="F3F6FA"/>
                    </a:solidFill>
                  </a:tcPr>
                </a:tc>
                <a:tc>
                  <a:txBody>
                    <a:bodyPr wrap="square"/>
                    <a:lstStyle/>
                    <a:p>
                      <a:r>
                        <a:rPr sz="1600" b="0">
                          <a:solidFill>
                            <a:srgbClr val="1F2933"/>
                          </a:solidFill>
                          <a:latin typeface="Arial"/>
                        </a:rPr>
                        <a:t>Review đã duyệt, góp ý đã xử lý · đã merge · CI xanh · đã deploy lên môi trường test</a:t>
                      </a:r>
                    </a:p>
                  </a:txBody>
                  <a:tcPr marL="128016" marR="128016" marT="54864" marB="54864" anchor="ctr">
                    <a:solidFill>
                      <a:srgbClr val="F3F6FA"/>
                    </a:solidFill>
                  </a:tcPr>
                </a:tc>
              </a:tr>
              <a:tr h="731520">
                <a:tc>
                  <a:txBody>
                    <a:bodyPr wrap="square"/>
                    <a:lstStyle/>
                    <a:p>
                      <a:r>
                        <a:rPr sz="1600" b="1">
                          <a:solidFill>
                            <a:srgbClr val="1F2933"/>
                          </a:solidFill>
                          <a:latin typeface="Arial"/>
                        </a:rPr>
                        <a:t>Ready to Release</a:t>
                      </a:r>
                    </a:p>
                  </a:txBody>
                  <a:tcPr marL="128016" marR="128016" marT="54864" marB="54864" anchor="ctr">
                    <a:solidFill>
                      <a:srgbClr val="FFFFFF"/>
                    </a:solidFill>
                  </a:tcPr>
                </a:tc>
                <a:tc>
                  <a:txBody>
                    <a:bodyPr wrap="square"/>
                    <a:lstStyle/>
                    <a:p>
                      <a:r>
                        <a:rPr sz="1600" b="0">
                          <a:solidFill>
                            <a:srgbClr val="1F2933"/>
                          </a:solidFill>
                          <a:latin typeface="Arial"/>
                        </a:rPr>
                        <a:t>Đạt mọi tiêu chí chấp nhận · không còn bug nghiêm trọng · hồi quy đạt · changelog cập nhật · Tester nghiệm thu</a:t>
                      </a:r>
                    </a:p>
                  </a:txBody>
                  <a:tcPr marL="128016" marR="128016" marT="54864" marB="54864" anchor="ctr">
                    <a:solidFill>
                      <a:srgbClr val="FFFFFF"/>
                    </a:solidFill>
                  </a:tcPr>
                </a:tc>
              </a:tr>
              <a:tr h="731520">
                <a:tc>
                  <a:txBody>
                    <a:bodyPr wrap="square"/>
                    <a:lstStyle/>
                    <a:p>
                      <a:r>
                        <a:rPr sz="1600" b="1">
                          <a:solidFill>
                            <a:srgbClr val="1F2933"/>
                          </a:solidFill>
                          <a:latin typeface="Arial"/>
                        </a:rPr>
                        <a:t>Released</a:t>
                      </a:r>
                    </a:p>
                  </a:txBody>
                  <a:tcPr marL="128016" marR="128016" marT="54864" marB="54864" anchor="ctr">
                    <a:solidFill>
                      <a:srgbClr val="F3F6FA"/>
                    </a:solidFill>
                  </a:tcPr>
                </a:tc>
                <a:tc>
                  <a:txBody>
                    <a:bodyPr wrap="square"/>
                    <a:lstStyle/>
                    <a:p>
                      <a:r>
                        <a:rPr sz="1600" b="0">
                          <a:solidFill>
                            <a:srgbClr val="1F2933"/>
                          </a:solidFill>
                          <a:latin typeface="Arial"/>
                        </a:rPr>
                        <a:t>Deploy thành công · smoke test đạt · không cảnh báo bất thường · đã báo các bên liên quan</a:t>
                      </a:r>
                    </a:p>
                  </a:txBody>
                  <a:tcPr marL="128016" marR="128016" marT="54864" marB="54864" anchor="ctr">
                    <a:solidFill>
                      <a:srgbClr val="F3F6FA"/>
                    </a:solidFill>
                  </a:tcPr>
                </a:tc>
              </a:tr>
              <a:tr h="731520">
                <a:tc>
                  <a:txBody>
                    <a:bodyPr wrap="square"/>
                    <a:lstStyle/>
                    <a:p>
                      <a:r>
                        <a:rPr sz="1600" b="1">
                          <a:solidFill>
                            <a:srgbClr val="1F2933"/>
                          </a:solidFill>
                          <a:latin typeface="Arial"/>
                        </a:rPr>
                        <a:t>Closed</a:t>
                      </a:r>
                    </a:p>
                  </a:txBody>
                  <a:tcPr marL="128016" marR="128016" marT="54864" marB="54864" anchor="ctr">
                    <a:solidFill>
                      <a:srgbClr val="FFFFFF"/>
                    </a:solidFill>
                  </a:tcPr>
                </a:tc>
                <a:tc>
                  <a:txBody>
                    <a:bodyPr wrap="square"/>
                    <a:lstStyle/>
                    <a:p>
                      <a:r>
                        <a:rPr sz="1600" b="0">
                          <a:solidFill>
                            <a:srgbClr val="1F2933"/>
                          </a:solidFill>
                          <a:latin typeface="Arial"/>
                        </a:rPr>
                        <a:t>Hết thời gian theo dõi · Trưởng nhóm xác nhận đạt mục tiêu (hoặc ghi lý do nếu không làm)</a:t>
                      </a:r>
                    </a:p>
                  </a:txBody>
                  <a:tcPr marL="128016" marR="128016" marT="54864" marB="54864"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3 · QUY ĐỊNH CHUYỂN THẺ</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Luồng ngược và ngoại lệ</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0E7C86"/>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D5DBE3"/>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13 / 21</a:t>
            </a:r>
          </a:p>
        </p:txBody>
      </p:sp>
      <p:sp>
        <p:nvSpPr>
          <p:cNvPr id="9" name="Rectangle 8"/>
          <p:cNvSpPr/>
          <p:nvPr/>
        </p:nvSpPr>
        <p:spPr>
          <a:xfrm>
            <a:off x="548640" y="1645920"/>
            <a:ext cx="3538728" cy="2103120"/>
          </a:xfrm>
          <a:prstGeom prst="rect">
            <a:avLst/>
          </a:prstGeom>
          <a:solidFill>
            <a:srgbClr val="F3F6FA"/>
          </a:solidFill>
          <a:ln w="9525">
            <a:solidFill>
              <a:srgbClr val="D5DBE3"/>
            </a:solidFill>
          </a:ln>
          <a:effectLst/>
        </p:spPr>
        <p:txBody>
          <a:bodyPr rtlCol="0" anchor="ctr"/>
          <a:lstStyle/>
          <a:p>
            <a:pPr algn="ctr"/>
          </a:p>
        </p:txBody>
      </p:sp>
      <p:sp>
        <p:nvSpPr>
          <p:cNvPr id="10" name="Rectangle 9"/>
          <p:cNvSpPr/>
          <p:nvPr/>
        </p:nvSpPr>
        <p:spPr>
          <a:xfrm>
            <a:off x="548640" y="1645920"/>
            <a:ext cx="82296" cy="2103120"/>
          </a:xfrm>
          <a:prstGeom prst="rect">
            <a:avLst/>
          </a:prstGeom>
          <a:solidFill>
            <a:srgbClr val="0E7C86"/>
          </a:solidFill>
          <a:ln>
            <a:noFill/>
          </a:ln>
          <a:effectLst/>
        </p:spPr>
        <p:txBody>
          <a:bodyPr rtlCol="0" anchor="ctr"/>
          <a:lstStyle/>
          <a:p>
            <a:pPr algn="ctr"/>
          </a:p>
        </p:txBody>
      </p:sp>
      <p:sp>
        <p:nvSpPr>
          <p:cNvPr id="11" name="TextBox 10"/>
          <p:cNvSpPr txBox="1"/>
          <p:nvPr/>
        </p:nvSpPr>
        <p:spPr>
          <a:xfrm>
            <a:off x="822959" y="1828800"/>
            <a:ext cx="3081528" cy="1828799"/>
          </a:xfrm>
          <a:prstGeom prst="rect">
            <a:avLst/>
          </a:prstGeom>
          <a:noFill/>
        </p:spPr>
        <p:txBody>
          <a:bodyPr wrap="square" lIns="0" tIns="0" rIns="0" bIns="0" anchor="t"/>
          <a:lstStyle/>
          <a:p>
            <a:pPr algn="l">
              <a:spcAft>
                <a:spcPts val="800"/>
              </a:spcAft>
            </a:pPr>
            <a:r>
              <a:rPr sz="2200" b="1">
                <a:solidFill>
                  <a:srgbClr val="1B2A41"/>
                </a:solidFill>
                <a:latin typeface="Arial"/>
              </a:rPr>
              <a:t>Bị reject</a:t>
            </a:r>
          </a:p>
          <a:p>
            <a:pPr algn="l">
              <a:spcAft>
                <a:spcPts val="600"/>
              </a:spcAft>
            </a:pPr>
            <a:r>
              <a:rPr sz="1800" b="0">
                <a:solidFill>
                  <a:srgbClr val="1F2933"/>
                </a:solidFill>
                <a:latin typeface="Arial"/>
              </a:rPr>
              <a:t>Về In Progress, giữ người phụ trách, kèm lý do và cách tái hiện lỗi</a:t>
            </a:r>
          </a:p>
        </p:txBody>
      </p:sp>
      <p:sp>
        <p:nvSpPr>
          <p:cNvPr id="12" name="Rectangle 11"/>
          <p:cNvSpPr/>
          <p:nvPr/>
        </p:nvSpPr>
        <p:spPr>
          <a:xfrm>
            <a:off x="4325112" y="1645920"/>
            <a:ext cx="3538728" cy="2103120"/>
          </a:xfrm>
          <a:prstGeom prst="rect">
            <a:avLst/>
          </a:prstGeom>
          <a:solidFill>
            <a:srgbClr val="F3F6FA"/>
          </a:solidFill>
          <a:ln w="9525">
            <a:solidFill>
              <a:srgbClr val="D5DBE3"/>
            </a:solidFill>
          </a:ln>
          <a:effectLst/>
        </p:spPr>
        <p:txBody>
          <a:bodyPr rtlCol="0" anchor="ctr"/>
          <a:lstStyle/>
          <a:p>
            <a:pPr algn="ctr"/>
          </a:p>
        </p:txBody>
      </p:sp>
      <p:sp>
        <p:nvSpPr>
          <p:cNvPr id="13" name="Rectangle 12"/>
          <p:cNvSpPr/>
          <p:nvPr/>
        </p:nvSpPr>
        <p:spPr>
          <a:xfrm>
            <a:off x="4325112" y="1645920"/>
            <a:ext cx="82296" cy="2103120"/>
          </a:xfrm>
          <a:prstGeom prst="rect">
            <a:avLst/>
          </a:prstGeom>
          <a:solidFill>
            <a:srgbClr val="0E7C86"/>
          </a:solidFill>
          <a:ln>
            <a:noFill/>
          </a:ln>
          <a:effectLst/>
        </p:spPr>
        <p:txBody>
          <a:bodyPr rtlCol="0" anchor="ctr"/>
          <a:lstStyle/>
          <a:p>
            <a:pPr algn="ctr"/>
          </a:p>
        </p:txBody>
      </p:sp>
      <p:sp>
        <p:nvSpPr>
          <p:cNvPr id="14" name="TextBox 13"/>
          <p:cNvSpPr txBox="1"/>
          <p:nvPr/>
        </p:nvSpPr>
        <p:spPr>
          <a:xfrm>
            <a:off x="4599431" y="1828800"/>
            <a:ext cx="3081528" cy="1828799"/>
          </a:xfrm>
          <a:prstGeom prst="rect">
            <a:avLst/>
          </a:prstGeom>
          <a:noFill/>
        </p:spPr>
        <p:txBody>
          <a:bodyPr wrap="square" lIns="0" tIns="0" rIns="0" bIns="0" anchor="t"/>
          <a:lstStyle/>
          <a:p>
            <a:pPr algn="l">
              <a:spcAft>
                <a:spcPts val="800"/>
              </a:spcAft>
            </a:pPr>
            <a:r>
              <a:rPr sz="2200" b="1">
                <a:solidFill>
                  <a:srgbClr val="1B2A41"/>
                </a:solidFill>
                <a:latin typeface="Arial"/>
              </a:rPr>
              <a:t>Bị chặn</a:t>
            </a:r>
          </a:p>
          <a:p>
            <a:pPr algn="l">
              <a:spcAft>
                <a:spcPts val="600"/>
              </a:spcAft>
            </a:pPr>
            <a:r>
              <a:rPr sz="1800" b="0">
                <a:solidFill>
                  <a:srgbClr val="1F2933"/>
                </a:solidFill>
                <a:latin typeface="Arial"/>
              </a:rPr>
              <a:t>Sang Waiting với đủ thông tin; gỡ chặn thì về đúng cột cũ</a:t>
            </a:r>
          </a:p>
        </p:txBody>
      </p:sp>
      <p:sp>
        <p:nvSpPr>
          <p:cNvPr id="15" name="Rectangle 14"/>
          <p:cNvSpPr/>
          <p:nvPr/>
        </p:nvSpPr>
        <p:spPr>
          <a:xfrm>
            <a:off x="8101583" y="1645920"/>
            <a:ext cx="3538728" cy="2103120"/>
          </a:xfrm>
          <a:prstGeom prst="rect">
            <a:avLst/>
          </a:prstGeom>
          <a:solidFill>
            <a:srgbClr val="F3F6FA"/>
          </a:solidFill>
          <a:ln w="9525">
            <a:solidFill>
              <a:srgbClr val="D5DBE3"/>
            </a:solidFill>
          </a:ln>
          <a:effectLst/>
        </p:spPr>
        <p:txBody>
          <a:bodyPr rtlCol="0" anchor="ctr"/>
          <a:lstStyle/>
          <a:p>
            <a:pPr algn="ctr"/>
          </a:p>
        </p:txBody>
      </p:sp>
      <p:sp>
        <p:nvSpPr>
          <p:cNvPr id="16" name="Rectangle 15"/>
          <p:cNvSpPr/>
          <p:nvPr/>
        </p:nvSpPr>
        <p:spPr>
          <a:xfrm>
            <a:off x="8101583" y="1645920"/>
            <a:ext cx="82296" cy="2103120"/>
          </a:xfrm>
          <a:prstGeom prst="rect">
            <a:avLst/>
          </a:prstGeom>
          <a:solidFill>
            <a:srgbClr val="0E7C86"/>
          </a:solidFill>
          <a:ln>
            <a:noFill/>
          </a:ln>
          <a:effectLst/>
        </p:spPr>
        <p:txBody>
          <a:bodyPr rtlCol="0" anchor="ctr"/>
          <a:lstStyle/>
          <a:p>
            <a:pPr algn="ctr"/>
          </a:p>
        </p:txBody>
      </p:sp>
      <p:sp>
        <p:nvSpPr>
          <p:cNvPr id="17" name="TextBox 16"/>
          <p:cNvSpPr txBox="1"/>
          <p:nvPr/>
        </p:nvSpPr>
        <p:spPr>
          <a:xfrm>
            <a:off x="8375904" y="1828800"/>
            <a:ext cx="3081528" cy="1828799"/>
          </a:xfrm>
          <a:prstGeom prst="rect">
            <a:avLst/>
          </a:prstGeom>
          <a:noFill/>
        </p:spPr>
        <p:txBody>
          <a:bodyPr wrap="square" lIns="0" tIns="0" rIns="0" bIns="0" anchor="t"/>
          <a:lstStyle/>
          <a:p>
            <a:pPr algn="l">
              <a:spcAft>
                <a:spcPts val="800"/>
              </a:spcAft>
            </a:pPr>
            <a:r>
              <a:rPr sz="2200" b="1">
                <a:solidFill>
                  <a:srgbClr val="1B2A41"/>
                </a:solidFill>
                <a:latin typeface="Arial"/>
              </a:rPr>
              <a:t>Không làm</a:t>
            </a:r>
          </a:p>
          <a:p>
            <a:pPr algn="l">
              <a:spcAft>
                <a:spcPts val="600"/>
              </a:spcAft>
            </a:pPr>
            <a:r>
              <a:rPr sz="1800" b="0">
                <a:solidFill>
                  <a:srgbClr val="1F2933"/>
                </a:solidFill>
                <a:latin typeface="Arial"/>
              </a:rPr>
              <a:t>Sang Closed kèm lý do. Thẻ ở Sprint Backlog không kịp thì về Product Backlog</a:t>
            </a:r>
          </a:p>
        </p:txBody>
      </p:sp>
      <p:sp>
        <p:nvSpPr>
          <p:cNvPr id="18" name="Rectangle 17"/>
          <p:cNvSpPr/>
          <p:nvPr/>
        </p:nvSpPr>
        <p:spPr>
          <a:xfrm>
            <a:off x="548640" y="3977639"/>
            <a:ext cx="3538728" cy="2103120"/>
          </a:xfrm>
          <a:prstGeom prst="rect">
            <a:avLst/>
          </a:prstGeom>
          <a:solidFill>
            <a:srgbClr val="F3F6FA"/>
          </a:solidFill>
          <a:ln w="9525">
            <a:solidFill>
              <a:srgbClr val="D5DBE3"/>
            </a:solidFill>
          </a:ln>
          <a:effectLst/>
        </p:spPr>
        <p:txBody>
          <a:bodyPr rtlCol="0" anchor="ctr"/>
          <a:lstStyle/>
          <a:p>
            <a:pPr algn="ctr"/>
          </a:p>
        </p:txBody>
      </p:sp>
      <p:sp>
        <p:nvSpPr>
          <p:cNvPr id="19" name="Rectangle 18"/>
          <p:cNvSpPr/>
          <p:nvPr/>
        </p:nvSpPr>
        <p:spPr>
          <a:xfrm>
            <a:off x="548640" y="3977639"/>
            <a:ext cx="82296" cy="2103120"/>
          </a:xfrm>
          <a:prstGeom prst="rect">
            <a:avLst/>
          </a:prstGeom>
          <a:solidFill>
            <a:srgbClr val="0E7C86"/>
          </a:solidFill>
          <a:ln>
            <a:noFill/>
          </a:ln>
          <a:effectLst/>
        </p:spPr>
        <p:txBody>
          <a:bodyPr rtlCol="0" anchor="ctr"/>
          <a:lstStyle/>
          <a:p>
            <a:pPr algn="ctr"/>
          </a:p>
        </p:txBody>
      </p:sp>
      <p:sp>
        <p:nvSpPr>
          <p:cNvPr id="20" name="TextBox 19"/>
          <p:cNvSpPr txBox="1"/>
          <p:nvPr/>
        </p:nvSpPr>
        <p:spPr>
          <a:xfrm>
            <a:off x="822959" y="4160520"/>
            <a:ext cx="3081528" cy="1828799"/>
          </a:xfrm>
          <a:prstGeom prst="rect">
            <a:avLst/>
          </a:prstGeom>
          <a:noFill/>
        </p:spPr>
        <p:txBody>
          <a:bodyPr wrap="square" lIns="0" tIns="0" rIns="0" bIns="0" anchor="t"/>
          <a:lstStyle/>
          <a:p>
            <a:pPr algn="l">
              <a:spcAft>
                <a:spcPts val="800"/>
              </a:spcAft>
            </a:pPr>
            <a:r>
              <a:rPr sz="2200" b="1">
                <a:solidFill>
                  <a:srgbClr val="1B2A41"/>
                </a:solidFill>
                <a:latin typeface="Arial"/>
              </a:rPr>
              <a:t>Phát hành thất bại</a:t>
            </a:r>
          </a:p>
          <a:p>
            <a:pPr algn="l">
              <a:spcAft>
                <a:spcPts val="600"/>
              </a:spcAft>
            </a:pPr>
            <a:r>
              <a:rPr sz="1800" b="0">
                <a:solidFill>
                  <a:srgbClr val="1F2933"/>
                </a:solidFill>
                <a:latin typeface="Arial"/>
              </a:rPr>
              <a:t>Về In Progress hoặc Ready to Test tùy nguyên nhân</a:t>
            </a:r>
          </a:p>
        </p:txBody>
      </p:sp>
      <p:sp>
        <p:nvSpPr>
          <p:cNvPr id="21" name="Rectangle 20"/>
          <p:cNvSpPr/>
          <p:nvPr/>
        </p:nvSpPr>
        <p:spPr>
          <a:xfrm>
            <a:off x="4325112" y="3977639"/>
            <a:ext cx="3538728" cy="2103120"/>
          </a:xfrm>
          <a:prstGeom prst="rect">
            <a:avLst/>
          </a:prstGeom>
          <a:solidFill>
            <a:srgbClr val="F3F6FA"/>
          </a:solidFill>
          <a:ln w="9525">
            <a:solidFill>
              <a:srgbClr val="D5DBE3"/>
            </a:solidFill>
          </a:ln>
          <a:effectLst/>
        </p:spPr>
        <p:txBody>
          <a:bodyPr rtlCol="0" anchor="ctr"/>
          <a:lstStyle/>
          <a:p>
            <a:pPr algn="ctr"/>
          </a:p>
        </p:txBody>
      </p:sp>
      <p:sp>
        <p:nvSpPr>
          <p:cNvPr id="22" name="Rectangle 21"/>
          <p:cNvSpPr/>
          <p:nvPr/>
        </p:nvSpPr>
        <p:spPr>
          <a:xfrm>
            <a:off x="4325112" y="3977639"/>
            <a:ext cx="82296" cy="2103120"/>
          </a:xfrm>
          <a:prstGeom prst="rect">
            <a:avLst/>
          </a:prstGeom>
          <a:solidFill>
            <a:srgbClr val="0E7C86"/>
          </a:solidFill>
          <a:ln>
            <a:noFill/>
          </a:ln>
          <a:effectLst/>
        </p:spPr>
        <p:txBody>
          <a:bodyPr rtlCol="0" anchor="ctr"/>
          <a:lstStyle/>
          <a:p>
            <a:pPr algn="ctr"/>
          </a:p>
        </p:txBody>
      </p:sp>
      <p:sp>
        <p:nvSpPr>
          <p:cNvPr id="23" name="TextBox 22"/>
          <p:cNvSpPr txBox="1"/>
          <p:nvPr/>
        </p:nvSpPr>
        <p:spPr>
          <a:xfrm>
            <a:off x="4599431" y="4160520"/>
            <a:ext cx="3081528" cy="1828799"/>
          </a:xfrm>
          <a:prstGeom prst="rect">
            <a:avLst/>
          </a:prstGeom>
          <a:noFill/>
        </p:spPr>
        <p:txBody>
          <a:bodyPr wrap="square" lIns="0" tIns="0" rIns="0" bIns="0" anchor="t"/>
          <a:lstStyle/>
          <a:p>
            <a:pPr algn="l">
              <a:spcAft>
                <a:spcPts val="800"/>
              </a:spcAft>
            </a:pPr>
            <a:r>
              <a:rPr sz="2200" b="1">
                <a:solidFill>
                  <a:srgbClr val="1B2A41"/>
                </a:solidFill>
                <a:latin typeface="Arial"/>
              </a:rPr>
              <a:t>Closed</a:t>
            </a:r>
          </a:p>
          <a:p>
            <a:pPr algn="l">
              <a:spcAft>
                <a:spcPts val="600"/>
              </a:spcAft>
            </a:pPr>
            <a:r>
              <a:rPr sz="1800" b="0">
                <a:solidFill>
                  <a:srgbClr val="1F2933"/>
                </a:solidFill>
                <a:latin typeface="Arial"/>
              </a:rPr>
              <a:t>Không mở lại; tạo thẻ mới ở Open và liên kết thẻ cũ</a:t>
            </a:r>
          </a:p>
        </p:txBody>
      </p:sp>
      <p:sp>
        <p:nvSpPr>
          <p:cNvPr id="24" name="Rectangle 23"/>
          <p:cNvSpPr/>
          <p:nvPr/>
        </p:nvSpPr>
        <p:spPr>
          <a:xfrm>
            <a:off x="8101583" y="3977639"/>
            <a:ext cx="3538728" cy="2103120"/>
          </a:xfrm>
          <a:prstGeom prst="rect">
            <a:avLst/>
          </a:prstGeom>
          <a:solidFill>
            <a:srgbClr val="F3F6FA"/>
          </a:solidFill>
          <a:ln w="9525">
            <a:solidFill>
              <a:srgbClr val="D5DBE3"/>
            </a:solidFill>
          </a:ln>
          <a:effectLst/>
        </p:spPr>
        <p:txBody>
          <a:bodyPr rtlCol="0" anchor="ctr"/>
          <a:lstStyle/>
          <a:p>
            <a:pPr algn="ctr"/>
          </a:p>
        </p:txBody>
      </p:sp>
      <p:sp>
        <p:nvSpPr>
          <p:cNvPr id="25" name="Rectangle 24"/>
          <p:cNvSpPr/>
          <p:nvPr/>
        </p:nvSpPr>
        <p:spPr>
          <a:xfrm>
            <a:off x="8101583" y="3977639"/>
            <a:ext cx="82296" cy="2103120"/>
          </a:xfrm>
          <a:prstGeom prst="rect">
            <a:avLst/>
          </a:prstGeom>
          <a:solidFill>
            <a:srgbClr val="0E7C86"/>
          </a:solidFill>
          <a:ln>
            <a:noFill/>
          </a:ln>
          <a:effectLst/>
        </p:spPr>
        <p:txBody>
          <a:bodyPr rtlCol="0" anchor="ctr"/>
          <a:lstStyle/>
          <a:p>
            <a:pPr algn="ctr"/>
          </a:p>
        </p:txBody>
      </p:sp>
      <p:sp>
        <p:nvSpPr>
          <p:cNvPr id="26" name="TextBox 25"/>
          <p:cNvSpPr txBox="1"/>
          <p:nvPr/>
        </p:nvSpPr>
        <p:spPr>
          <a:xfrm>
            <a:off x="8375904" y="4160520"/>
            <a:ext cx="3081528" cy="1828799"/>
          </a:xfrm>
          <a:prstGeom prst="rect">
            <a:avLst/>
          </a:prstGeom>
          <a:noFill/>
        </p:spPr>
        <p:txBody>
          <a:bodyPr wrap="square" lIns="0" tIns="0" rIns="0" bIns="0" anchor="t"/>
          <a:lstStyle/>
          <a:p>
            <a:pPr algn="l">
              <a:spcAft>
                <a:spcPts val="800"/>
              </a:spcAft>
            </a:pPr>
            <a:r>
              <a:rPr sz="2200" b="1">
                <a:solidFill>
                  <a:srgbClr val="1B2A41"/>
                </a:solidFill>
                <a:latin typeface="Arial"/>
              </a:rPr>
              <a:t>Hotfix khẩn cấp</a:t>
            </a:r>
          </a:p>
          <a:p>
            <a:pPr algn="l">
              <a:spcAft>
                <a:spcPts val="600"/>
              </a:spcAft>
            </a:pPr>
            <a:r>
              <a:rPr sz="1800" b="0">
                <a:solidFill>
                  <a:srgbClr val="1F2933"/>
                </a:solidFill>
                <a:latin typeface="Arial"/>
              </a:rPr>
              <a:t>Được rút gọn luồng nếu Trưởng nhóm đồng ý; ghi trên thẻ, xem lại ở Retro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3 · QUY ĐỊNH CHUYỂN THẺ</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WIP limit và chính sách kéo</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0E7C86"/>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D5DBE3"/>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14 / 21</a:t>
            </a:r>
          </a:p>
        </p:txBody>
      </p:sp>
      <p:graphicFrame>
        <p:nvGraphicFramePr>
          <p:cNvPr id="9" name="Table 8"/>
          <p:cNvGraphicFramePr>
            <a:graphicFrameLocks noGrp="1"/>
          </p:cNvGraphicFramePr>
          <p:nvPr/>
        </p:nvGraphicFramePr>
        <p:xfrm>
          <a:off x="548640" y="1600200"/>
          <a:ext cx="6035040" cy="3858768"/>
        </p:xfrm>
        <a:graphic>
          <a:graphicData uri="http://schemas.openxmlformats.org/drawingml/2006/table">
            <a:tbl>
              <a:tblPr firstRow="1" bandRow="1">
                <a:tableStyleId>{5C22544A-7EE6-4342-B048-85BDC9FD1C3A}</a:tableStyleId>
              </a:tblPr>
              <a:tblGrid>
                <a:gridCol w="2743200"/>
                <a:gridCol w="3291840"/>
              </a:tblGrid>
              <a:tr h="457200">
                <a:tc>
                  <a:txBody>
                    <a:bodyPr wrap="square"/>
                    <a:lstStyle/>
                    <a:p>
                      <a:r>
                        <a:rPr sz="1400" b="1">
                          <a:solidFill>
                            <a:srgbClr val="FFFFFF"/>
                          </a:solidFill>
                          <a:latin typeface="Arial"/>
                        </a:rPr>
                        <a:t>Cột</a:t>
                      </a:r>
                    </a:p>
                  </a:txBody>
                  <a:tcPr marL="128016" marR="128016" marT="54864" marB="54864" anchor="ctr">
                    <a:solidFill>
                      <a:srgbClr val="1B2A41"/>
                    </a:solidFill>
                  </a:tcPr>
                </a:tc>
                <a:tc>
                  <a:txBody>
                    <a:bodyPr wrap="square"/>
                    <a:lstStyle/>
                    <a:p>
                      <a:r>
                        <a:rPr sz="1400" b="1">
                          <a:solidFill>
                            <a:srgbClr val="FFFFFF"/>
                          </a:solidFill>
                          <a:latin typeface="Arial"/>
                        </a:rPr>
                        <a:t>WIP limit gợi ý</a:t>
                      </a:r>
                    </a:p>
                  </a:txBody>
                  <a:tcPr marL="128016" marR="128016" marT="54864" marB="54864" anchor="ctr">
                    <a:solidFill>
                      <a:srgbClr val="1B2A41"/>
                    </a:solidFill>
                  </a:tcPr>
                </a:tc>
              </a:tr>
              <a:tr h="566928">
                <a:tc>
                  <a:txBody>
                    <a:bodyPr wrap="square"/>
                    <a:lstStyle/>
                    <a:p>
                      <a:r>
                        <a:rPr sz="1700" b="1">
                          <a:solidFill>
                            <a:srgbClr val="1F2933"/>
                          </a:solidFill>
                          <a:latin typeface="Arial"/>
                        </a:rPr>
                        <a:t>Waiting</a:t>
                      </a:r>
                    </a:p>
                  </a:txBody>
                  <a:tcPr marL="128016" marR="128016" marT="54864" marB="54864" anchor="ctr">
                    <a:solidFill>
                      <a:srgbClr val="FFFFFF"/>
                    </a:solidFill>
                  </a:tcPr>
                </a:tc>
                <a:tc>
                  <a:txBody>
                    <a:bodyPr wrap="square"/>
                    <a:lstStyle/>
                    <a:p>
                      <a:r>
                        <a:rPr sz="1700" b="0">
                          <a:solidFill>
                            <a:srgbClr val="1F2933"/>
                          </a:solidFill>
                          <a:latin typeface="Arial"/>
                        </a:rPr>
                        <a:t>Tối đa 3 thẻ</a:t>
                      </a:r>
                    </a:p>
                  </a:txBody>
                  <a:tcPr marL="128016" marR="128016" marT="54864" marB="54864" anchor="ctr">
                    <a:solidFill>
                      <a:srgbClr val="FFFFFF"/>
                    </a:solidFill>
                  </a:tcPr>
                </a:tc>
              </a:tr>
              <a:tr h="566928">
                <a:tc>
                  <a:txBody>
                    <a:bodyPr wrap="square"/>
                    <a:lstStyle/>
                    <a:p>
                      <a:r>
                        <a:rPr sz="1700" b="1">
                          <a:solidFill>
                            <a:srgbClr val="1F2933"/>
                          </a:solidFill>
                          <a:latin typeface="Arial"/>
                        </a:rPr>
                        <a:t>Today Todo</a:t>
                      </a:r>
                    </a:p>
                  </a:txBody>
                  <a:tcPr marL="128016" marR="128016" marT="54864" marB="54864" anchor="ctr">
                    <a:solidFill>
                      <a:srgbClr val="F3F6FA"/>
                    </a:solidFill>
                  </a:tcPr>
                </a:tc>
                <a:tc>
                  <a:txBody>
                    <a:bodyPr wrap="square"/>
                    <a:lstStyle/>
                    <a:p>
                      <a:r>
                        <a:rPr sz="1700" b="0">
                          <a:solidFill>
                            <a:srgbClr val="1F2933"/>
                          </a:solidFill>
                          <a:latin typeface="Arial"/>
                        </a:rPr>
                        <a:t>Vừa đủ 1 ngày</a:t>
                      </a:r>
                    </a:p>
                  </a:txBody>
                  <a:tcPr marL="128016" marR="128016" marT="54864" marB="54864" anchor="ctr">
                    <a:solidFill>
                      <a:srgbClr val="F3F6FA"/>
                    </a:solidFill>
                  </a:tcPr>
                </a:tc>
              </a:tr>
              <a:tr h="566928">
                <a:tc>
                  <a:txBody>
                    <a:bodyPr wrap="square"/>
                    <a:lstStyle/>
                    <a:p>
                      <a:r>
                        <a:rPr sz="1700" b="1">
                          <a:solidFill>
                            <a:srgbClr val="1F2933"/>
                          </a:solidFill>
                          <a:latin typeface="Arial"/>
                        </a:rPr>
                        <a:t>In Progress</a:t>
                      </a:r>
                    </a:p>
                  </a:txBody>
                  <a:tcPr marL="128016" marR="128016" marT="54864" marB="54864" anchor="ctr">
                    <a:solidFill>
                      <a:srgbClr val="FFFFFF"/>
                    </a:solidFill>
                  </a:tcPr>
                </a:tc>
                <a:tc>
                  <a:txBody>
                    <a:bodyPr wrap="square"/>
                    <a:lstStyle/>
                    <a:p>
                      <a:r>
                        <a:rPr sz="1700" b="0">
                          <a:solidFill>
                            <a:srgbClr val="1F2933"/>
                          </a:solidFill>
                          <a:latin typeface="Arial"/>
                        </a:rPr>
                        <a:t>1–2 thẻ mỗi người</a:t>
                      </a:r>
                    </a:p>
                  </a:txBody>
                  <a:tcPr marL="128016" marR="128016" marT="54864" marB="54864" anchor="ctr">
                    <a:solidFill>
                      <a:srgbClr val="FFFFFF"/>
                    </a:solidFill>
                  </a:tcPr>
                </a:tc>
              </a:tr>
              <a:tr h="566928">
                <a:tc>
                  <a:txBody>
                    <a:bodyPr wrap="square"/>
                    <a:lstStyle/>
                    <a:p>
                      <a:r>
                        <a:rPr sz="1700" b="1">
                          <a:solidFill>
                            <a:srgbClr val="1F2933"/>
                          </a:solidFill>
                          <a:latin typeface="Arial"/>
                        </a:rPr>
                        <a:t>Ready to Review</a:t>
                      </a:r>
                    </a:p>
                  </a:txBody>
                  <a:tcPr marL="128016" marR="128016" marT="54864" marB="54864" anchor="ctr">
                    <a:solidFill>
                      <a:srgbClr val="F3F6FA"/>
                    </a:solidFill>
                  </a:tcPr>
                </a:tc>
                <a:tc>
                  <a:txBody>
                    <a:bodyPr wrap="square"/>
                    <a:lstStyle/>
                    <a:p>
                      <a:r>
                        <a:rPr sz="1700" b="0">
                          <a:solidFill>
                            <a:srgbClr val="1F2933"/>
                          </a:solidFill>
                          <a:latin typeface="Arial"/>
                        </a:rPr>
                        <a:t>2 × số người review</a:t>
                      </a:r>
                    </a:p>
                  </a:txBody>
                  <a:tcPr marL="128016" marR="128016" marT="54864" marB="54864" anchor="ctr">
                    <a:solidFill>
                      <a:srgbClr val="F3F6FA"/>
                    </a:solidFill>
                  </a:tcPr>
                </a:tc>
              </a:tr>
              <a:tr h="566928">
                <a:tc>
                  <a:txBody>
                    <a:bodyPr wrap="square"/>
                    <a:lstStyle/>
                    <a:p>
                      <a:r>
                        <a:rPr sz="1700" b="1">
                          <a:solidFill>
                            <a:srgbClr val="1F2933"/>
                          </a:solidFill>
                          <a:latin typeface="Arial"/>
                        </a:rPr>
                        <a:t>Ready to Test</a:t>
                      </a:r>
                    </a:p>
                  </a:txBody>
                  <a:tcPr marL="128016" marR="128016" marT="54864" marB="54864" anchor="ctr">
                    <a:solidFill>
                      <a:srgbClr val="FFFFFF"/>
                    </a:solidFill>
                  </a:tcPr>
                </a:tc>
                <a:tc>
                  <a:txBody>
                    <a:bodyPr wrap="square"/>
                    <a:lstStyle/>
                    <a:p>
                      <a:r>
                        <a:rPr sz="1700" b="0">
                          <a:solidFill>
                            <a:srgbClr val="1F2933"/>
                          </a:solidFill>
                          <a:latin typeface="Arial"/>
                        </a:rPr>
                        <a:t>Tối đa 3–5 thẻ</a:t>
                      </a:r>
                    </a:p>
                  </a:txBody>
                  <a:tcPr marL="128016" marR="128016" marT="54864" marB="54864" anchor="ctr">
                    <a:solidFill>
                      <a:srgbClr val="FFFFFF"/>
                    </a:solidFill>
                  </a:tcPr>
                </a:tc>
              </a:tr>
              <a:tr h="566928">
                <a:tc>
                  <a:txBody>
                    <a:bodyPr wrap="square"/>
                    <a:lstStyle/>
                    <a:p>
                      <a:r>
                        <a:rPr sz="1700" b="1">
                          <a:solidFill>
                            <a:srgbClr val="1F2933"/>
                          </a:solidFill>
                          <a:latin typeface="Arial"/>
                        </a:rPr>
                        <a:t>Ready to Release</a:t>
                      </a:r>
                    </a:p>
                  </a:txBody>
                  <a:tcPr marL="128016" marR="128016" marT="54864" marB="54864" anchor="ctr">
                    <a:solidFill>
                      <a:srgbClr val="F3F6FA"/>
                    </a:solidFill>
                  </a:tcPr>
                </a:tc>
                <a:tc>
                  <a:txBody>
                    <a:bodyPr wrap="square"/>
                    <a:lstStyle/>
                    <a:p>
                      <a:r>
                        <a:rPr sz="1700" b="0">
                          <a:solidFill>
                            <a:srgbClr val="1F2933"/>
                          </a:solidFill>
                          <a:latin typeface="Arial"/>
                        </a:rPr>
                        <a:t>Tối đa 1 chu kỳ phát hành</a:t>
                      </a:r>
                    </a:p>
                  </a:txBody>
                  <a:tcPr marL="128016" marR="128016" marT="54864" marB="54864" anchor="ctr">
                    <a:solidFill>
                      <a:srgbClr val="F3F6FA"/>
                    </a:solidFill>
                  </a:tcPr>
                </a:tc>
              </a:tr>
            </a:tbl>
          </a:graphicData>
        </a:graphic>
      </p:graphicFrame>
      <p:sp>
        <p:nvSpPr>
          <p:cNvPr id="10" name="TextBox 9"/>
          <p:cNvSpPr txBox="1"/>
          <p:nvPr/>
        </p:nvSpPr>
        <p:spPr>
          <a:xfrm>
            <a:off x="6949440" y="1600200"/>
            <a:ext cx="4663440" cy="457200"/>
          </a:xfrm>
          <a:prstGeom prst="rect">
            <a:avLst/>
          </a:prstGeom>
          <a:noFill/>
        </p:spPr>
        <p:txBody>
          <a:bodyPr wrap="square" lIns="0" tIns="0" rIns="0" bIns="0" anchor="t"/>
          <a:lstStyle/>
          <a:p>
            <a:pPr algn="l">
              <a:spcAft>
                <a:spcPts val="600"/>
              </a:spcAft>
            </a:pPr>
            <a:r>
              <a:rPr sz="2000" b="1">
                <a:solidFill>
                  <a:srgbClr val="1B2A41"/>
                </a:solidFill>
                <a:latin typeface="Arial"/>
              </a:rPr>
              <a:t>Khi rảnh tay, ưu tiên theo thứ tự:</a:t>
            </a:r>
          </a:p>
        </p:txBody>
      </p:sp>
      <p:sp>
        <p:nvSpPr>
          <p:cNvPr id="11" name="Oval 10"/>
          <p:cNvSpPr/>
          <p:nvPr/>
        </p:nvSpPr>
        <p:spPr>
          <a:xfrm>
            <a:off x="6949440" y="2194560"/>
            <a:ext cx="457200" cy="457200"/>
          </a:xfrm>
          <a:prstGeom prst="ellipse">
            <a:avLst/>
          </a:prstGeom>
          <a:solidFill>
            <a:srgbClr val="0E7C86"/>
          </a:solidFill>
          <a:ln>
            <a:noFill/>
          </a:ln>
          <a:effectLst/>
        </p:spPr>
        <p:txBody>
          <a:bodyPr rtlCol="0" anchor="ctr" wrap="square" lIns="0" tIns="0" rIns="0" bIns="0"/>
          <a:lstStyle/>
          <a:p>
            <a:pPr algn="ctr">
              <a:spcAft>
                <a:spcPts val="600"/>
              </a:spcAft>
            </a:pPr>
            <a:r>
              <a:rPr sz="1600" b="1">
                <a:solidFill>
                  <a:srgbClr val="FFFFFF"/>
                </a:solidFill>
                <a:latin typeface="Arial"/>
              </a:rPr>
              <a:t>1</a:t>
            </a:r>
          </a:p>
        </p:txBody>
      </p:sp>
      <p:sp>
        <p:nvSpPr>
          <p:cNvPr id="12" name="TextBox 11"/>
          <p:cNvSpPr txBox="1"/>
          <p:nvPr/>
        </p:nvSpPr>
        <p:spPr>
          <a:xfrm>
            <a:off x="7589520" y="2194560"/>
            <a:ext cx="4023360" cy="457200"/>
          </a:xfrm>
          <a:prstGeom prst="rect">
            <a:avLst/>
          </a:prstGeom>
          <a:noFill/>
        </p:spPr>
        <p:txBody>
          <a:bodyPr wrap="square" lIns="0" tIns="0" rIns="0" bIns="0" anchor="ctr"/>
          <a:lstStyle/>
          <a:p>
            <a:pPr algn="l">
              <a:spcAft>
                <a:spcPts val="600"/>
              </a:spcAft>
            </a:pPr>
            <a:r>
              <a:rPr sz="1800" b="0">
                <a:solidFill>
                  <a:srgbClr val="1F2933"/>
                </a:solidFill>
                <a:latin typeface="Arial"/>
              </a:rPr>
              <a:t>Gỡ chặn thẻ ở Waiting</a:t>
            </a:r>
          </a:p>
        </p:txBody>
      </p:sp>
      <p:sp>
        <p:nvSpPr>
          <p:cNvPr id="13" name="Oval 12"/>
          <p:cNvSpPr/>
          <p:nvPr/>
        </p:nvSpPr>
        <p:spPr>
          <a:xfrm>
            <a:off x="6949440" y="2880360"/>
            <a:ext cx="457200" cy="457200"/>
          </a:xfrm>
          <a:prstGeom prst="ellipse">
            <a:avLst/>
          </a:prstGeom>
          <a:solidFill>
            <a:srgbClr val="0E7C86"/>
          </a:solidFill>
          <a:ln>
            <a:noFill/>
          </a:ln>
          <a:effectLst/>
        </p:spPr>
        <p:txBody>
          <a:bodyPr rtlCol="0" anchor="ctr" wrap="square" lIns="0" tIns="0" rIns="0" bIns="0"/>
          <a:lstStyle/>
          <a:p>
            <a:pPr algn="ctr">
              <a:spcAft>
                <a:spcPts val="600"/>
              </a:spcAft>
            </a:pPr>
            <a:r>
              <a:rPr sz="1600" b="1">
                <a:solidFill>
                  <a:srgbClr val="FFFFFF"/>
                </a:solidFill>
                <a:latin typeface="Arial"/>
              </a:rPr>
              <a:t>2</a:t>
            </a:r>
          </a:p>
        </p:txBody>
      </p:sp>
      <p:sp>
        <p:nvSpPr>
          <p:cNvPr id="14" name="TextBox 13"/>
          <p:cNvSpPr txBox="1"/>
          <p:nvPr/>
        </p:nvSpPr>
        <p:spPr>
          <a:xfrm>
            <a:off x="7589520" y="2880360"/>
            <a:ext cx="4023360" cy="457200"/>
          </a:xfrm>
          <a:prstGeom prst="rect">
            <a:avLst/>
          </a:prstGeom>
          <a:noFill/>
        </p:spPr>
        <p:txBody>
          <a:bodyPr wrap="square" lIns="0" tIns="0" rIns="0" bIns="0" anchor="ctr"/>
          <a:lstStyle/>
          <a:p>
            <a:pPr algn="l">
              <a:spcAft>
                <a:spcPts val="600"/>
              </a:spcAft>
            </a:pPr>
            <a:r>
              <a:rPr sz="1800" b="0">
                <a:solidFill>
                  <a:srgbClr val="1F2933"/>
                </a:solidFill>
                <a:latin typeface="Arial"/>
              </a:rPr>
              <a:t>Review thẻ ở Ready to Review</a:t>
            </a:r>
          </a:p>
        </p:txBody>
      </p:sp>
      <p:sp>
        <p:nvSpPr>
          <p:cNvPr id="15" name="Oval 14"/>
          <p:cNvSpPr/>
          <p:nvPr/>
        </p:nvSpPr>
        <p:spPr>
          <a:xfrm>
            <a:off x="6949440" y="3566160"/>
            <a:ext cx="457200" cy="457200"/>
          </a:xfrm>
          <a:prstGeom prst="ellipse">
            <a:avLst/>
          </a:prstGeom>
          <a:solidFill>
            <a:srgbClr val="0E7C86"/>
          </a:solidFill>
          <a:ln>
            <a:noFill/>
          </a:ln>
          <a:effectLst/>
        </p:spPr>
        <p:txBody>
          <a:bodyPr rtlCol="0" anchor="ctr" wrap="square" lIns="0" tIns="0" rIns="0" bIns="0"/>
          <a:lstStyle/>
          <a:p>
            <a:pPr algn="ctr">
              <a:spcAft>
                <a:spcPts val="600"/>
              </a:spcAft>
            </a:pPr>
            <a:r>
              <a:rPr sz="1600" b="1">
                <a:solidFill>
                  <a:srgbClr val="FFFFFF"/>
                </a:solidFill>
                <a:latin typeface="Arial"/>
              </a:rPr>
              <a:t>3</a:t>
            </a:r>
          </a:p>
        </p:txBody>
      </p:sp>
      <p:sp>
        <p:nvSpPr>
          <p:cNvPr id="16" name="TextBox 15"/>
          <p:cNvSpPr txBox="1"/>
          <p:nvPr/>
        </p:nvSpPr>
        <p:spPr>
          <a:xfrm>
            <a:off x="7589520" y="3566160"/>
            <a:ext cx="4023360" cy="457200"/>
          </a:xfrm>
          <a:prstGeom prst="rect">
            <a:avLst/>
          </a:prstGeom>
          <a:noFill/>
        </p:spPr>
        <p:txBody>
          <a:bodyPr wrap="square" lIns="0" tIns="0" rIns="0" bIns="0" anchor="ctr"/>
          <a:lstStyle/>
          <a:p>
            <a:pPr algn="l">
              <a:spcAft>
                <a:spcPts val="600"/>
              </a:spcAft>
            </a:pPr>
            <a:r>
              <a:rPr sz="1800" b="0">
                <a:solidFill>
                  <a:srgbClr val="1F2933"/>
                </a:solidFill>
                <a:latin typeface="Arial"/>
              </a:rPr>
              <a:t>Test thẻ ở Ready to Test</a:t>
            </a:r>
          </a:p>
        </p:txBody>
      </p:sp>
      <p:sp>
        <p:nvSpPr>
          <p:cNvPr id="17" name="Oval 16"/>
          <p:cNvSpPr/>
          <p:nvPr/>
        </p:nvSpPr>
        <p:spPr>
          <a:xfrm>
            <a:off x="6949440" y="4251960"/>
            <a:ext cx="457200" cy="457200"/>
          </a:xfrm>
          <a:prstGeom prst="ellipse">
            <a:avLst/>
          </a:prstGeom>
          <a:solidFill>
            <a:srgbClr val="0E7C86"/>
          </a:solidFill>
          <a:ln>
            <a:noFill/>
          </a:ln>
          <a:effectLst/>
        </p:spPr>
        <p:txBody>
          <a:bodyPr rtlCol="0" anchor="ctr" wrap="square" lIns="0" tIns="0" rIns="0" bIns="0"/>
          <a:lstStyle/>
          <a:p>
            <a:pPr algn="ctr">
              <a:spcAft>
                <a:spcPts val="600"/>
              </a:spcAft>
            </a:pPr>
            <a:r>
              <a:rPr sz="1600" b="1">
                <a:solidFill>
                  <a:srgbClr val="FFFFFF"/>
                </a:solidFill>
                <a:latin typeface="Arial"/>
              </a:rPr>
              <a:t>4</a:t>
            </a:r>
          </a:p>
        </p:txBody>
      </p:sp>
      <p:sp>
        <p:nvSpPr>
          <p:cNvPr id="18" name="TextBox 17"/>
          <p:cNvSpPr txBox="1"/>
          <p:nvPr/>
        </p:nvSpPr>
        <p:spPr>
          <a:xfrm>
            <a:off x="7589520" y="4251960"/>
            <a:ext cx="4023360" cy="457200"/>
          </a:xfrm>
          <a:prstGeom prst="rect">
            <a:avLst/>
          </a:prstGeom>
          <a:noFill/>
        </p:spPr>
        <p:txBody>
          <a:bodyPr wrap="square" lIns="0" tIns="0" rIns="0" bIns="0" anchor="ctr"/>
          <a:lstStyle/>
          <a:p>
            <a:pPr algn="l">
              <a:spcAft>
                <a:spcPts val="600"/>
              </a:spcAft>
            </a:pPr>
            <a:r>
              <a:rPr sz="1800" b="0">
                <a:solidFill>
                  <a:srgbClr val="1F2933"/>
                </a:solidFill>
                <a:latin typeface="Arial"/>
              </a:rPr>
              <a:t>Hỗ trợ đồng đội đang làm</a:t>
            </a:r>
          </a:p>
        </p:txBody>
      </p:sp>
      <p:sp>
        <p:nvSpPr>
          <p:cNvPr id="19" name="Oval 18"/>
          <p:cNvSpPr/>
          <p:nvPr/>
        </p:nvSpPr>
        <p:spPr>
          <a:xfrm>
            <a:off x="6949440" y="4937760"/>
            <a:ext cx="457200" cy="457200"/>
          </a:xfrm>
          <a:prstGeom prst="ellipse">
            <a:avLst/>
          </a:prstGeom>
          <a:solidFill>
            <a:srgbClr val="0E7C86"/>
          </a:solidFill>
          <a:ln>
            <a:noFill/>
          </a:ln>
          <a:effectLst/>
        </p:spPr>
        <p:txBody>
          <a:bodyPr rtlCol="0" anchor="ctr" wrap="square" lIns="0" tIns="0" rIns="0" bIns="0"/>
          <a:lstStyle/>
          <a:p>
            <a:pPr algn="ctr">
              <a:spcAft>
                <a:spcPts val="600"/>
              </a:spcAft>
            </a:pPr>
            <a:r>
              <a:rPr sz="1600" b="1">
                <a:solidFill>
                  <a:srgbClr val="FFFFFF"/>
                </a:solidFill>
                <a:latin typeface="Arial"/>
              </a:rPr>
              <a:t>5</a:t>
            </a:r>
          </a:p>
        </p:txBody>
      </p:sp>
      <p:sp>
        <p:nvSpPr>
          <p:cNvPr id="20" name="TextBox 19"/>
          <p:cNvSpPr txBox="1"/>
          <p:nvPr/>
        </p:nvSpPr>
        <p:spPr>
          <a:xfrm>
            <a:off x="7589520" y="4937760"/>
            <a:ext cx="4023360" cy="457200"/>
          </a:xfrm>
          <a:prstGeom prst="rect">
            <a:avLst/>
          </a:prstGeom>
          <a:noFill/>
        </p:spPr>
        <p:txBody>
          <a:bodyPr wrap="square" lIns="0" tIns="0" rIns="0" bIns="0" anchor="ctr"/>
          <a:lstStyle/>
          <a:p>
            <a:pPr algn="l">
              <a:spcAft>
                <a:spcPts val="600"/>
              </a:spcAft>
            </a:pPr>
            <a:r>
              <a:rPr sz="1800" b="0">
                <a:solidFill>
                  <a:srgbClr val="1F2933"/>
                </a:solidFill>
                <a:latin typeface="Arial"/>
              </a:rPr>
              <a:t>Cuối cùng mới kéo thẻ mới</a:t>
            </a:r>
          </a:p>
        </p:txBody>
      </p:sp>
      <p:sp>
        <p:nvSpPr>
          <p:cNvPr id="21" name="Rectangle 20"/>
          <p:cNvSpPr/>
          <p:nvPr/>
        </p:nvSpPr>
        <p:spPr>
          <a:xfrm>
            <a:off x="548640" y="5715000"/>
            <a:ext cx="11091672" cy="548640"/>
          </a:xfrm>
          <a:prstGeom prst="rect">
            <a:avLst/>
          </a:prstGeom>
          <a:solidFill>
            <a:srgbClr val="0E7C86"/>
          </a:solidFill>
          <a:ln>
            <a:noFill/>
          </a:ln>
          <a:effectLst/>
        </p:spPr>
        <p:txBody>
          <a:bodyPr rtlCol="0" anchor="ctr" wrap="square" lIns="109728" tIns="73152" rIns="109728" bIns="73152"/>
          <a:lstStyle/>
          <a:p>
            <a:pPr algn="ctr">
              <a:spcAft>
                <a:spcPts val="600"/>
              </a:spcAft>
            </a:pPr>
            <a:r>
              <a:rPr sz="1800" b="1">
                <a:solidFill>
                  <a:srgbClr val="FFFFFF"/>
                </a:solidFill>
                <a:latin typeface="Arial"/>
              </a:rPr>
              <a:t>Dừng bắt đầu, tập trung hoàn thành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4 · VẬN HÀNH HIỆU QUẢ</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Nhịp Scrum trên board</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0E7C86"/>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0E7C86"/>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15 / 21</a:t>
            </a:r>
          </a:p>
        </p:txBody>
      </p:sp>
      <p:graphicFrame>
        <p:nvGraphicFramePr>
          <p:cNvPr id="9" name="Table 8"/>
          <p:cNvGraphicFramePr>
            <a:graphicFrameLocks noGrp="1"/>
          </p:cNvGraphicFramePr>
          <p:nvPr/>
        </p:nvGraphicFramePr>
        <p:xfrm>
          <a:off x="548640" y="1600200"/>
          <a:ext cx="11091672" cy="4114800"/>
        </p:xfrm>
        <a:graphic>
          <a:graphicData uri="http://schemas.openxmlformats.org/drawingml/2006/table">
            <a:tbl>
              <a:tblPr firstRow="1" bandRow="1">
                <a:tableStyleId>{5C22544A-7EE6-4342-B048-85BDC9FD1C3A}</a:tableStyleId>
              </a:tblPr>
              <a:tblGrid>
                <a:gridCol w="2468880"/>
                <a:gridCol w="3017520"/>
                <a:gridCol w="5605272"/>
              </a:tblGrid>
              <a:tr h="457200">
                <a:tc>
                  <a:txBody>
                    <a:bodyPr wrap="square"/>
                    <a:lstStyle/>
                    <a:p>
                      <a:r>
                        <a:rPr sz="1400" b="1">
                          <a:solidFill>
                            <a:srgbClr val="FFFFFF"/>
                          </a:solidFill>
                          <a:latin typeface="Arial"/>
                        </a:rPr>
                        <a:t>Sự kiện</a:t>
                      </a:r>
                    </a:p>
                  </a:txBody>
                  <a:tcPr marL="128016" marR="128016" marT="54864" marB="54864" anchor="ctr">
                    <a:solidFill>
                      <a:srgbClr val="1B2A41"/>
                    </a:solidFill>
                  </a:tcPr>
                </a:tc>
                <a:tc>
                  <a:txBody>
                    <a:bodyPr wrap="square"/>
                    <a:lstStyle/>
                    <a:p>
                      <a:r>
                        <a:rPr sz="1400" b="1">
                          <a:solidFill>
                            <a:srgbClr val="FFFFFF"/>
                          </a:solidFill>
                          <a:latin typeface="Arial"/>
                        </a:rPr>
                        <a:t>Thời lượng</a:t>
                      </a:r>
                    </a:p>
                  </a:txBody>
                  <a:tcPr marL="128016" marR="128016" marT="54864" marB="54864" anchor="ctr">
                    <a:solidFill>
                      <a:srgbClr val="1B2A41"/>
                    </a:solidFill>
                  </a:tcPr>
                </a:tc>
                <a:tc>
                  <a:txBody>
                    <a:bodyPr wrap="square"/>
                    <a:lstStyle/>
                    <a:p>
                      <a:r>
                        <a:rPr sz="1400" b="1">
                          <a:solidFill>
                            <a:srgbClr val="FFFFFF"/>
                          </a:solidFill>
                          <a:latin typeface="Arial"/>
                        </a:rPr>
                        <a:t>Tác động lên board</a:t>
                      </a:r>
                    </a:p>
                  </a:txBody>
                  <a:tcPr marL="128016" marR="128016" marT="54864" marB="54864" anchor="ctr">
                    <a:solidFill>
                      <a:srgbClr val="1B2A41"/>
                    </a:solidFill>
                  </a:tcPr>
                </a:tc>
              </a:tr>
              <a:tr h="731520">
                <a:tc>
                  <a:txBody>
                    <a:bodyPr wrap="square"/>
                    <a:lstStyle/>
                    <a:p>
                      <a:r>
                        <a:rPr sz="1600" b="1">
                          <a:solidFill>
                            <a:srgbClr val="1F2933"/>
                          </a:solidFill>
                          <a:latin typeface="Arial"/>
                        </a:rPr>
                        <a:t>Backlog Refinement</a:t>
                      </a:r>
                    </a:p>
                  </a:txBody>
                  <a:tcPr marL="128016" marR="128016" marT="54864" marB="54864" anchor="ctr">
                    <a:solidFill>
                      <a:srgbClr val="FFFFFF"/>
                    </a:solidFill>
                  </a:tcPr>
                </a:tc>
                <a:tc>
                  <a:txBody>
                    <a:bodyPr wrap="square"/>
                    <a:lstStyle/>
                    <a:p>
                      <a:r>
                        <a:rPr sz="1600" b="0">
                          <a:solidFill>
                            <a:srgbClr val="1F2933"/>
                          </a:solidFill>
                          <a:latin typeface="Arial"/>
                        </a:rPr>
                        <a:t>1–2 giờ/tuần</a:t>
                      </a:r>
                    </a:p>
                  </a:txBody>
                  <a:tcPr marL="128016" marR="128016" marT="54864" marB="54864" anchor="ctr">
                    <a:solidFill>
                      <a:srgbClr val="FFFFFF"/>
                    </a:solidFill>
                  </a:tcPr>
                </a:tc>
                <a:tc>
                  <a:txBody>
                    <a:bodyPr wrap="square"/>
                    <a:lstStyle/>
                    <a:p>
                      <a:r>
                        <a:rPr sz="1600" b="0">
                          <a:solidFill>
                            <a:srgbClr val="1F2933"/>
                          </a:solidFill>
                          <a:latin typeface="Arial"/>
                        </a:rPr>
                        <a:t>Phân loại Open; làm rõ, tách nhỏ, ước lượng Product Backlog</a:t>
                      </a:r>
                    </a:p>
                  </a:txBody>
                  <a:tcPr marL="128016" marR="128016" marT="54864" marB="54864" anchor="ctr">
                    <a:solidFill>
                      <a:srgbClr val="FFFFFF"/>
                    </a:solidFill>
                  </a:tcPr>
                </a:tc>
              </a:tr>
              <a:tr h="731520">
                <a:tc>
                  <a:txBody>
                    <a:bodyPr wrap="square"/>
                    <a:lstStyle/>
                    <a:p>
                      <a:r>
                        <a:rPr sz="1600" b="1">
                          <a:solidFill>
                            <a:srgbClr val="1F2933"/>
                          </a:solidFill>
                          <a:latin typeface="Arial"/>
                        </a:rPr>
                        <a:t>Sprint Planning</a:t>
                      </a:r>
                    </a:p>
                  </a:txBody>
                  <a:tcPr marL="128016" marR="128016" marT="54864" marB="54864" anchor="ctr">
                    <a:solidFill>
                      <a:srgbClr val="F3F6FA"/>
                    </a:solidFill>
                  </a:tcPr>
                </a:tc>
                <a:tc>
                  <a:txBody>
                    <a:bodyPr wrap="square"/>
                    <a:lstStyle/>
                    <a:p>
                      <a:r>
                        <a:rPr sz="1600" b="0">
                          <a:solidFill>
                            <a:srgbClr val="1F2933"/>
                          </a:solidFill>
                          <a:latin typeface="Arial"/>
                        </a:rPr>
                        <a:t>≤ 2 giờ/tuần của sprint</a:t>
                      </a:r>
                    </a:p>
                  </a:txBody>
                  <a:tcPr marL="128016" marR="128016" marT="54864" marB="54864" anchor="ctr">
                    <a:solidFill>
                      <a:srgbClr val="F3F6FA"/>
                    </a:solidFill>
                  </a:tcPr>
                </a:tc>
                <a:tc>
                  <a:txBody>
                    <a:bodyPr wrap="square"/>
                    <a:lstStyle/>
                    <a:p>
                      <a:r>
                        <a:rPr sz="1600" b="0">
                          <a:solidFill>
                            <a:srgbClr val="1F2933"/>
                          </a:solidFill>
                          <a:latin typeface="Arial"/>
                        </a:rPr>
                        <a:t>Chốt Sprint Goal; kéo thẻ đạt DoR vào Sprint Backlog</a:t>
                      </a:r>
                    </a:p>
                  </a:txBody>
                  <a:tcPr marL="128016" marR="128016" marT="54864" marB="54864" anchor="ctr">
                    <a:solidFill>
                      <a:srgbClr val="F3F6FA"/>
                    </a:solidFill>
                  </a:tcPr>
                </a:tc>
              </a:tr>
              <a:tr h="731520">
                <a:tc>
                  <a:txBody>
                    <a:bodyPr wrap="square"/>
                    <a:lstStyle/>
                    <a:p>
                      <a:r>
                        <a:rPr sz="1600" b="1">
                          <a:solidFill>
                            <a:srgbClr val="1F2933"/>
                          </a:solidFill>
                          <a:latin typeface="Arial"/>
                        </a:rPr>
                        <a:t>Daily Scrum</a:t>
                      </a:r>
                    </a:p>
                  </a:txBody>
                  <a:tcPr marL="128016" marR="128016" marT="54864" marB="54864" anchor="ctr">
                    <a:solidFill>
                      <a:srgbClr val="FFFFFF"/>
                    </a:solidFill>
                  </a:tcPr>
                </a:tc>
                <a:tc>
                  <a:txBody>
                    <a:bodyPr wrap="square"/>
                    <a:lstStyle/>
                    <a:p>
                      <a:r>
                        <a:rPr sz="1600" b="0">
                          <a:solidFill>
                            <a:srgbClr val="1F2933"/>
                          </a:solidFill>
                          <a:latin typeface="Arial"/>
                        </a:rPr>
                        <a:t>≤ 15 phút</a:t>
                      </a:r>
                    </a:p>
                  </a:txBody>
                  <a:tcPr marL="128016" marR="128016" marT="54864" marB="54864" anchor="ctr">
                    <a:solidFill>
                      <a:srgbClr val="FFFFFF"/>
                    </a:solidFill>
                  </a:tcPr>
                </a:tc>
                <a:tc>
                  <a:txBody>
                    <a:bodyPr wrap="square"/>
                    <a:lstStyle/>
                    <a:p>
                      <a:r>
                        <a:rPr sz="1600" b="0">
                          <a:solidFill>
                            <a:srgbClr val="1F2933"/>
                          </a:solidFill>
                          <a:latin typeface="Arial"/>
                        </a:rPr>
                        <a:t>Duyệt board, chọn Today Todo, nêu thẻ Waiting quá hạn</a:t>
                      </a:r>
                    </a:p>
                  </a:txBody>
                  <a:tcPr marL="128016" marR="128016" marT="54864" marB="54864" anchor="ctr">
                    <a:solidFill>
                      <a:srgbClr val="FFFFFF"/>
                    </a:solidFill>
                  </a:tcPr>
                </a:tc>
              </a:tr>
              <a:tr h="731520">
                <a:tc>
                  <a:txBody>
                    <a:bodyPr wrap="square"/>
                    <a:lstStyle/>
                    <a:p>
                      <a:r>
                        <a:rPr sz="1600" b="1">
                          <a:solidFill>
                            <a:srgbClr val="1F2933"/>
                          </a:solidFill>
                          <a:latin typeface="Arial"/>
                        </a:rPr>
                        <a:t>Sprint Review</a:t>
                      </a:r>
                    </a:p>
                  </a:txBody>
                  <a:tcPr marL="128016" marR="128016" marT="54864" marB="54864" anchor="ctr">
                    <a:solidFill>
                      <a:srgbClr val="F3F6FA"/>
                    </a:solidFill>
                  </a:tcPr>
                </a:tc>
                <a:tc>
                  <a:txBody>
                    <a:bodyPr wrap="square"/>
                    <a:lstStyle/>
                    <a:p>
                      <a:r>
                        <a:rPr sz="1600" b="0">
                          <a:solidFill>
                            <a:srgbClr val="1F2933"/>
                          </a:solidFill>
                          <a:latin typeface="Arial"/>
                        </a:rPr>
                        <a:t>≤ 1 giờ/tuần của sprint</a:t>
                      </a:r>
                    </a:p>
                  </a:txBody>
                  <a:tcPr marL="128016" marR="128016" marT="54864" marB="54864" anchor="ctr">
                    <a:solidFill>
                      <a:srgbClr val="F3F6FA"/>
                    </a:solidFill>
                  </a:tcPr>
                </a:tc>
                <a:tc>
                  <a:txBody>
                    <a:bodyPr wrap="square"/>
                    <a:lstStyle/>
                    <a:p>
                      <a:r>
                        <a:rPr sz="1600" b="0">
                          <a:solidFill>
                            <a:srgbClr val="1F2933"/>
                          </a:solidFill>
                          <a:latin typeface="Arial"/>
                        </a:rPr>
                        <a:t>Demo; Tester xác nhận; Trưởng nhóm chuyển Closed; thẻ chưa xong về Product Backlog</a:t>
                      </a:r>
                    </a:p>
                  </a:txBody>
                  <a:tcPr marL="128016" marR="128016" marT="54864" marB="54864" anchor="ctr">
                    <a:solidFill>
                      <a:srgbClr val="F3F6FA"/>
                    </a:solidFill>
                  </a:tcPr>
                </a:tc>
              </a:tr>
              <a:tr h="731520">
                <a:tc>
                  <a:txBody>
                    <a:bodyPr wrap="square"/>
                    <a:lstStyle/>
                    <a:p>
                      <a:r>
                        <a:rPr sz="1600" b="1">
                          <a:solidFill>
                            <a:srgbClr val="1F2933"/>
                          </a:solidFill>
                          <a:latin typeface="Arial"/>
                        </a:rPr>
                        <a:t>Sprint Retrospective</a:t>
                      </a:r>
                    </a:p>
                  </a:txBody>
                  <a:tcPr marL="128016" marR="128016" marT="54864" marB="54864" anchor="ctr">
                    <a:solidFill>
                      <a:srgbClr val="FFFFFF"/>
                    </a:solidFill>
                  </a:tcPr>
                </a:tc>
                <a:tc>
                  <a:txBody>
                    <a:bodyPr wrap="square"/>
                    <a:lstStyle/>
                    <a:p>
                      <a:r>
                        <a:rPr sz="1600" b="0">
                          <a:solidFill>
                            <a:srgbClr val="1F2933"/>
                          </a:solidFill>
                          <a:latin typeface="Arial"/>
                        </a:rPr>
                        <a:t>≤ 45 phút/tuần của sprint</a:t>
                      </a:r>
                    </a:p>
                  </a:txBody>
                  <a:tcPr marL="128016" marR="128016" marT="54864" marB="54864" anchor="ctr">
                    <a:solidFill>
                      <a:srgbClr val="FFFFFF"/>
                    </a:solidFill>
                  </a:tcPr>
                </a:tc>
                <a:tc>
                  <a:txBody>
                    <a:bodyPr wrap="square"/>
                    <a:lstStyle/>
                    <a:p>
                      <a:r>
                        <a:rPr sz="1600" b="0">
                          <a:solidFill>
                            <a:srgbClr val="1F2933"/>
                          </a:solidFill>
                          <a:latin typeface="Arial"/>
                        </a:rPr>
                        <a:t>Xem điểm nghẽn; chỉnh WIP limit, DoR, DoD</a:t>
                      </a:r>
                    </a:p>
                  </a:txBody>
                  <a:tcPr marL="128016" marR="128016" marT="54864" marB="54864"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4 · VẬN HÀNH HIỆU QUẢ</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Đọc board trong Daily: từ phải sang trái</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0E7C86"/>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0E7C86"/>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16 / 21</a:t>
            </a:r>
          </a:p>
        </p:txBody>
      </p:sp>
      <p:sp>
        <p:nvSpPr>
          <p:cNvPr id="9" name="Rectangle 8"/>
          <p:cNvSpPr/>
          <p:nvPr/>
        </p:nvSpPr>
        <p:spPr>
          <a:xfrm>
            <a:off x="548640" y="1691640"/>
            <a:ext cx="3108960" cy="914400"/>
          </a:xfrm>
          <a:prstGeom prst="rect">
            <a:avLst/>
          </a:prstGeom>
          <a:solidFill>
            <a:srgbClr val="2F6FDE"/>
          </a:solidFill>
          <a:ln>
            <a:noFill/>
          </a:ln>
          <a:effectLst/>
        </p:spPr>
        <p:txBody>
          <a:bodyPr rtlCol="0" anchor="ctr" wrap="square" lIns="109728" tIns="73152" rIns="109728" bIns="73152"/>
          <a:lstStyle/>
          <a:p>
            <a:pPr algn="ctr">
              <a:spcAft>
                <a:spcPts val="600"/>
              </a:spcAft>
            </a:pPr>
            <a:r>
              <a:rPr sz="1700" b="1">
                <a:solidFill>
                  <a:srgbClr val="FFFFFF"/>
                </a:solidFill>
                <a:latin typeface="Arial"/>
              </a:rPr>
              <a:t>Chuẩn bị</a:t>
            </a:r>
          </a:p>
        </p:txBody>
      </p:sp>
      <p:sp>
        <p:nvSpPr>
          <p:cNvPr id="10" name="Rectangle 9"/>
          <p:cNvSpPr/>
          <p:nvPr/>
        </p:nvSpPr>
        <p:spPr>
          <a:xfrm>
            <a:off x="3749039" y="1691640"/>
            <a:ext cx="2377440" cy="914400"/>
          </a:xfrm>
          <a:prstGeom prst="rect">
            <a:avLst/>
          </a:prstGeom>
          <a:solidFill>
            <a:srgbClr val="F2B134"/>
          </a:solidFill>
          <a:ln>
            <a:noFill/>
          </a:ln>
          <a:effectLst/>
        </p:spPr>
        <p:txBody>
          <a:bodyPr rtlCol="0" anchor="ctr" wrap="square" lIns="109728" tIns="73152" rIns="109728" bIns="73152"/>
          <a:lstStyle/>
          <a:p>
            <a:pPr algn="ctr">
              <a:spcAft>
                <a:spcPts val="600"/>
              </a:spcAft>
            </a:pPr>
            <a:r>
              <a:rPr sz="1700" b="1">
                <a:solidFill>
                  <a:srgbClr val="1F2933"/>
                </a:solidFill>
                <a:latin typeface="Arial"/>
              </a:rPr>
              <a:t>Sẵn sàng làm</a:t>
            </a:r>
          </a:p>
        </p:txBody>
      </p:sp>
      <p:sp>
        <p:nvSpPr>
          <p:cNvPr id="11" name="Rectangle 10"/>
          <p:cNvSpPr/>
          <p:nvPr/>
        </p:nvSpPr>
        <p:spPr>
          <a:xfrm>
            <a:off x="6217920" y="1691640"/>
            <a:ext cx="3108960" cy="914400"/>
          </a:xfrm>
          <a:prstGeom prst="rect">
            <a:avLst/>
          </a:prstGeom>
          <a:solidFill>
            <a:srgbClr val="12876F"/>
          </a:solidFill>
          <a:ln>
            <a:noFill/>
          </a:ln>
          <a:effectLst/>
        </p:spPr>
        <p:txBody>
          <a:bodyPr rtlCol="0" anchor="ctr" wrap="square" lIns="109728" tIns="73152" rIns="109728" bIns="73152"/>
          <a:lstStyle/>
          <a:p>
            <a:pPr algn="ctr">
              <a:spcAft>
                <a:spcPts val="600"/>
              </a:spcAft>
            </a:pPr>
            <a:r>
              <a:rPr sz="1700" b="1">
                <a:solidFill>
                  <a:srgbClr val="FFFFFF"/>
                </a:solidFill>
                <a:latin typeface="Arial"/>
              </a:rPr>
              <a:t>Thực thi</a:t>
            </a:r>
          </a:p>
        </p:txBody>
      </p:sp>
      <p:sp>
        <p:nvSpPr>
          <p:cNvPr id="12" name="Rectangle 11"/>
          <p:cNvSpPr/>
          <p:nvPr/>
        </p:nvSpPr>
        <p:spPr>
          <a:xfrm>
            <a:off x="9418320" y="1691640"/>
            <a:ext cx="2194560" cy="914400"/>
          </a:xfrm>
          <a:prstGeom prst="rect">
            <a:avLst/>
          </a:prstGeom>
          <a:solidFill>
            <a:srgbClr val="7B4FD1"/>
          </a:solidFill>
          <a:ln>
            <a:noFill/>
          </a:ln>
          <a:effectLst/>
        </p:spPr>
        <p:txBody>
          <a:bodyPr rtlCol="0" anchor="ctr" wrap="square" lIns="109728" tIns="73152" rIns="109728" bIns="73152"/>
          <a:lstStyle/>
          <a:p>
            <a:pPr algn="ctr">
              <a:spcAft>
                <a:spcPts val="600"/>
              </a:spcAft>
            </a:pPr>
            <a:r>
              <a:rPr sz="1700" b="1">
                <a:solidFill>
                  <a:srgbClr val="FFFFFF"/>
                </a:solidFill>
                <a:latin typeface="Arial"/>
              </a:rPr>
              <a:t>Phát hành và đóng</a:t>
            </a:r>
          </a:p>
        </p:txBody>
      </p:sp>
      <p:sp>
        <p:nvSpPr>
          <p:cNvPr id="13" name="Left Arrow 12"/>
          <p:cNvSpPr/>
          <p:nvPr/>
        </p:nvSpPr>
        <p:spPr>
          <a:xfrm>
            <a:off x="548640" y="2788920"/>
            <a:ext cx="11091672" cy="457200"/>
          </a:xfrm>
          <a:prstGeom prst="leftArrow">
            <a:avLst/>
          </a:prstGeom>
          <a:solidFill>
            <a:srgbClr val="1B2A41"/>
          </a:solidFill>
          <a:ln>
            <a:noFill/>
          </a:ln>
          <a:effectLst/>
        </p:spPr>
        <p:txBody>
          <a:bodyPr rtlCol="0" anchor="ctr"/>
          <a:lstStyle/>
          <a:p>
            <a:pPr algn="ctr"/>
          </a:p>
        </p:txBody>
      </p:sp>
      <p:sp>
        <p:nvSpPr>
          <p:cNvPr id="14" name="TextBox 13"/>
          <p:cNvSpPr txBox="1"/>
          <p:nvPr/>
        </p:nvSpPr>
        <p:spPr>
          <a:xfrm>
            <a:off x="548640" y="3291840"/>
            <a:ext cx="11091672" cy="365760"/>
          </a:xfrm>
          <a:prstGeom prst="rect">
            <a:avLst/>
          </a:prstGeom>
          <a:noFill/>
        </p:spPr>
        <p:txBody>
          <a:bodyPr wrap="square" lIns="0" tIns="0" rIns="0" bIns="0" anchor="t"/>
          <a:lstStyle/>
          <a:p>
            <a:pPr algn="ctr">
              <a:spcAft>
                <a:spcPts val="600"/>
              </a:spcAft>
            </a:pPr>
            <a:r>
              <a:rPr sz="1500" b="0">
                <a:solidFill>
                  <a:srgbClr val="5F6B7A"/>
                </a:solidFill>
                <a:latin typeface="Arial"/>
              </a:rPr>
              <a:t>Hướng duyệt: bắt đầu từ Released, kết thúc ở Open</a:t>
            </a:r>
          </a:p>
        </p:txBody>
      </p:sp>
      <p:sp>
        <p:nvSpPr>
          <p:cNvPr id="15" name="Rectangle 14"/>
          <p:cNvSpPr/>
          <p:nvPr/>
        </p:nvSpPr>
        <p:spPr>
          <a:xfrm>
            <a:off x="548640" y="3931920"/>
            <a:ext cx="5422392" cy="914400"/>
          </a:xfrm>
          <a:prstGeom prst="rect">
            <a:avLst/>
          </a:prstGeom>
          <a:solidFill>
            <a:srgbClr val="F3F6FA"/>
          </a:solidFill>
          <a:ln w="9525">
            <a:solidFill>
              <a:srgbClr val="D5DBE3"/>
            </a:solidFill>
          </a:ln>
          <a:effectLst/>
        </p:spPr>
        <p:txBody>
          <a:bodyPr rtlCol="0" anchor="ctr"/>
          <a:lstStyle/>
          <a:p>
            <a:pPr algn="ctr"/>
          </a:p>
        </p:txBody>
      </p:sp>
      <p:sp>
        <p:nvSpPr>
          <p:cNvPr id="16" name="TextBox 15"/>
          <p:cNvSpPr txBox="1"/>
          <p:nvPr/>
        </p:nvSpPr>
        <p:spPr>
          <a:xfrm>
            <a:off x="777240" y="3931920"/>
            <a:ext cx="5029200" cy="914400"/>
          </a:xfrm>
          <a:prstGeom prst="rect">
            <a:avLst/>
          </a:prstGeom>
          <a:noFill/>
        </p:spPr>
        <p:txBody>
          <a:bodyPr wrap="square" lIns="0" tIns="0" rIns="0" bIns="0" anchor="ctr"/>
          <a:lstStyle/>
          <a:p>
            <a:pPr algn="l">
              <a:spcAft>
                <a:spcPts val="600"/>
              </a:spcAft>
            </a:pPr>
            <a:r>
              <a:rPr sz="1800" b="0">
                <a:solidFill>
                  <a:srgbClr val="1F2933"/>
                </a:solidFill>
                <a:latin typeface="Arial"/>
              </a:rPr>
              <a:t>Thẻ nào có thể ra khỏi cột này hôm nay?</a:t>
            </a:r>
          </a:p>
        </p:txBody>
      </p:sp>
      <p:sp>
        <p:nvSpPr>
          <p:cNvPr id="17" name="Rectangle 16"/>
          <p:cNvSpPr/>
          <p:nvPr/>
        </p:nvSpPr>
        <p:spPr>
          <a:xfrm>
            <a:off x="6217920" y="3931920"/>
            <a:ext cx="5422392" cy="914400"/>
          </a:xfrm>
          <a:prstGeom prst="rect">
            <a:avLst/>
          </a:prstGeom>
          <a:solidFill>
            <a:srgbClr val="F3F6FA"/>
          </a:solidFill>
          <a:ln w="9525">
            <a:solidFill>
              <a:srgbClr val="D5DBE3"/>
            </a:solidFill>
          </a:ln>
          <a:effectLst/>
        </p:spPr>
        <p:txBody>
          <a:bodyPr rtlCol="0" anchor="ctr"/>
          <a:lstStyle/>
          <a:p>
            <a:pPr algn="ctr"/>
          </a:p>
        </p:txBody>
      </p:sp>
      <p:sp>
        <p:nvSpPr>
          <p:cNvPr id="18" name="TextBox 17"/>
          <p:cNvSpPr txBox="1"/>
          <p:nvPr/>
        </p:nvSpPr>
        <p:spPr>
          <a:xfrm>
            <a:off x="6446520" y="3931920"/>
            <a:ext cx="5029200" cy="914400"/>
          </a:xfrm>
          <a:prstGeom prst="rect">
            <a:avLst/>
          </a:prstGeom>
          <a:noFill/>
        </p:spPr>
        <p:txBody>
          <a:bodyPr wrap="square" lIns="0" tIns="0" rIns="0" bIns="0" anchor="ctr"/>
          <a:lstStyle/>
          <a:p>
            <a:pPr algn="l">
              <a:spcAft>
                <a:spcPts val="600"/>
              </a:spcAft>
            </a:pPr>
            <a:r>
              <a:rPr sz="1800" b="0">
                <a:solidFill>
                  <a:srgbClr val="1F2933"/>
                </a:solidFill>
                <a:latin typeface="Arial"/>
              </a:rPr>
              <a:t>Thẻ nào đang chờ ai, và đã có người nhận chưa?</a:t>
            </a:r>
          </a:p>
        </p:txBody>
      </p:sp>
      <p:sp>
        <p:nvSpPr>
          <p:cNvPr id="19" name="Rectangle 18"/>
          <p:cNvSpPr/>
          <p:nvPr/>
        </p:nvSpPr>
        <p:spPr>
          <a:xfrm>
            <a:off x="548640" y="5029200"/>
            <a:ext cx="5422392" cy="914400"/>
          </a:xfrm>
          <a:prstGeom prst="rect">
            <a:avLst/>
          </a:prstGeom>
          <a:solidFill>
            <a:srgbClr val="F3F6FA"/>
          </a:solidFill>
          <a:ln w="9525">
            <a:solidFill>
              <a:srgbClr val="D5DBE3"/>
            </a:solidFill>
          </a:ln>
          <a:effectLst/>
        </p:spPr>
        <p:txBody>
          <a:bodyPr rtlCol="0" anchor="ctr"/>
          <a:lstStyle/>
          <a:p>
            <a:pPr algn="ctr"/>
          </a:p>
        </p:txBody>
      </p:sp>
      <p:sp>
        <p:nvSpPr>
          <p:cNvPr id="20" name="TextBox 19"/>
          <p:cNvSpPr txBox="1"/>
          <p:nvPr/>
        </p:nvSpPr>
        <p:spPr>
          <a:xfrm>
            <a:off x="777240" y="5029200"/>
            <a:ext cx="5029200" cy="914400"/>
          </a:xfrm>
          <a:prstGeom prst="rect">
            <a:avLst/>
          </a:prstGeom>
          <a:noFill/>
        </p:spPr>
        <p:txBody>
          <a:bodyPr wrap="square" lIns="0" tIns="0" rIns="0" bIns="0" anchor="ctr"/>
          <a:lstStyle/>
          <a:p>
            <a:pPr algn="l">
              <a:spcAft>
                <a:spcPts val="600"/>
              </a:spcAft>
            </a:pPr>
            <a:r>
              <a:rPr sz="1800" b="0">
                <a:solidFill>
                  <a:srgbClr val="1F2933"/>
                </a:solidFill>
                <a:latin typeface="Arial"/>
              </a:rPr>
              <a:t>Thẻ Waiting nào quá 2 ngày cần leo thang?</a:t>
            </a:r>
          </a:p>
        </p:txBody>
      </p:sp>
      <p:sp>
        <p:nvSpPr>
          <p:cNvPr id="21" name="Rectangle 20"/>
          <p:cNvSpPr/>
          <p:nvPr/>
        </p:nvSpPr>
        <p:spPr>
          <a:xfrm>
            <a:off x="6217920" y="5029200"/>
            <a:ext cx="5422392" cy="914400"/>
          </a:xfrm>
          <a:prstGeom prst="rect">
            <a:avLst/>
          </a:prstGeom>
          <a:solidFill>
            <a:srgbClr val="F3F6FA"/>
          </a:solidFill>
          <a:ln w="9525">
            <a:solidFill>
              <a:srgbClr val="D5DBE3"/>
            </a:solidFill>
          </a:ln>
          <a:effectLst/>
        </p:spPr>
        <p:txBody>
          <a:bodyPr rtlCol="0" anchor="ctr"/>
          <a:lstStyle/>
          <a:p>
            <a:pPr algn="ctr"/>
          </a:p>
        </p:txBody>
      </p:sp>
      <p:sp>
        <p:nvSpPr>
          <p:cNvPr id="22" name="TextBox 21"/>
          <p:cNvSpPr txBox="1"/>
          <p:nvPr/>
        </p:nvSpPr>
        <p:spPr>
          <a:xfrm>
            <a:off x="6446520" y="5029200"/>
            <a:ext cx="5029200" cy="914400"/>
          </a:xfrm>
          <a:prstGeom prst="rect">
            <a:avLst/>
          </a:prstGeom>
          <a:noFill/>
        </p:spPr>
        <p:txBody>
          <a:bodyPr wrap="square" lIns="0" tIns="0" rIns="0" bIns="0" anchor="ctr"/>
          <a:lstStyle/>
          <a:p>
            <a:pPr algn="l">
              <a:spcAft>
                <a:spcPts val="600"/>
              </a:spcAft>
            </a:pPr>
            <a:r>
              <a:rPr sz="1800" b="0">
                <a:solidFill>
                  <a:srgbClr val="1F2933"/>
                </a:solidFill>
                <a:latin typeface="Arial"/>
              </a:rPr>
              <a:t>Hôm nay mỗi người chọn gì vào Today Todo?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4 · VẬN HÀNH HIỆU QUẢ</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8 nguyên tắc làm việc hiệu quả</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0E7C86"/>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0E7C86"/>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17 / 21</a:t>
            </a:r>
          </a:p>
        </p:txBody>
      </p:sp>
      <p:sp>
        <p:nvSpPr>
          <p:cNvPr id="9" name="Rectangle 8"/>
          <p:cNvSpPr/>
          <p:nvPr/>
        </p:nvSpPr>
        <p:spPr>
          <a:xfrm>
            <a:off x="548640" y="1600200"/>
            <a:ext cx="2615184" cy="2103120"/>
          </a:xfrm>
          <a:prstGeom prst="rect">
            <a:avLst/>
          </a:prstGeom>
          <a:solidFill>
            <a:srgbClr val="F3F6FA"/>
          </a:solidFill>
          <a:ln w="9525">
            <a:solidFill>
              <a:srgbClr val="D5DBE3"/>
            </a:solidFill>
          </a:ln>
          <a:effectLst/>
        </p:spPr>
        <p:txBody>
          <a:bodyPr rtlCol="0" anchor="ctr"/>
          <a:lstStyle/>
          <a:p>
            <a:pPr algn="ctr"/>
          </a:p>
        </p:txBody>
      </p:sp>
      <p:sp>
        <p:nvSpPr>
          <p:cNvPr id="10" name="Rectangle 9"/>
          <p:cNvSpPr/>
          <p:nvPr/>
        </p:nvSpPr>
        <p:spPr>
          <a:xfrm>
            <a:off x="548640" y="1600200"/>
            <a:ext cx="2615184" cy="73152"/>
          </a:xfrm>
          <a:prstGeom prst="rect">
            <a:avLst/>
          </a:prstGeom>
          <a:solidFill>
            <a:srgbClr val="0E7C86"/>
          </a:solidFill>
          <a:ln>
            <a:noFill/>
          </a:ln>
          <a:effectLst/>
        </p:spPr>
        <p:txBody>
          <a:bodyPr rtlCol="0" anchor="ctr"/>
          <a:lstStyle/>
          <a:p>
            <a:pPr algn="ctr"/>
          </a:p>
        </p:txBody>
      </p:sp>
      <p:sp>
        <p:nvSpPr>
          <p:cNvPr id="11" name="TextBox 10"/>
          <p:cNvSpPr txBox="1"/>
          <p:nvPr/>
        </p:nvSpPr>
        <p:spPr>
          <a:xfrm>
            <a:off x="731520" y="1828800"/>
            <a:ext cx="2249424" cy="1828799"/>
          </a:xfrm>
          <a:prstGeom prst="rect">
            <a:avLst/>
          </a:prstGeom>
          <a:noFill/>
        </p:spPr>
        <p:txBody>
          <a:bodyPr wrap="square" lIns="0" tIns="0" rIns="0" bIns="0" anchor="t"/>
          <a:lstStyle/>
          <a:p>
            <a:pPr algn="l">
              <a:spcAft>
                <a:spcPts val="800"/>
              </a:spcAft>
            </a:pPr>
            <a:r>
              <a:rPr sz="2000" b="1">
                <a:solidFill>
                  <a:srgbClr val="1B2A41"/>
                </a:solidFill>
                <a:latin typeface="Arial"/>
              </a:rPr>
              <a:t>Sprint Goal là kim chỉ nam</a:t>
            </a:r>
          </a:p>
          <a:p>
            <a:pPr algn="l">
              <a:spcAft>
                <a:spcPts val="600"/>
              </a:spcAft>
            </a:pPr>
            <a:r>
              <a:rPr sz="1700" b="0">
                <a:solidFill>
                  <a:srgbClr val="1F2933"/>
                </a:solidFill>
                <a:latin typeface="Arial"/>
              </a:rPr>
              <a:t>Khi phải đánh đổi, chọn thứ phục vụ mục tiêu sprint</a:t>
            </a:r>
          </a:p>
        </p:txBody>
      </p:sp>
      <p:sp>
        <p:nvSpPr>
          <p:cNvPr id="12" name="Rectangle 11"/>
          <p:cNvSpPr/>
          <p:nvPr/>
        </p:nvSpPr>
        <p:spPr>
          <a:xfrm>
            <a:off x="3374136" y="1600200"/>
            <a:ext cx="2615184" cy="2103120"/>
          </a:xfrm>
          <a:prstGeom prst="rect">
            <a:avLst/>
          </a:prstGeom>
          <a:solidFill>
            <a:srgbClr val="F3F6FA"/>
          </a:solidFill>
          <a:ln w="9525">
            <a:solidFill>
              <a:srgbClr val="D5DBE3"/>
            </a:solidFill>
          </a:ln>
          <a:effectLst/>
        </p:spPr>
        <p:txBody>
          <a:bodyPr rtlCol="0" anchor="ctr"/>
          <a:lstStyle/>
          <a:p>
            <a:pPr algn="ctr"/>
          </a:p>
        </p:txBody>
      </p:sp>
      <p:sp>
        <p:nvSpPr>
          <p:cNvPr id="13" name="Rectangle 12"/>
          <p:cNvSpPr/>
          <p:nvPr/>
        </p:nvSpPr>
        <p:spPr>
          <a:xfrm>
            <a:off x="3374136" y="1600200"/>
            <a:ext cx="2615184" cy="73152"/>
          </a:xfrm>
          <a:prstGeom prst="rect">
            <a:avLst/>
          </a:prstGeom>
          <a:solidFill>
            <a:srgbClr val="0E7C86"/>
          </a:solidFill>
          <a:ln>
            <a:noFill/>
          </a:ln>
          <a:effectLst/>
        </p:spPr>
        <p:txBody>
          <a:bodyPr rtlCol="0" anchor="ctr"/>
          <a:lstStyle/>
          <a:p>
            <a:pPr algn="ctr"/>
          </a:p>
        </p:txBody>
      </p:sp>
      <p:sp>
        <p:nvSpPr>
          <p:cNvPr id="14" name="TextBox 13"/>
          <p:cNvSpPr txBox="1"/>
          <p:nvPr/>
        </p:nvSpPr>
        <p:spPr>
          <a:xfrm>
            <a:off x="3557016" y="1828800"/>
            <a:ext cx="2249424" cy="1828799"/>
          </a:xfrm>
          <a:prstGeom prst="rect">
            <a:avLst/>
          </a:prstGeom>
          <a:noFill/>
        </p:spPr>
        <p:txBody>
          <a:bodyPr wrap="square" lIns="0" tIns="0" rIns="0" bIns="0" anchor="t"/>
          <a:lstStyle/>
          <a:p>
            <a:pPr algn="l">
              <a:spcAft>
                <a:spcPts val="800"/>
              </a:spcAft>
            </a:pPr>
            <a:r>
              <a:rPr sz="2000" b="1">
                <a:solidFill>
                  <a:srgbClr val="1B2A41"/>
                </a:solidFill>
                <a:latin typeface="Arial"/>
              </a:rPr>
              <a:t>Thẻ nhỏ</a:t>
            </a:r>
          </a:p>
          <a:p>
            <a:pPr algn="l">
              <a:spcAft>
                <a:spcPts val="600"/>
              </a:spcAft>
            </a:pPr>
            <a:r>
              <a:rPr sz="1700" b="0">
                <a:solidFill>
                  <a:srgbClr val="1F2933"/>
                </a:solidFill>
                <a:latin typeface="Arial"/>
              </a:rPr>
              <a:t>Một thẻ nên xong trong 1–3 ngày; thẻ to thì tách</a:t>
            </a:r>
          </a:p>
        </p:txBody>
      </p:sp>
      <p:sp>
        <p:nvSpPr>
          <p:cNvPr id="15" name="Rectangle 14"/>
          <p:cNvSpPr/>
          <p:nvPr/>
        </p:nvSpPr>
        <p:spPr>
          <a:xfrm>
            <a:off x="6199631" y="1600200"/>
            <a:ext cx="2615184" cy="2103120"/>
          </a:xfrm>
          <a:prstGeom prst="rect">
            <a:avLst/>
          </a:prstGeom>
          <a:solidFill>
            <a:srgbClr val="F3F6FA"/>
          </a:solidFill>
          <a:ln w="9525">
            <a:solidFill>
              <a:srgbClr val="D5DBE3"/>
            </a:solidFill>
          </a:ln>
          <a:effectLst/>
        </p:spPr>
        <p:txBody>
          <a:bodyPr rtlCol="0" anchor="ctr"/>
          <a:lstStyle/>
          <a:p>
            <a:pPr algn="ctr"/>
          </a:p>
        </p:txBody>
      </p:sp>
      <p:sp>
        <p:nvSpPr>
          <p:cNvPr id="16" name="Rectangle 15"/>
          <p:cNvSpPr/>
          <p:nvPr/>
        </p:nvSpPr>
        <p:spPr>
          <a:xfrm>
            <a:off x="6199631" y="1600200"/>
            <a:ext cx="2615184" cy="73152"/>
          </a:xfrm>
          <a:prstGeom prst="rect">
            <a:avLst/>
          </a:prstGeom>
          <a:solidFill>
            <a:srgbClr val="0E7C86"/>
          </a:solidFill>
          <a:ln>
            <a:noFill/>
          </a:ln>
          <a:effectLst/>
        </p:spPr>
        <p:txBody>
          <a:bodyPr rtlCol="0" anchor="ctr"/>
          <a:lstStyle/>
          <a:p>
            <a:pPr algn="ctr"/>
          </a:p>
        </p:txBody>
      </p:sp>
      <p:sp>
        <p:nvSpPr>
          <p:cNvPr id="17" name="TextBox 16"/>
          <p:cNvSpPr txBox="1"/>
          <p:nvPr/>
        </p:nvSpPr>
        <p:spPr>
          <a:xfrm>
            <a:off x="6382512" y="1828800"/>
            <a:ext cx="2249424" cy="1828799"/>
          </a:xfrm>
          <a:prstGeom prst="rect">
            <a:avLst/>
          </a:prstGeom>
          <a:noFill/>
        </p:spPr>
        <p:txBody>
          <a:bodyPr wrap="square" lIns="0" tIns="0" rIns="0" bIns="0" anchor="t"/>
          <a:lstStyle/>
          <a:p>
            <a:pPr algn="l">
              <a:spcAft>
                <a:spcPts val="800"/>
              </a:spcAft>
            </a:pPr>
            <a:r>
              <a:rPr sz="2000" b="1">
                <a:solidFill>
                  <a:srgbClr val="1B2A41"/>
                </a:solidFill>
                <a:latin typeface="Arial"/>
              </a:rPr>
              <a:t>Hoàn thành trước khi bắt đầu</a:t>
            </a:r>
          </a:p>
          <a:p>
            <a:pPr algn="l">
              <a:spcAft>
                <a:spcPts val="600"/>
              </a:spcAft>
            </a:pPr>
            <a:r>
              <a:rPr sz="1700" b="0">
                <a:solidFill>
                  <a:srgbClr val="1F2933"/>
                </a:solidFill>
                <a:latin typeface="Arial"/>
              </a:rPr>
              <a:t>Đưa thẻ đang làm sang cột sau rồi mới kéo thẻ mới</a:t>
            </a:r>
          </a:p>
        </p:txBody>
      </p:sp>
      <p:sp>
        <p:nvSpPr>
          <p:cNvPr id="18" name="Rectangle 17"/>
          <p:cNvSpPr/>
          <p:nvPr/>
        </p:nvSpPr>
        <p:spPr>
          <a:xfrm>
            <a:off x="9025128" y="1600200"/>
            <a:ext cx="2615184" cy="2103120"/>
          </a:xfrm>
          <a:prstGeom prst="rect">
            <a:avLst/>
          </a:prstGeom>
          <a:solidFill>
            <a:srgbClr val="F3F6FA"/>
          </a:solidFill>
          <a:ln w="9525">
            <a:solidFill>
              <a:srgbClr val="D5DBE3"/>
            </a:solidFill>
          </a:ln>
          <a:effectLst/>
        </p:spPr>
        <p:txBody>
          <a:bodyPr rtlCol="0" anchor="ctr"/>
          <a:lstStyle/>
          <a:p>
            <a:pPr algn="ctr"/>
          </a:p>
        </p:txBody>
      </p:sp>
      <p:sp>
        <p:nvSpPr>
          <p:cNvPr id="19" name="Rectangle 18"/>
          <p:cNvSpPr/>
          <p:nvPr/>
        </p:nvSpPr>
        <p:spPr>
          <a:xfrm>
            <a:off x="9025128" y="1600200"/>
            <a:ext cx="2615184" cy="73152"/>
          </a:xfrm>
          <a:prstGeom prst="rect">
            <a:avLst/>
          </a:prstGeom>
          <a:solidFill>
            <a:srgbClr val="0E7C86"/>
          </a:solidFill>
          <a:ln>
            <a:noFill/>
          </a:ln>
          <a:effectLst/>
        </p:spPr>
        <p:txBody>
          <a:bodyPr rtlCol="0" anchor="ctr"/>
          <a:lstStyle/>
          <a:p>
            <a:pPr algn="ctr"/>
          </a:p>
        </p:txBody>
      </p:sp>
      <p:sp>
        <p:nvSpPr>
          <p:cNvPr id="20" name="TextBox 19"/>
          <p:cNvSpPr txBox="1"/>
          <p:nvPr/>
        </p:nvSpPr>
        <p:spPr>
          <a:xfrm>
            <a:off x="9208007" y="1828800"/>
            <a:ext cx="2249424" cy="1828799"/>
          </a:xfrm>
          <a:prstGeom prst="rect">
            <a:avLst/>
          </a:prstGeom>
          <a:noFill/>
        </p:spPr>
        <p:txBody>
          <a:bodyPr wrap="square" lIns="0" tIns="0" rIns="0" bIns="0" anchor="t"/>
          <a:lstStyle/>
          <a:p>
            <a:pPr algn="l">
              <a:spcAft>
                <a:spcPts val="800"/>
              </a:spcAft>
            </a:pPr>
            <a:r>
              <a:rPr sz="2000" b="1">
                <a:solidFill>
                  <a:srgbClr val="1B2A41"/>
                </a:solidFill>
                <a:latin typeface="Arial"/>
              </a:rPr>
              <a:t>Review và test là ưu tiên cao</a:t>
            </a:r>
          </a:p>
          <a:p>
            <a:pPr algn="l">
              <a:spcAft>
                <a:spcPts val="600"/>
              </a:spcAft>
            </a:pPr>
            <a:r>
              <a:rPr sz="1700" b="0">
                <a:solidFill>
                  <a:srgbClr val="1F2933"/>
                </a:solidFill>
                <a:latin typeface="Arial"/>
              </a:rPr>
              <a:t>Phản hồi review trong 1 ngày, không để đồng đội chờ</a:t>
            </a:r>
          </a:p>
        </p:txBody>
      </p:sp>
      <p:sp>
        <p:nvSpPr>
          <p:cNvPr id="21" name="Rectangle 20"/>
          <p:cNvSpPr/>
          <p:nvPr/>
        </p:nvSpPr>
        <p:spPr>
          <a:xfrm>
            <a:off x="548640" y="3931920"/>
            <a:ext cx="2615184" cy="2103120"/>
          </a:xfrm>
          <a:prstGeom prst="rect">
            <a:avLst/>
          </a:prstGeom>
          <a:solidFill>
            <a:srgbClr val="F3F6FA"/>
          </a:solidFill>
          <a:ln w="9525">
            <a:solidFill>
              <a:srgbClr val="D5DBE3"/>
            </a:solidFill>
          </a:ln>
          <a:effectLst/>
        </p:spPr>
        <p:txBody>
          <a:bodyPr rtlCol="0" anchor="ctr"/>
          <a:lstStyle/>
          <a:p>
            <a:pPr algn="ctr"/>
          </a:p>
        </p:txBody>
      </p:sp>
      <p:sp>
        <p:nvSpPr>
          <p:cNvPr id="22" name="Rectangle 21"/>
          <p:cNvSpPr/>
          <p:nvPr/>
        </p:nvSpPr>
        <p:spPr>
          <a:xfrm>
            <a:off x="548640" y="3931920"/>
            <a:ext cx="2615184" cy="73152"/>
          </a:xfrm>
          <a:prstGeom prst="rect">
            <a:avLst/>
          </a:prstGeom>
          <a:solidFill>
            <a:srgbClr val="0E7C86"/>
          </a:solidFill>
          <a:ln>
            <a:noFill/>
          </a:ln>
          <a:effectLst/>
        </p:spPr>
        <p:txBody>
          <a:bodyPr rtlCol="0" anchor="ctr"/>
          <a:lstStyle/>
          <a:p>
            <a:pPr algn="ctr"/>
          </a:p>
        </p:txBody>
      </p:sp>
      <p:sp>
        <p:nvSpPr>
          <p:cNvPr id="23" name="TextBox 22"/>
          <p:cNvSpPr txBox="1"/>
          <p:nvPr/>
        </p:nvSpPr>
        <p:spPr>
          <a:xfrm>
            <a:off x="731520" y="4160520"/>
            <a:ext cx="2249424" cy="1828799"/>
          </a:xfrm>
          <a:prstGeom prst="rect">
            <a:avLst/>
          </a:prstGeom>
          <a:noFill/>
        </p:spPr>
        <p:txBody>
          <a:bodyPr wrap="square" lIns="0" tIns="0" rIns="0" bIns="0" anchor="t"/>
          <a:lstStyle/>
          <a:p>
            <a:pPr algn="l">
              <a:spcAft>
                <a:spcPts val="800"/>
              </a:spcAft>
            </a:pPr>
            <a:r>
              <a:rPr sz="2000" b="1">
                <a:solidFill>
                  <a:srgbClr val="1B2A41"/>
                </a:solidFill>
                <a:latin typeface="Arial"/>
              </a:rPr>
              <a:t>Giữ WIP limit</a:t>
            </a:r>
          </a:p>
          <a:p>
            <a:pPr algn="l">
              <a:spcAft>
                <a:spcPts val="600"/>
              </a:spcAft>
            </a:pPr>
            <a:r>
              <a:rPr sz="1700" b="0">
                <a:solidFill>
                  <a:srgbClr val="1F2933"/>
                </a:solidFill>
                <a:latin typeface="Arial"/>
              </a:rPr>
              <a:t>Làm ít việc cùng lúc, hoàn thành nhanh hơn</a:t>
            </a:r>
          </a:p>
        </p:txBody>
      </p:sp>
      <p:sp>
        <p:nvSpPr>
          <p:cNvPr id="24" name="Rectangle 23"/>
          <p:cNvSpPr/>
          <p:nvPr/>
        </p:nvSpPr>
        <p:spPr>
          <a:xfrm>
            <a:off x="3374136" y="3931920"/>
            <a:ext cx="2615184" cy="2103120"/>
          </a:xfrm>
          <a:prstGeom prst="rect">
            <a:avLst/>
          </a:prstGeom>
          <a:solidFill>
            <a:srgbClr val="F3F6FA"/>
          </a:solidFill>
          <a:ln w="9525">
            <a:solidFill>
              <a:srgbClr val="D5DBE3"/>
            </a:solidFill>
          </a:ln>
          <a:effectLst/>
        </p:spPr>
        <p:txBody>
          <a:bodyPr rtlCol="0" anchor="ctr"/>
          <a:lstStyle/>
          <a:p>
            <a:pPr algn="ctr"/>
          </a:p>
        </p:txBody>
      </p:sp>
      <p:sp>
        <p:nvSpPr>
          <p:cNvPr id="25" name="Rectangle 24"/>
          <p:cNvSpPr/>
          <p:nvPr/>
        </p:nvSpPr>
        <p:spPr>
          <a:xfrm>
            <a:off x="3374136" y="3931920"/>
            <a:ext cx="2615184" cy="73152"/>
          </a:xfrm>
          <a:prstGeom prst="rect">
            <a:avLst/>
          </a:prstGeom>
          <a:solidFill>
            <a:srgbClr val="0E7C86"/>
          </a:solidFill>
          <a:ln>
            <a:noFill/>
          </a:ln>
          <a:effectLst/>
        </p:spPr>
        <p:txBody>
          <a:bodyPr rtlCol="0" anchor="ctr"/>
          <a:lstStyle/>
          <a:p>
            <a:pPr algn="ctr"/>
          </a:p>
        </p:txBody>
      </p:sp>
      <p:sp>
        <p:nvSpPr>
          <p:cNvPr id="26" name="TextBox 25"/>
          <p:cNvSpPr txBox="1"/>
          <p:nvPr/>
        </p:nvSpPr>
        <p:spPr>
          <a:xfrm>
            <a:off x="3557016" y="4160520"/>
            <a:ext cx="2249424" cy="1828799"/>
          </a:xfrm>
          <a:prstGeom prst="rect">
            <a:avLst/>
          </a:prstGeom>
          <a:noFill/>
        </p:spPr>
        <p:txBody>
          <a:bodyPr wrap="square" lIns="0" tIns="0" rIns="0" bIns="0" anchor="t"/>
          <a:lstStyle/>
          <a:p>
            <a:pPr algn="l">
              <a:spcAft>
                <a:spcPts val="800"/>
              </a:spcAft>
            </a:pPr>
            <a:r>
              <a:rPr sz="2000" b="1">
                <a:solidFill>
                  <a:srgbClr val="1B2A41"/>
                </a:solidFill>
                <a:latin typeface="Arial"/>
              </a:rPr>
              <a:t>Không thêm việc giữa sprint</a:t>
            </a:r>
          </a:p>
          <a:p>
            <a:pPr algn="l">
              <a:spcAft>
                <a:spcPts val="600"/>
              </a:spcAft>
            </a:pPr>
            <a:r>
              <a:rPr sz="1700" b="0">
                <a:solidFill>
                  <a:srgbClr val="1F2933"/>
                </a:solidFill>
                <a:latin typeface="Arial"/>
              </a:rPr>
              <a:t>Việc mới vào Open; nếu khẩn cấp thì đánh đổi</a:t>
            </a:r>
          </a:p>
        </p:txBody>
      </p:sp>
      <p:sp>
        <p:nvSpPr>
          <p:cNvPr id="27" name="Rectangle 26"/>
          <p:cNvSpPr/>
          <p:nvPr/>
        </p:nvSpPr>
        <p:spPr>
          <a:xfrm>
            <a:off x="6199631" y="3931920"/>
            <a:ext cx="2615184" cy="2103120"/>
          </a:xfrm>
          <a:prstGeom prst="rect">
            <a:avLst/>
          </a:prstGeom>
          <a:solidFill>
            <a:srgbClr val="F3F6FA"/>
          </a:solidFill>
          <a:ln w="9525">
            <a:solidFill>
              <a:srgbClr val="D5DBE3"/>
            </a:solidFill>
          </a:ln>
          <a:effectLst/>
        </p:spPr>
        <p:txBody>
          <a:bodyPr rtlCol="0" anchor="ctr"/>
          <a:lstStyle/>
          <a:p>
            <a:pPr algn="ctr"/>
          </a:p>
        </p:txBody>
      </p:sp>
      <p:sp>
        <p:nvSpPr>
          <p:cNvPr id="28" name="Rectangle 27"/>
          <p:cNvSpPr/>
          <p:nvPr/>
        </p:nvSpPr>
        <p:spPr>
          <a:xfrm>
            <a:off x="6199631" y="3931920"/>
            <a:ext cx="2615184" cy="73152"/>
          </a:xfrm>
          <a:prstGeom prst="rect">
            <a:avLst/>
          </a:prstGeom>
          <a:solidFill>
            <a:srgbClr val="0E7C86"/>
          </a:solidFill>
          <a:ln>
            <a:noFill/>
          </a:ln>
          <a:effectLst/>
        </p:spPr>
        <p:txBody>
          <a:bodyPr rtlCol="0" anchor="ctr"/>
          <a:lstStyle/>
          <a:p>
            <a:pPr algn="ctr"/>
          </a:p>
        </p:txBody>
      </p:sp>
      <p:sp>
        <p:nvSpPr>
          <p:cNvPr id="29" name="TextBox 28"/>
          <p:cNvSpPr txBox="1"/>
          <p:nvPr/>
        </p:nvSpPr>
        <p:spPr>
          <a:xfrm>
            <a:off x="6382512" y="4160520"/>
            <a:ext cx="2249424" cy="1828799"/>
          </a:xfrm>
          <a:prstGeom prst="rect">
            <a:avLst/>
          </a:prstGeom>
          <a:noFill/>
        </p:spPr>
        <p:txBody>
          <a:bodyPr wrap="square" lIns="0" tIns="0" rIns="0" bIns="0" anchor="t"/>
          <a:lstStyle/>
          <a:p>
            <a:pPr algn="l">
              <a:spcAft>
                <a:spcPts val="800"/>
              </a:spcAft>
            </a:pPr>
            <a:r>
              <a:rPr sz="2000" b="1">
                <a:solidFill>
                  <a:srgbClr val="1B2A41"/>
                </a:solidFill>
                <a:latin typeface="Arial"/>
              </a:rPr>
              <a:t>Minh bạch</a:t>
            </a:r>
          </a:p>
          <a:p>
            <a:pPr algn="l">
              <a:spcAft>
                <a:spcPts val="600"/>
              </a:spcAft>
            </a:pPr>
            <a:r>
              <a:rPr sz="1700" b="0">
                <a:solidFill>
                  <a:srgbClr val="1F2933"/>
                </a:solidFill>
                <a:latin typeface="Arial"/>
              </a:rPr>
              <a:t>Cập nhật board ngay, báo sớm khi có rủi ro</a:t>
            </a:r>
          </a:p>
        </p:txBody>
      </p:sp>
      <p:sp>
        <p:nvSpPr>
          <p:cNvPr id="30" name="Rectangle 29"/>
          <p:cNvSpPr/>
          <p:nvPr/>
        </p:nvSpPr>
        <p:spPr>
          <a:xfrm>
            <a:off x="9025128" y="3931920"/>
            <a:ext cx="2615184" cy="2103120"/>
          </a:xfrm>
          <a:prstGeom prst="rect">
            <a:avLst/>
          </a:prstGeom>
          <a:solidFill>
            <a:srgbClr val="F3F6FA"/>
          </a:solidFill>
          <a:ln w="9525">
            <a:solidFill>
              <a:srgbClr val="D5DBE3"/>
            </a:solidFill>
          </a:ln>
          <a:effectLst/>
        </p:spPr>
        <p:txBody>
          <a:bodyPr rtlCol="0" anchor="ctr"/>
          <a:lstStyle/>
          <a:p>
            <a:pPr algn="ctr"/>
          </a:p>
        </p:txBody>
      </p:sp>
      <p:sp>
        <p:nvSpPr>
          <p:cNvPr id="31" name="Rectangle 30"/>
          <p:cNvSpPr/>
          <p:nvPr/>
        </p:nvSpPr>
        <p:spPr>
          <a:xfrm>
            <a:off x="9025128" y="3931920"/>
            <a:ext cx="2615184" cy="73152"/>
          </a:xfrm>
          <a:prstGeom prst="rect">
            <a:avLst/>
          </a:prstGeom>
          <a:solidFill>
            <a:srgbClr val="0E7C86"/>
          </a:solidFill>
          <a:ln>
            <a:noFill/>
          </a:ln>
          <a:effectLst/>
        </p:spPr>
        <p:txBody>
          <a:bodyPr rtlCol="0" anchor="ctr"/>
          <a:lstStyle/>
          <a:p>
            <a:pPr algn="ctr"/>
          </a:p>
        </p:txBody>
      </p:sp>
      <p:sp>
        <p:nvSpPr>
          <p:cNvPr id="32" name="TextBox 31"/>
          <p:cNvSpPr txBox="1"/>
          <p:nvPr/>
        </p:nvSpPr>
        <p:spPr>
          <a:xfrm>
            <a:off x="9208007" y="4160520"/>
            <a:ext cx="2249424" cy="1828799"/>
          </a:xfrm>
          <a:prstGeom prst="rect">
            <a:avLst/>
          </a:prstGeom>
          <a:noFill/>
        </p:spPr>
        <p:txBody>
          <a:bodyPr wrap="square" lIns="0" tIns="0" rIns="0" bIns="0" anchor="t"/>
          <a:lstStyle/>
          <a:p>
            <a:pPr algn="l">
              <a:spcAft>
                <a:spcPts val="800"/>
              </a:spcAft>
            </a:pPr>
            <a:r>
              <a:rPr sz="2000" b="1">
                <a:solidFill>
                  <a:srgbClr val="1B2A41"/>
                </a:solidFill>
                <a:latin typeface="Arial"/>
              </a:rPr>
              <a:t>Retro luôn có hành động</a:t>
            </a:r>
          </a:p>
          <a:p>
            <a:pPr algn="l">
              <a:spcAft>
                <a:spcPts val="600"/>
              </a:spcAft>
            </a:pPr>
            <a:r>
              <a:rPr sz="1700" b="0">
                <a:solidFill>
                  <a:srgbClr val="1F2933"/>
                </a:solidFill>
                <a:latin typeface="Arial"/>
              </a:rPr>
              <a:t>Mỗi buổi chọn 1–2 cải tiến, có người chịu trách nhiệm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4 · VẬN HÀNH HIỆU QUẢ</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Chỉ số để cải tiến luồng</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0E7C86"/>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0E7C86"/>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18 / 21</a:t>
            </a:r>
          </a:p>
        </p:txBody>
      </p:sp>
      <p:sp>
        <p:nvSpPr>
          <p:cNvPr id="9" name="Rectangle 8"/>
          <p:cNvSpPr/>
          <p:nvPr/>
        </p:nvSpPr>
        <p:spPr>
          <a:xfrm>
            <a:off x="548640" y="1645920"/>
            <a:ext cx="3538728" cy="2011680"/>
          </a:xfrm>
          <a:prstGeom prst="rect">
            <a:avLst/>
          </a:prstGeom>
          <a:solidFill>
            <a:srgbClr val="F3F6FA"/>
          </a:solidFill>
          <a:ln w="9525">
            <a:solidFill>
              <a:srgbClr val="D5DBE3"/>
            </a:solidFill>
          </a:ln>
          <a:effectLst/>
        </p:spPr>
        <p:txBody>
          <a:bodyPr rtlCol="0" anchor="ctr"/>
          <a:lstStyle/>
          <a:p>
            <a:pPr algn="ctr"/>
          </a:p>
        </p:txBody>
      </p:sp>
      <p:sp>
        <p:nvSpPr>
          <p:cNvPr id="10" name="TextBox 9"/>
          <p:cNvSpPr txBox="1"/>
          <p:nvPr/>
        </p:nvSpPr>
        <p:spPr>
          <a:xfrm>
            <a:off x="777240" y="1828800"/>
            <a:ext cx="3081528" cy="1737360"/>
          </a:xfrm>
          <a:prstGeom prst="rect">
            <a:avLst/>
          </a:prstGeom>
          <a:noFill/>
        </p:spPr>
        <p:txBody>
          <a:bodyPr wrap="square" lIns="0" tIns="0" rIns="0" bIns="0" anchor="t"/>
          <a:lstStyle/>
          <a:p>
            <a:pPr algn="l">
              <a:spcAft>
                <a:spcPts val="800"/>
              </a:spcAft>
            </a:pPr>
            <a:r>
              <a:rPr sz="2200" b="1">
                <a:solidFill>
                  <a:srgbClr val="1B2A41"/>
                </a:solidFill>
                <a:latin typeface="Arial"/>
              </a:rPr>
              <a:t>Lead time</a:t>
            </a:r>
          </a:p>
          <a:p>
            <a:pPr algn="l">
              <a:spcAft>
                <a:spcPts val="600"/>
              </a:spcAft>
            </a:pPr>
            <a:r>
              <a:rPr sz="1800" b="0">
                <a:solidFill>
                  <a:srgbClr val="1F2933"/>
                </a:solidFill>
                <a:latin typeface="Arial"/>
              </a:rPr>
              <a:t>Từ lúc thẻ vào Open đến khi Released</a:t>
            </a:r>
          </a:p>
        </p:txBody>
      </p:sp>
      <p:sp>
        <p:nvSpPr>
          <p:cNvPr id="11" name="Rectangle 10"/>
          <p:cNvSpPr/>
          <p:nvPr/>
        </p:nvSpPr>
        <p:spPr>
          <a:xfrm>
            <a:off x="4325112" y="1645920"/>
            <a:ext cx="3538728" cy="2011680"/>
          </a:xfrm>
          <a:prstGeom prst="rect">
            <a:avLst/>
          </a:prstGeom>
          <a:solidFill>
            <a:srgbClr val="F3F6FA"/>
          </a:solidFill>
          <a:ln w="9525">
            <a:solidFill>
              <a:srgbClr val="D5DBE3"/>
            </a:solidFill>
          </a:ln>
          <a:effectLst/>
        </p:spPr>
        <p:txBody>
          <a:bodyPr rtlCol="0" anchor="ctr"/>
          <a:lstStyle/>
          <a:p>
            <a:pPr algn="ctr"/>
          </a:p>
        </p:txBody>
      </p:sp>
      <p:sp>
        <p:nvSpPr>
          <p:cNvPr id="12" name="TextBox 11"/>
          <p:cNvSpPr txBox="1"/>
          <p:nvPr/>
        </p:nvSpPr>
        <p:spPr>
          <a:xfrm>
            <a:off x="4553712" y="1828800"/>
            <a:ext cx="3081528" cy="1737360"/>
          </a:xfrm>
          <a:prstGeom prst="rect">
            <a:avLst/>
          </a:prstGeom>
          <a:noFill/>
        </p:spPr>
        <p:txBody>
          <a:bodyPr wrap="square" lIns="0" tIns="0" rIns="0" bIns="0" anchor="t"/>
          <a:lstStyle/>
          <a:p>
            <a:pPr algn="l">
              <a:spcAft>
                <a:spcPts val="800"/>
              </a:spcAft>
            </a:pPr>
            <a:r>
              <a:rPr sz="2200" b="1">
                <a:solidFill>
                  <a:srgbClr val="1B2A41"/>
                </a:solidFill>
                <a:latin typeface="Arial"/>
              </a:rPr>
              <a:t>Cycle time</a:t>
            </a:r>
          </a:p>
          <a:p>
            <a:pPr algn="l">
              <a:spcAft>
                <a:spcPts val="600"/>
              </a:spcAft>
            </a:pPr>
            <a:r>
              <a:rPr sz="1800" b="0">
                <a:solidFill>
                  <a:srgbClr val="1F2933"/>
                </a:solidFill>
                <a:latin typeface="Arial"/>
              </a:rPr>
              <a:t>Từ In Progress đến Released; đo tốc độ thực thi</a:t>
            </a:r>
          </a:p>
        </p:txBody>
      </p:sp>
      <p:sp>
        <p:nvSpPr>
          <p:cNvPr id="13" name="Rectangle 12"/>
          <p:cNvSpPr/>
          <p:nvPr/>
        </p:nvSpPr>
        <p:spPr>
          <a:xfrm>
            <a:off x="8101583" y="1645920"/>
            <a:ext cx="3538728" cy="2011680"/>
          </a:xfrm>
          <a:prstGeom prst="rect">
            <a:avLst/>
          </a:prstGeom>
          <a:solidFill>
            <a:srgbClr val="F3F6FA"/>
          </a:solidFill>
          <a:ln w="9525">
            <a:solidFill>
              <a:srgbClr val="D5DBE3"/>
            </a:solidFill>
          </a:ln>
          <a:effectLst/>
        </p:spPr>
        <p:txBody>
          <a:bodyPr rtlCol="0" anchor="ctr"/>
          <a:lstStyle/>
          <a:p>
            <a:pPr algn="ctr"/>
          </a:p>
        </p:txBody>
      </p:sp>
      <p:sp>
        <p:nvSpPr>
          <p:cNvPr id="14" name="TextBox 13"/>
          <p:cNvSpPr txBox="1"/>
          <p:nvPr/>
        </p:nvSpPr>
        <p:spPr>
          <a:xfrm>
            <a:off x="8330183" y="1828800"/>
            <a:ext cx="3081528" cy="1737360"/>
          </a:xfrm>
          <a:prstGeom prst="rect">
            <a:avLst/>
          </a:prstGeom>
          <a:noFill/>
        </p:spPr>
        <p:txBody>
          <a:bodyPr wrap="square" lIns="0" tIns="0" rIns="0" bIns="0" anchor="t"/>
          <a:lstStyle/>
          <a:p>
            <a:pPr algn="l">
              <a:spcAft>
                <a:spcPts val="800"/>
              </a:spcAft>
            </a:pPr>
            <a:r>
              <a:rPr sz="2200" b="1">
                <a:solidFill>
                  <a:srgbClr val="1B2A41"/>
                </a:solidFill>
                <a:latin typeface="Arial"/>
              </a:rPr>
              <a:t>Thời gian ở từng cột</a:t>
            </a:r>
          </a:p>
          <a:p>
            <a:pPr algn="l">
              <a:spcAft>
                <a:spcPts val="600"/>
              </a:spcAft>
            </a:pPr>
            <a:r>
              <a:rPr sz="1800" b="0">
                <a:solidFill>
                  <a:srgbClr val="1F2933"/>
                </a:solidFill>
                <a:latin typeface="Arial"/>
              </a:rPr>
              <a:t>Tìm điểm nghẽn: thường ở review, test và Waiting</a:t>
            </a:r>
          </a:p>
        </p:txBody>
      </p:sp>
      <p:sp>
        <p:nvSpPr>
          <p:cNvPr id="15" name="Rectangle 14"/>
          <p:cNvSpPr/>
          <p:nvPr/>
        </p:nvSpPr>
        <p:spPr>
          <a:xfrm>
            <a:off x="548640" y="3886200"/>
            <a:ext cx="3538728" cy="2011680"/>
          </a:xfrm>
          <a:prstGeom prst="rect">
            <a:avLst/>
          </a:prstGeom>
          <a:solidFill>
            <a:srgbClr val="F3F6FA"/>
          </a:solidFill>
          <a:ln w="9525">
            <a:solidFill>
              <a:srgbClr val="D5DBE3"/>
            </a:solidFill>
          </a:ln>
          <a:effectLst/>
        </p:spPr>
        <p:txBody>
          <a:bodyPr rtlCol="0" anchor="ctr"/>
          <a:lstStyle/>
          <a:p>
            <a:pPr algn="ctr"/>
          </a:p>
        </p:txBody>
      </p:sp>
      <p:sp>
        <p:nvSpPr>
          <p:cNvPr id="16" name="TextBox 15"/>
          <p:cNvSpPr txBox="1"/>
          <p:nvPr/>
        </p:nvSpPr>
        <p:spPr>
          <a:xfrm>
            <a:off x="777240" y="4069080"/>
            <a:ext cx="3081528" cy="1737360"/>
          </a:xfrm>
          <a:prstGeom prst="rect">
            <a:avLst/>
          </a:prstGeom>
          <a:noFill/>
        </p:spPr>
        <p:txBody>
          <a:bodyPr wrap="square" lIns="0" tIns="0" rIns="0" bIns="0" anchor="t"/>
          <a:lstStyle/>
          <a:p>
            <a:pPr algn="l">
              <a:spcAft>
                <a:spcPts val="800"/>
              </a:spcAft>
            </a:pPr>
            <a:r>
              <a:rPr sz="2200" b="1">
                <a:solidFill>
                  <a:srgbClr val="1B2A41"/>
                </a:solidFill>
                <a:latin typeface="Arial"/>
              </a:rPr>
              <a:t>Throughput</a:t>
            </a:r>
          </a:p>
          <a:p>
            <a:pPr algn="l">
              <a:spcAft>
                <a:spcPts val="600"/>
              </a:spcAft>
            </a:pPr>
            <a:r>
              <a:rPr sz="1800" b="0">
                <a:solidFill>
                  <a:srgbClr val="1F2933"/>
                </a:solidFill>
                <a:latin typeface="Arial"/>
              </a:rPr>
              <a:t>Số thẻ Released mỗi tuần hoặc sprint</a:t>
            </a:r>
          </a:p>
        </p:txBody>
      </p:sp>
      <p:sp>
        <p:nvSpPr>
          <p:cNvPr id="17" name="Rectangle 16"/>
          <p:cNvSpPr/>
          <p:nvPr/>
        </p:nvSpPr>
        <p:spPr>
          <a:xfrm>
            <a:off x="4325112" y="3886200"/>
            <a:ext cx="3538728" cy="2011680"/>
          </a:xfrm>
          <a:prstGeom prst="rect">
            <a:avLst/>
          </a:prstGeom>
          <a:solidFill>
            <a:srgbClr val="F3F6FA"/>
          </a:solidFill>
          <a:ln w="9525">
            <a:solidFill>
              <a:srgbClr val="D5DBE3"/>
            </a:solidFill>
          </a:ln>
          <a:effectLst/>
        </p:spPr>
        <p:txBody>
          <a:bodyPr rtlCol="0" anchor="ctr"/>
          <a:lstStyle/>
          <a:p>
            <a:pPr algn="ctr"/>
          </a:p>
        </p:txBody>
      </p:sp>
      <p:sp>
        <p:nvSpPr>
          <p:cNvPr id="18" name="TextBox 17"/>
          <p:cNvSpPr txBox="1"/>
          <p:nvPr/>
        </p:nvSpPr>
        <p:spPr>
          <a:xfrm>
            <a:off x="4553712" y="4069080"/>
            <a:ext cx="3081528" cy="1737360"/>
          </a:xfrm>
          <a:prstGeom prst="rect">
            <a:avLst/>
          </a:prstGeom>
          <a:noFill/>
        </p:spPr>
        <p:txBody>
          <a:bodyPr wrap="square" lIns="0" tIns="0" rIns="0" bIns="0" anchor="t"/>
          <a:lstStyle/>
          <a:p>
            <a:pPr algn="l">
              <a:spcAft>
                <a:spcPts val="800"/>
              </a:spcAft>
            </a:pPr>
            <a:r>
              <a:rPr sz="2200" b="1">
                <a:solidFill>
                  <a:srgbClr val="1B2A41"/>
                </a:solidFill>
                <a:latin typeface="Arial"/>
              </a:rPr>
              <a:t>Tỷ lệ reject</a:t>
            </a:r>
          </a:p>
          <a:p>
            <a:pPr algn="l">
              <a:spcAft>
                <a:spcPts val="600"/>
              </a:spcAft>
            </a:pPr>
            <a:r>
              <a:rPr sz="1800" b="0">
                <a:solidFill>
                  <a:srgbClr val="1F2933"/>
                </a:solidFill>
                <a:latin typeface="Arial"/>
              </a:rPr>
              <a:t>% thẻ bị đẩy ngược từ review hoặc test về In Progress</a:t>
            </a:r>
          </a:p>
        </p:txBody>
      </p:sp>
      <p:sp>
        <p:nvSpPr>
          <p:cNvPr id="19" name="Rectangle 18"/>
          <p:cNvSpPr/>
          <p:nvPr/>
        </p:nvSpPr>
        <p:spPr>
          <a:xfrm>
            <a:off x="8101583" y="3886200"/>
            <a:ext cx="3538728" cy="2011680"/>
          </a:xfrm>
          <a:prstGeom prst="rect">
            <a:avLst/>
          </a:prstGeom>
          <a:solidFill>
            <a:srgbClr val="0E7C86"/>
          </a:solidFill>
          <a:ln>
            <a:noFill/>
          </a:ln>
          <a:effectLst/>
        </p:spPr>
        <p:txBody>
          <a:bodyPr rtlCol="0" anchor="ctr" wrap="square" lIns="228600" tIns="91440" rIns="228600" bIns="91440"/>
          <a:lstStyle/>
          <a:p>
            <a:pPr algn="l">
              <a:spcAft>
                <a:spcPts val="600"/>
              </a:spcAft>
            </a:pPr>
            <a:r>
              <a:rPr sz="1800" b="1">
                <a:solidFill>
                  <a:srgbClr val="FFFFFF"/>
                </a:solidFill>
                <a:latin typeface="Arial"/>
              </a:rPr>
              <a:t>Dùng chỉ số để hiểu và cải tiến hệ thống, không để so sánh hay đánh giá cá nhân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4 · VẬN HÀNH HIỆU QUẢ</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Lỗi thường gặp</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0E7C86"/>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0E7C86"/>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19 / 21</a:t>
            </a:r>
          </a:p>
        </p:txBody>
      </p:sp>
      <p:graphicFrame>
        <p:nvGraphicFramePr>
          <p:cNvPr id="9" name="Table 8"/>
          <p:cNvGraphicFramePr>
            <a:graphicFrameLocks noGrp="1"/>
          </p:cNvGraphicFramePr>
          <p:nvPr/>
        </p:nvGraphicFramePr>
        <p:xfrm>
          <a:off x="548640" y="1600200"/>
          <a:ext cx="11091672" cy="4187952"/>
        </p:xfrm>
        <a:graphic>
          <a:graphicData uri="http://schemas.openxmlformats.org/drawingml/2006/table">
            <a:tbl>
              <a:tblPr firstRow="1" bandRow="1">
                <a:tableStyleId>{5C22544A-7EE6-4342-B048-85BDC9FD1C3A}</a:tableStyleId>
              </a:tblPr>
              <a:tblGrid>
                <a:gridCol w="4572000"/>
                <a:gridCol w="6519672"/>
              </a:tblGrid>
              <a:tr h="457200">
                <a:tc>
                  <a:txBody>
                    <a:bodyPr wrap="square"/>
                    <a:lstStyle/>
                    <a:p>
                      <a:r>
                        <a:rPr sz="1400" b="1">
                          <a:solidFill>
                            <a:srgbClr val="FFFFFF"/>
                          </a:solidFill>
                          <a:latin typeface="Arial"/>
                        </a:rPr>
                        <a:t>Dấu hiệu</a:t>
                      </a:r>
                    </a:p>
                  </a:txBody>
                  <a:tcPr marL="128016" marR="128016" marT="54864" marB="54864" anchor="ctr">
                    <a:solidFill>
                      <a:srgbClr val="1B2A41"/>
                    </a:solidFill>
                  </a:tcPr>
                </a:tc>
                <a:tc>
                  <a:txBody>
                    <a:bodyPr wrap="square"/>
                    <a:lstStyle/>
                    <a:p>
                      <a:r>
                        <a:rPr sz="1400" b="1">
                          <a:solidFill>
                            <a:srgbClr val="FFFFFF"/>
                          </a:solidFill>
                          <a:latin typeface="Arial"/>
                        </a:rPr>
                        <a:t>Cách xử lý</a:t>
                      </a:r>
                    </a:p>
                  </a:txBody>
                  <a:tcPr marL="128016" marR="128016" marT="54864" marB="54864" anchor="ctr">
                    <a:solidFill>
                      <a:srgbClr val="1B2A41"/>
                    </a:solidFill>
                  </a:tcPr>
                </a:tc>
              </a:tr>
              <a:tr h="621792">
                <a:tc>
                  <a:txBody>
                    <a:bodyPr wrap="square"/>
                    <a:lstStyle/>
                    <a:p>
                      <a:r>
                        <a:rPr sz="1700" b="1">
                          <a:solidFill>
                            <a:srgbClr val="1F2933"/>
                          </a:solidFill>
                          <a:latin typeface="Arial"/>
                        </a:rPr>
                        <a:t>Open có hàng trăm thẻ</a:t>
                      </a:r>
                    </a:p>
                  </a:txBody>
                  <a:tcPr marL="128016" marR="128016" marT="54864" marB="54864" anchor="ctr">
                    <a:solidFill>
                      <a:srgbClr val="FFFFFF"/>
                    </a:solidFill>
                  </a:tcPr>
                </a:tc>
                <a:tc>
                  <a:txBody>
                    <a:bodyPr wrap="square"/>
                    <a:lstStyle/>
                    <a:p>
                      <a:r>
                        <a:rPr sz="1700" b="0">
                          <a:solidFill>
                            <a:srgbClr val="1F2933"/>
                          </a:solidFill>
                          <a:latin typeface="Arial"/>
                        </a:rPr>
                        <a:t>Trưởng nhóm phân loại hằng tuần, đóng thẻ cũ</a:t>
                      </a:r>
                    </a:p>
                  </a:txBody>
                  <a:tcPr marL="128016" marR="128016" marT="54864" marB="54864" anchor="ctr">
                    <a:solidFill>
                      <a:srgbClr val="FFFFFF"/>
                    </a:solidFill>
                  </a:tcPr>
                </a:tc>
              </a:tr>
              <a:tr h="621792">
                <a:tc>
                  <a:txBody>
                    <a:bodyPr wrap="square"/>
                    <a:lstStyle/>
                    <a:p>
                      <a:r>
                        <a:rPr sz="1700" b="1">
                          <a:solidFill>
                            <a:srgbClr val="1F2933"/>
                          </a:solidFill>
                          <a:latin typeface="Arial"/>
                        </a:rPr>
                        <a:t>Thẻ nằm ở Waiting hàng tuần</a:t>
                      </a:r>
                    </a:p>
                  </a:txBody>
                  <a:tcPr marL="128016" marR="128016" marT="54864" marB="54864" anchor="ctr">
                    <a:solidFill>
                      <a:srgbClr val="F3F6FA"/>
                    </a:solidFill>
                  </a:tcPr>
                </a:tc>
                <a:tc>
                  <a:txBody>
                    <a:bodyPr wrap="square"/>
                    <a:lstStyle/>
                    <a:p>
                      <a:r>
                        <a:rPr sz="1700" b="0">
                          <a:solidFill>
                            <a:srgbClr val="1F2933"/>
                          </a:solidFill>
                          <a:latin typeface="Arial"/>
                        </a:rPr>
                        <a:t>Ghi người gỡ chặn và ngày dự kiến; leo thang ở Daily</a:t>
                      </a:r>
                    </a:p>
                  </a:txBody>
                  <a:tcPr marL="128016" marR="128016" marT="54864" marB="54864" anchor="ctr">
                    <a:solidFill>
                      <a:srgbClr val="F3F6FA"/>
                    </a:solidFill>
                  </a:tcPr>
                </a:tc>
              </a:tr>
              <a:tr h="621792">
                <a:tc>
                  <a:txBody>
                    <a:bodyPr wrap="square"/>
                    <a:lstStyle/>
                    <a:p>
                      <a:r>
                        <a:rPr sz="1700" b="1">
                          <a:solidFill>
                            <a:srgbClr val="1F2933"/>
                          </a:solidFill>
                          <a:latin typeface="Arial"/>
                        </a:rPr>
                        <a:t>In Progress quá nhiều thẻ</a:t>
                      </a:r>
                    </a:p>
                  </a:txBody>
                  <a:tcPr marL="128016" marR="128016" marT="54864" marB="54864" anchor="ctr">
                    <a:solidFill>
                      <a:srgbClr val="FFFFFF"/>
                    </a:solidFill>
                  </a:tcPr>
                </a:tc>
                <a:tc>
                  <a:txBody>
                    <a:bodyPr wrap="square"/>
                    <a:lstStyle/>
                    <a:p>
                      <a:r>
                        <a:rPr sz="1700" b="0">
                          <a:solidFill>
                            <a:srgbClr val="1F2933"/>
                          </a:solidFill>
                          <a:latin typeface="Arial"/>
                        </a:rPr>
                        <a:t>Giữ WIP limit, hỗ trợ đồng đội hoàn thành</a:t>
                      </a:r>
                    </a:p>
                  </a:txBody>
                  <a:tcPr marL="128016" marR="128016" marT="54864" marB="54864" anchor="ctr">
                    <a:solidFill>
                      <a:srgbClr val="FFFFFF"/>
                    </a:solidFill>
                  </a:tcPr>
                </a:tc>
              </a:tr>
              <a:tr h="621792">
                <a:tc>
                  <a:txBody>
                    <a:bodyPr wrap="square"/>
                    <a:lstStyle/>
                    <a:p>
                      <a:r>
                        <a:rPr sz="1700" b="1">
                          <a:solidFill>
                            <a:srgbClr val="1F2933"/>
                          </a:solidFill>
                          <a:latin typeface="Arial"/>
                        </a:rPr>
                        <a:t>Ready to Review/Test chất đống</a:t>
                      </a:r>
                    </a:p>
                  </a:txBody>
                  <a:tcPr marL="128016" marR="128016" marT="54864" marB="54864" anchor="ctr">
                    <a:solidFill>
                      <a:srgbClr val="F3F6FA"/>
                    </a:solidFill>
                  </a:tcPr>
                </a:tc>
                <a:tc>
                  <a:txBody>
                    <a:bodyPr wrap="square"/>
                    <a:lstStyle/>
                    <a:p>
                      <a:r>
                        <a:rPr sz="1700" b="0">
                          <a:solidFill>
                            <a:srgbClr val="1F2933"/>
                          </a:solidFill>
                          <a:latin typeface="Arial"/>
                        </a:rPr>
                        <a:t>Đặt khung giờ review, ưu tiên review trước khi làm mới</a:t>
                      </a:r>
                    </a:p>
                  </a:txBody>
                  <a:tcPr marL="128016" marR="128016" marT="54864" marB="54864" anchor="ctr">
                    <a:solidFill>
                      <a:srgbClr val="F3F6FA"/>
                    </a:solidFill>
                  </a:tcPr>
                </a:tc>
              </a:tr>
              <a:tr h="621792">
                <a:tc>
                  <a:txBody>
                    <a:bodyPr wrap="square"/>
                    <a:lstStyle/>
                    <a:p>
                      <a:r>
                        <a:rPr sz="1700" b="1">
                          <a:solidFill>
                            <a:srgbClr val="1F2933"/>
                          </a:solidFill>
                          <a:latin typeface="Arial"/>
                        </a:rPr>
                        <a:t>Kéo thẻ khi chưa đạt DoD</a:t>
                      </a:r>
                    </a:p>
                  </a:txBody>
                  <a:tcPr marL="128016" marR="128016" marT="54864" marB="54864" anchor="ctr">
                    <a:solidFill>
                      <a:srgbClr val="FFFFFF"/>
                    </a:solidFill>
                  </a:tcPr>
                </a:tc>
                <a:tc>
                  <a:txBody>
                    <a:bodyPr wrap="square"/>
                    <a:lstStyle/>
                    <a:p>
                      <a:r>
                        <a:rPr sz="1700" b="0">
                          <a:solidFill>
                            <a:srgbClr val="1F2933"/>
                          </a:solidFill>
                          <a:latin typeface="Arial"/>
                        </a:rPr>
                        <a:t>Người kéo tự kiểm tra checklist</a:t>
                      </a:r>
                    </a:p>
                  </a:txBody>
                  <a:tcPr marL="128016" marR="128016" marT="54864" marB="54864" anchor="ctr">
                    <a:solidFill>
                      <a:srgbClr val="FFFFFF"/>
                    </a:solidFill>
                  </a:tcPr>
                </a:tc>
              </a:tr>
              <a:tr h="621792">
                <a:tc>
                  <a:txBody>
                    <a:bodyPr wrap="square"/>
                    <a:lstStyle/>
                    <a:p>
                      <a:r>
                        <a:rPr sz="1700" b="1">
                          <a:solidFill>
                            <a:srgbClr val="1F2933"/>
                          </a:solidFill>
                          <a:latin typeface="Arial"/>
                        </a:rPr>
                        <a:t>Thêm việc thẳng vào sprint</a:t>
                      </a:r>
                    </a:p>
                  </a:txBody>
                  <a:tcPr marL="128016" marR="128016" marT="54864" marB="54864" anchor="ctr">
                    <a:solidFill>
                      <a:srgbClr val="F3F6FA"/>
                    </a:solidFill>
                  </a:tcPr>
                </a:tc>
                <a:tc>
                  <a:txBody>
                    <a:bodyPr wrap="square"/>
                    <a:lstStyle/>
                    <a:p>
                      <a:r>
                        <a:rPr sz="1700" b="0">
                          <a:solidFill>
                            <a:srgbClr val="1F2933"/>
                          </a:solidFill>
                          <a:latin typeface="Arial"/>
                        </a:rPr>
                        <a:t>Đi qua Open và Trưởng nhóm; đánh đổi việc tương đương</a:t>
                      </a:r>
                    </a:p>
                  </a:txBody>
                  <a:tcPr marL="128016" marR="128016" marT="54864" marB="54864" anchor="ctr">
                    <a:solidFill>
                      <a:srgbClr val="F3F6FA"/>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9184"/>
            <a:ext cx="11091672" cy="274320"/>
          </a:xfrm>
          <a:prstGeom prst="rect">
            <a:avLst/>
          </a:prstGeom>
          <a:noFill/>
        </p:spPr>
        <p:txBody>
          <a:bodyPr wrap="square" lIns="0" tIns="0" rIns="0" bIns="0" anchor="t"/>
          <a:lstStyle/>
          <a:p>
            <a:pPr algn="l">
              <a:spcAft>
                <a:spcPts val="600"/>
              </a:spcAft>
            </a:pPr>
            <a:r>
              <a:rPr sz="1200" b="1">
                <a:solidFill>
                  <a:srgbClr val="0E7C86"/>
                </a:solidFill>
                <a:latin typeface="Arial"/>
              </a:rPr>
              <a:t>PHẦN 4 · VẬN HÀNH HIỆU QUẢ</a:t>
            </a:r>
          </a:p>
        </p:txBody>
      </p:sp>
      <p:sp>
        <p:nvSpPr>
          <p:cNvPr id="3" name="TextBox 2"/>
          <p:cNvSpPr txBox="1"/>
          <p:nvPr/>
        </p:nvSpPr>
        <p:spPr>
          <a:xfrm>
            <a:off x="548640" y="621792"/>
            <a:ext cx="11091672" cy="731520"/>
          </a:xfrm>
          <a:prstGeom prst="rect">
            <a:avLst/>
          </a:prstGeom>
          <a:noFill/>
        </p:spPr>
        <p:txBody>
          <a:bodyPr wrap="square" lIns="0" tIns="0" rIns="0" bIns="0" anchor="ctr"/>
          <a:lstStyle/>
          <a:p>
            <a:pPr algn="l">
              <a:spcAft>
                <a:spcPts val="600"/>
              </a:spcAft>
            </a:pPr>
            <a:r>
              <a:rPr sz="3200" b="1">
                <a:solidFill>
                  <a:srgbClr val="1B2A41"/>
                </a:solidFill>
                <a:latin typeface="Arial"/>
              </a:rPr>
              <a:t>Bắt đầu từ đâu</a:t>
            </a:r>
          </a:p>
        </p:txBody>
      </p:sp>
      <p:sp>
        <p:nvSpPr>
          <p:cNvPr id="4" name="Rectangle 3"/>
          <p:cNvSpPr/>
          <p:nvPr/>
        </p:nvSpPr>
        <p:spPr>
          <a:xfrm>
            <a:off x="548640" y="6492240"/>
            <a:ext cx="822960" cy="64008"/>
          </a:xfrm>
          <a:prstGeom prst="rect">
            <a:avLst/>
          </a:prstGeom>
          <a:solidFill>
            <a:srgbClr val="0E7C86"/>
          </a:solidFill>
          <a:ln>
            <a:noFill/>
          </a:ln>
          <a:effectLst/>
        </p:spPr>
        <p:txBody>
          <a:bodyPr rtlCol="0" anchor="ctr"/>
          <a:lstStyle/>
          <a:p>
            <a:pPr algn="ctr"/>
          </a:p>
        </p:txBody>
      </p:sp>
      <p:sp>
        <p:nvSpPr>
          <p:cNvPr id="5" name="Rectangle 4"/>
          <p:cNvSpPr/>
          <p:nvPr/>
        </p:nvSpPr>
        <p:spPr>
          <a:xfrm>
            <a:off x="1444752" y="6492240"/>
            <a:ext cx="822960" cy="64008"/>
          </a:xfrm>
          <a:prstGeom prst="rect">
            <a:avLst/>
          </a:prstGeom>
          <a:solidFill>
            <a:srgbClr val="0E7C86"/>
          </a:solidFill>
          <a:ln>
            <a:noFill/>
          </a:ln>
          <a:effectLst/>
        </p:spPr>
        <p:txBody>
          <a:bodyPr rtlCol="0" anchor="ctr"/>
          <a:lstStyle/>
          <a:p>
            <a:pPr algn="ctr"/>
          </a:p>
        </p:txBody>
      </p:sp>
      <p:sp>
        <p:nvSpPr>
          <p:cNvPr id="6" name="Rectangle 5"/>
          <p:cNvSpPr/>
          <p:nvPr/>
        </p:nvSpPr>
        <p:spPr>
          <a:xfrm>
            <a:off x="2340864" y="6492240"/>
            <a:ext cx="822960" cy="64008"/>
          </a:xfrm>
          <a:prstGeom prst="rect">
            <a:avLst/>
          </a:prstGeom>
          <a:solidFill>
            <a:srgbClr val="0E7C86"/>
          </a:solidFill>
          <a:ln>
            <a:noFill/>
          </a:ln>
          <a:effectLst/>
        </p:spPr>
        <p:txBody>
          <a:bodyPr rtlCol="0" anchor="ctr"/>
          <a:lstStyle/>
          <a:p>
            <a:pPr algn="ctr"/>
          </a:p>
        </p:txBody>
      </p:sp>
      <p:sp>
        <p:nvSpPr>
          <p:cNvPr id="7" name="Rectangle 6"/>
          <p:cNvSpPr/>
          <p:nvPr/>
        </p:nvSpPr>
        <p:spPr>
          <a:xfrm>
            <a:off x="3236976" y="6492240"/>
            <a:ext cx="822960" cy="64008"/>
          </a:xfrm>
          <a:prstGeom prst="rect">
            <a:avLst/>
          </a:prstGeom>
          <a:solidFill>
            <a:srgbClr val="0E7C86"/>
          </a:solidFill>
          <a:ln>
            <a:noFill/>
          </a:ln>
          <a:effectLst/>
        </p:spPr>
        <p:txBody>
          <a:bodyPr rtlCol="0" anchor="ctr"/>
          <a:lstStyle/>
          <a:p>
            <a:pPr algn="ctr"/>
          </a:p>
        </p:txBody>
      </p:sp>
      <p:sp>
        <p:nvSpPr>
          <p:cNvPr id="8" name="TextBox 7"/>
          <p:cNvSpPr txBox="1"/>
          <p:nvPr/>
        </p:nvSpPr>
        <p:spPr>
          <a:xfrm>
            <a:off x="10543032" y="6419088"/>
            <a:ext cx="1097280" cy="228600"/>
          </a:xfrm>
          <a:prstGeom prst="rect">
            <a:avLst/>
          </a:prstGeom>
          <a:noFill/>
        </p:spPr>
        <p:txBody>
          <a:bodyPr wrap="square" lIns="0" tIns="0" rIns="0" bIns="0" anchor="t"/>
          <a:lstStyle/>
          <a:p>
            <a:pPr algn="r">
              <a:spcAft>
                <a:spcPts val="600"/>
              </a:spcAft>
            </a:pPr>
            <a:r>
              <a:rPr sz="1100" b="0">
                <a:solidFill>
                  <a:srgbClr val="5F6B7A"/>
                </a:solidFill>
                <a:latin typeface="Arial"/>
              </a:rPr>
              <a:t>20 / 21</a:t>
            </a:r>
          </a:p>
        </p:txBody>
      </p:sp>
      <p:sp>
        <p:nvSpPr>
          <p:cNvPr id="9" name="Rectangle 8"/>
          <p:cNvSpPr/>
          <p:nvPr/>
        </p:nvSpPr>
        <p:spPr>
          <a:xfrm>
            <a:off x="548640" y="1600200"/>
            <a:ext cx="3538728" cy="3200400"/>
          </a:xfrm>
          <a:prstGeom prst="rect">
            <a:avLst/>
          </a:prstGeom>
          <a:solidFill>
            <a:srgbClr val="F3F6FA"/>
          </a:solidFill>
          <a:ln w="9525">
            <a:solidFill>
              <a:srgbClr val="D5DBE3"/>
            </a:solidFill>
          </a:ln>
          <a:effectLst/>
        </p:spPr>
        <p:txBody>
          <a:bodyPr rtlCol="0" anchor="ctr"/>
          <a:lstStyle/>
          <a:p>
            <a:pPr algn="ctr"/>
          </a:p>
        </p:txBody>
      </p:sp>
      <p:sp>
        <p:nvSpPr>
          <p:cNvPr id="10" name="Rectangle 9"/>
          <p:cNvSpPr/>
          <p:nvPr/>
        </p:nvSpPr>
        <p:spPr>
          <a:xfrm>
            <a:off x="548640" y="1600200"/>
            <a:ext cx="3538728" cy="594360"/>
          </a:xfrm>
          <a:prstGeom prst="rect">
            <a:avLst/>
          </a:prstGeom>
          <a:solidFill>
            <a:srgbClr val="1B2A41"/>
          </a:solidFill>
          <a:ln>
            <a:noFill/>
          </a:ln>
          <a:effectLst/>
        </p:spPr>
        <p:txBody>
          <a:bodyPr rtlCol="0" anchor="ctr" wrap="square" lIns="228600"/>
          <a:lstStyle/>
          <a:p>
            <a:pPr algn="l">
              <a:spcAft>
                <a:spcPts val="600"/>
              </a:spcAft>
            </a:pPr>
            <a:r>
              <a:rPr sz="2000" b="1">
                <a:solidFill>
                  <a:srgbClr val="FFFFFF"/>
                </a:solidFill>
                <a:latin typeface="Arial"/>
              </a:rPr>
              <a:t>Đầu sprint</a:t>
            </a:r>
          </a:p>
        </p:txBody>
      </p:sp>
      <p:sp>
        <p:nvSpPr>
          <p:cNvPr id="11" name="TextBox 10"/>
          <p:cNvSpPr txBox="1"/>
          <p:nvPr/>
        </p:nvSpPr>
        <p:spPr>
          <a:xfrm>
            <a:off x="777240" y="2377440"/>
            <a:ext cx="3081528" cy="2377440"/>
          </a:xfrm>
          <a:prstGeom prst="rect">
            <a:avLst/>
          </a:prstGeom>
          <a:noFill/>
        </p:spPr>
        <p:txBody>
          <a:bodyPr wrap="square" lIns="0" tIns="0" rIns="0" bIns="0" anchor="t"/>
          <a:lstStyle/>
          <a:p>
            <a:pPr algn="l" marL="237744" indent="-237744">
              <a:spcAft>
                <a:spcPts val="1200"/>
              </a:spcAft>
              <a:buChar char="•"/>
            </a:pPr>
            <a:r>
              <a:rPr sz="1700" b="0">
                <a:solidFill>
                  <a:srgbClr val="1F2933"/>
                </a:solidFill>
                <a:latin typeface="Arial"/>
              </a:rPr>
              <a:t>Viết Sprint Goal thành một câu</a:t>
            </a:r>
          </a:p>
          <a:p>
            <a:pPr algn="l" marL="237744" indent="-237744">
              <a:spcAft>
                <a:spcPts val="1200"/>
              </a:spcAft>
              <a:buChar char="•"/>
            </a:pPr>
            <a:r>
              <a:rPr sz="1700" b="0">
                <a:solidFill>
                  <a:srgbClr val="1F2933"/>
                </a:solidFill>
                <a:latin typeface="Arial"/>
              </a:rPr>
              <a:t>Mọi thẻ đạt DoR</a:t>
            </a:r>
          </a:p>
          <a:p>
            <a:pPr algn="l" marL="237744" indent="-237744">
              <a:spcAft>
                <a:spcPts val="1200"/>
              </a:spcAft>
              <a:buChar char="•"/>
            </a:pPr>
            <a:r>
              <a:rPr sz="1700" b="0">
                <a:solidFill>
                  <a:srgbClr val="1F2933"/>
                </a:solidFill>
                <a:latin typeface="Arial"/>
              </a:rPr>
              <a:t>Tổng ước lượng vừa năng lực nhóm</a:t>
            </a:r>
          </a:p>
        </p:txBody>
      </p:sp>
      <p:sp>
        <p:nvSpPr>
          <p:cNvPr id="12" name="Rectangle 11"/>
          <p:cNvSpPr/>
          <p:nvPr/>
        </p:nvSpPr>
        <p:spPr>
          <a:xfrm>
            <a:off x="4325112" y="1600200"/>
            <a:ext cx="3538728" cy="3200400"/>
          </a:xfrm>
          <a:prstGeom prst="rect">
            <a:avLst/>
          </a:prstGeom>
          <a:solidFill>
            <a:srgbClr val="F3F6FA"/>
          </a:solidFill>
          <a:ln w="9525">
            <a:solidFill>
              <a:srgbClr val="D5DBE3"/>
            </a:solidFill>
          </a:ln>
          <a:effectLst/>
        </p:spPr>
        <p:txBody>
          <a:bodyPr rtlCol="0" anchor="ctr"/>
          <a:lstStyle/>
          <a:p>
            <a:pPr algn="ctr"/>
          </a:p>
        </p:txBody>
      </p:sp>
      <p:sp>
        <p:nvSpPr>
          <p:cNvPr id="13" name="Rectangle 12"/>
          <p:cNvSpPr/>
          <p:nvPr/>
        </p:nvSpPr>
        <p:spPr>
          <a:xfrm>
            <a:off x="4325112" y="1600200"/>
            <a:ext cx="3538728" cy="594360"/>
          </a:xfrm>
          <a:prstGeom prst="rect">
            <a:avLst/>
          </a:prstGeom>
          <a:solidFill>
            <a:srgbClr val="1B2A41"/>
          </a:solidFill>
          <a:ln>
            <a:noFill/>
          </a:ln>
          <a:effectLst/>
        </p:spPr>
        <p:txBody>
          <a:bodyPr rtlCol="0" anchor="ctr" wrap="square" lIns="228600"/>
          <a:lstStyle/>
          <a:p>
            <a:pPr algn="l">
              <a:spcAft>
                <a:spcPts val="600"/>
              </a:spcAft>
            </a:pPr>
            <a:r>
              <a:rPr sz="2000" b="1">
                <a:solidFill>
                  <a:srgbClr val="FFFFFF"/>
                </a:solidFill>
                <a:latin typeface="Arial"/>
              </a:rPr>
              <a:t>Hằng ngày</a:t>
            </a:r>
          </a:p>
        </p:txBody>
      </p:sp>
      <p:sp>
        <p:nvSpPr>
          <p:cNvPr id="14" name="TextBox 13"/>
          <p:cNvSpPr txBox="1"/>
          <p:nvPr/>
        </p:nvSpPr>
        <p:spPr>
          <a:xfrm>
            <a:off x="4553712" y="2377440"/>
            <a:ext cx="3081528" cy="2377440"/>
          </a:xfrm>
          <a:prstGeom prst="rect">
            <a:avLst/>
          </a:prstGeom>
          <a:noFill/>
        </p:spPr>
        <p:txBody>
          <a:bodyPr wrap="square" lIns="0" tIns="0" rIns="0" bIns="0" anchor="t"/>
          <a:lstStyle/>
          <a:p>
            <a:pPr algn="l" marL="237744" indent="-237744">
              <a:spcAft>
                <a:spcPts val="1200"/>
              </a:spcAft>
              <a:buChar char="•"/>
            </a:pPr>
            <a:r>
              <a:rPr sz="1700" b="0">
                <a:solidFill>
                  <a:srgbClr val="1F2933"/>
                </a:solidFill>
                <a:latin typeface="Arial"/>
              </a:rPr>
              <a:t>Duyệt board từ phải sang trái</a:t>
            </a:r>
          </a:p>
          <a:p>
            <a:pPr algn="l" marL="237744" indent="-237744">
              <a:spcAft>
                <a:spcPts val="1200"/>
              </a:spcAft>
              <a:buChar char="•"/>
            </a:pPr>
            <a:r>
              <a:rPr sz="1700" b="0">
                <a:solidFill>
                  <a:srgbClr val="1F2933"/>
                </a:solidFill>
                <a:latin typeface="Arial"/>
              </a:rPr>
              <a:t>Thẻ Waiting quá 2 ngày đã leo thang</a:t>
            </a:r>
          </a:p>
          <a:p>
            <a:pPr algn="l" marL="237744" indent="-237744">
              <a:spcAft>
                <a:spcPts val="1200"/>
              </a:spcAft>
              <a:buChar char="•"/>
            </a:pPr>
            <a:r>
              <a:rPr sz="1700" b="0">
                <a:solidFill>
                  <a:srgbClr val="1F2933"/>
                </a:solidFill>
                <a:latin typeface="Arial"/>
              </a:rPr>
              <a:t>Không cột nào vượt WIP limit</a:t>
            </a:r>
          </a:p>
        </p:txBody>
      </p:sp>
      <p:sp>
        <p:nvSpPr>
          <p:cNvPr id="15" name="Rectangle 14"/>
          <p:cNvSpPr/>
          <p:nvPr/>
        </p:nvSpPr>
        <p:spPr>
          <a:xfrm>
            <a:off x="8101583" y="1600200"/>
            <a:ext cx="3538728" cy="3200400"/>
          </a:xfrm>
          <a:prstGeom prst="rect">
            <a:avLst/>
          </a:prstGeom>
          <a:solidFill>
            <a:srgbClr val="F3F6FA"/>
          </a:solidFill>
          <a:ln w="9525">
            <a:solidFill>
              <a:srgbClr val="D5DBE3"/>
            </a:solidFill>
          </a:ln>
          <a:effectLst/>
        </p:spPr>
        <p:txBody>
          <a:bodyPr rtlCol="0" anchor="ctr"/>
          <a:lstStyle/>
          <a:p>
            <a:pPr algn="ctr"/>
          </a:p>
        </p:txBody>
      </p:sp>
      <p:sp>
        <p:nvSpPr>
          <p:cNvPr id="16" name="Rectangle 15"/>
          <p:cNvSpPr/>
          <p:nvPr/>
        </p:nvSpPr>
        <p:spPr>
          <a:xfrm>
            <a:off x="8101583" y="1600200"/>
            <a:ext cx="3538728" cy="594360"/>
          </a:xfrm>
          <a:prstGeom prst="rect">
            <a:avLst/>
          </a:prstGeom>
          <a:solidFill>
            <a:srgbClr val="1B2A41"/>
          </a:solidFill>
          <a:ln>
            <a:noFill/>
          </a:ln>
          <a:effectLst/>
        </p:spPr>
        <p:txBody>
          <a:bodyPr rtlCol="0" anchor="ctr" wrap="square" lIns="228600"/>
          <a:lstStyle/>
          <a:p>
            <a:pPr algn="l">
              <a:spcAft>
                <a:spcPts val="600"/>
              </a:spcAft>
            </a:pPr>
            <a:r>
              <a:rPr sz="2000" b="1">
                <a:solidFill>
                  <a:srgbClr val="FFFFFF"/>
                </a:solidFill>
                <a:latin typeface="Arial"/>
              </a:rPr>
              <a:t>Cuối sprint</a:t>
            </a:r>
          </a:p>
        </p:txBody>
      </p:sp>
      <p:sp>
        <p:nvSpPr>
          <p:cNvPr id="17" name="TextBox 16"/>
          <p:cNvSpPr txBox="1"/>
          <p:nvPr/>
        </p:nvSpPr>
        <p:spPr>
          <a:xfrm>
            <a:off x="8330183" y="2377440"/>
            <a:ext cx="3081528" cy="2377440"/>
          </a:xfrm>
          <a:prstGeom prst="rect">
            <a:avLst/>
          </a:prstGeom>
          <a:noFill/>
        </p:spPr>
        <p:txBody>
          <a:bodyPr wrap="square" lIns="0" tIns="0" rIns="0" bIns="0" anchor="t"/>
          <a:lstStyle/>
          <a:p>
            <a:pPr algn="l" marL="237744" indent="-237744">
              <a:spcAft>
                <a:spcPts val="1200"/>
              </a:spcAft>
              <a:buChar char="•"/>
            </a:pPr>
            <a:r>
              <a:rPr sz="1700" b="0">
                <a:solidFill>
                  <a:srgbClr val="1F2933"/>
                </a:solidFill>
                <a:latin typeface="Arial"/>
              </a:rPr>
              <a:t>Demo và xác nhận thẻ đã xong</a:t>
            </a:r>
          </a:p>
          <a:p>
            <a:pPr algn="l" marL="237744" indent="-237744">
              <a:spcAft>
                <a:spcPts val="1200"/>
              </a:spcAft>
              <a:buChar char="•"/>
            </a:pPr>
            <a:r>
              <a:rPr sz="1700" b="0">
                <a:solidFill>
                  <a:srgbClr val="1F2933"/>
                </a:solidFill>
                <a:latin typeface="Arial"/>
              </a:rPr>
              <a:t>Thẻ chưa xong về Product Backlog</a:t>
            </a:r>
          </a:p>
          <a:p>
            <a:pPr algn="l" marL="237744" indent="-237744">
              <a:spcAft>
                <a:spcPts val="1200"/>
              </a:spcAft>
              <a:buChar char="•"/>
            </a:pPr>
            <a:r>
              <a:rPr sz="1700" b="0">
                <a:solidFill>
                  <a:srgbClr val="1F2933"/>
                </a:solidFill>
                <a:latin typeface="Arial"/>
              </a:rPr>
              <a:t>Chọn 1–2 cải tiến, có người chịu trách nhiệm</a:t>
            </a:r>
          </a:p>
        </p:txBody>
      </p:sp>
      <p:sp>
        <p:nvSpPr>
          <p:cNvPr id="18" name="Rectangle 17"/>
          <p:cNvSpPr/>
          <p:nvPr/>
        </p:nvSpPr>
        <p:spPr>
          <a:xfrm>
            <a:off x="548640" y="5120640"/>
            <a:ext cx="11091672" cy="731520"/>
          </a:xfrm>
          <a:prstGeom prst="rect">
            <a:avLst/>
          </a:prstGeom>
          <a:solidFill>
            <a:srgbClr val="0E7C86"/>
          </a:solidFill>
          <a:ln>
            <a:noFill/>
          </a:ln>
          <a:effectLst/>
        </p:spPr>
        <p:txBody>
          <a:bodyPr rtlCol="0" anchor="ctr" wrap="square" lIns="109728" tIns="73152" rIns="109728" bIns="73152"/>
          <a:lstStyle/>
          <a:p>
            <a:pPr algn="ctr">
              <a:spcAft>
                <a:spcPts val="600"/>
              </a:spcAft>
            </a:pPr>
            <a:r>
              <a:rPr sz="1800" b="1">
                <a:solidFill>
                  <a:srgbClr val="FFFFFF"/>
                </a:solidFill>
                <a:latin typeface="Arial"/>
              </a:rPr>
              <a:t>Cần chốt hôm nay: tên Điều phối viên · WIP limit ban đầu · độ dài sprint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822960" y="822960"/>
            <a:ext cx="10515600" cy="731520"/>
          </a:xfrm>
          <a:prstGeom prst="rect">
            <a:avLst/>
          </a:prstGeom>
          <a:noFill/>
        </p:spPr>
        <p:txBody>
          <a:bodyPr wrap="square" lIns="0" tIns="0" rIns="0" bIns="0" anchor="t"/>
          <a:lstStyle/>
          <a:p>
            <a:pPr algn="l">
              <a:spcAft>
                <a:spcPts val="600"/>
              </a:spcAft>
            </a:pPr>
            <a:r>
              <a:rPr sz="3600" b="1">
                <a:solidFill>
                  <a:srgbClr val="FFFFFF"/>
                </a:solidFill>
                <a:latin typeface="Arial"/>
              </a:rPr>
              <a:t>3 điều cần nhớ</a:t>
            </a:r>
          </a:p>
        </p:txBody>
      </p:sp>
      <p:sp>
        <p:nvSpPr>
          <p:cNvPr id="3" name="Oval 2"/>
          <p:cNvSpPr/>
          <p:nvPr/>
        </p:nvSpPr>
        <p:spPr>
          <a:xfrm>
            <a:off x="822960" y="1828800"/>
            <a:ext cx="731520" cy="731520"/>
          </a:xfrm>
          <a:prstGeom prst="ellipse">
            <a:avLst/>
          </a:prstGeom>
          <a:solidFill>
            <a:srgbClr val="0E7C86"/>
          </a:solidFill>
          <a:ln>
            <a:noFill/>
          </a:ln>
          <a:effectLst/>
        </p:spPr>
        <p:txBody>
          <a:bodyPr rtlCol="0" anchor="ctr" wrap="square" lIns="0" tIns="0" rIns="0" bIns="0"/>
          <a:lstStyle/>
          <a:p>
            <a:pPr algn="ctr">
              <a:spcAft>
                <a:spcPts val="600"/>
              </a:spcAft>
            </a:pPr>
            <a:r>
              <a:rPr sz="2400" b="1">
                <a:solidFill>
                  <a:srgbClr val="FFFFFF"/>
                </a:solidFill>
                <a:latin typeface="Arial"/>
              </a:rPr>
              <a:t>1</a:t>
            </a:r>
          </a:p>
        </p:txBody>
      </p:sp>
      <p:sp>
        <p:nvSpPr>
          <p:cNvPr id="4" name="TextBox 3"/>
          <p:cNvSpPr txBox="1"/>
          <p:nvPr/>
        </p:nvSpPr>
        <p:spPr>
          <a:xfrm>
            <a:off x="1828800" y="1828800"/>
            <a:ext cx="9601200" cy="731520"/>
          </a:xfrm>
          <a:prstGeom prst="rect">
            <a:avLst/>
          </a:prstGeom>
          <a:noFill/>
        </p:spPr>
        <p:txBody>
          <a:bodyPr wrap="square" lIns="0" tIns="0" rIns="0" bIns="0" anchor="ctr"/>
          <a:lstStyle/>
          <a:p>
            <a:pPr algn="l">
              <a:spcAft>
                <a:spcPts val="600"/>
              </a:spcAft>
            </a:pPr>
            <a:r>
              <a:rPr sz="2600" b="0">
                <a:solidFill>
                  <a:srgbClr val="FFFFFF"/>
                </a:solidFill>
                <a:latin typeface="Arial"/>
              </a:rPr>
              <a:t>Thẻ chỉ sang cột sau khi đạt điều kiện (DoR, DoD)</a:t>
            </a:r>
          </a:p>
        </p:txBody>
      </p:sp>
      <p:sp>
        <p:nvSpPr>
          <p:cNvPr id="5" name="Oval 4"/>
          <p:cNvSpPr/>
          <p:nvPr/>
        </p:nvSpPr>
        <p:spPr>
          <a:xfrm>
            <a:off x="822960" y="2880360"/>
            <a:ext cx="731520" cy="731520"/>
          </a:xfrm>
          <a:prstGeom prst="ellipse">
            <a:avLst/>
          </a:prstGeom>
          <a:solidFill>
            <a:srgbClr val="0E7C86"/>
          </a:solidFill>
          <a:ln>
            <a:noFill/>
          </a:ln>
          <a:effectLst/>
        </p:spPr>
        <p:txBody>
          <a:bodyPr rtlCol="0" anchor="ctr" wrap="square" lIns="0" tIns="0" rIns="0" bIns="0"/>
          <a:lstStyle/>
          <a:p>
            <a:pPr algn="ctr">
              <a:spcAft>
                <a:spcPts val="600"/>
              </a:spcAft>
            </a:pPr>
            <a:r>
              <a:rPr sz="2400" b="1">
                <a:solidFill>
                  <a:srgbClr val="FFFFFF"/>
                </a:solidFill>
                <a:latin typeface="Arial"/>
              </a:rPr>
              <a:t>2</a:t>
            </a:r>
          </a:p>
        </p:txBody>
      </p:sp>
      <p:sp>
        <p:nvSpPr>
          <p:cNvPr id="6" name="TextBox 5"/>
          <p:cNvSpPr txBox="1"/>
          <p:nvPr/>
        </p:nvSpPr>
        <p:spPr>
          <a:xfrm>
            <a:off x="1828800" y="2880360"/>
            <a:ext cx="9601200" cy="731520"/>
          </a:xfrm>
          <a:prstGeom prst="rect">
            <a:avLst/>
          </a:prstGeom>
          <a:noFill/>
        </p:spPr>
        <p:txBody>
          <a:bodyPr wrap="square" lIns="0" tIns="0" rIns="0" bIns="0" anchor="ctr"/>
          <a:lstStyle/>
          <a:p>
            <a:pPr algn="l">
              <a:spcAft>
                <a:spcPts val="600"/>
              </a:spcAft>
            </a:pPr>
            <a:r>
              <a:rPr sz="2600" b="0">
                <a:solidFill>
                  <a:srgbClr val="FFFFFF"/>
                </a:solidFill>
                <a:latin typeface="Arial"/>
              </a:rPr>
              <a:t>Dừng bắt đầu, tập trung hoàn thành</a:t>
            </a:r>
          </a:p>
        </p:txBody>
      </p:sp>
      <p:sp>
        <p:nvSpPr>
          <p:cNvPr id="7" name="Oval 6"/>
          <p:cNvSpPr/>
          <p:nvPr/>
        </p:nvSpPr>
        <p:spPr>
          <a:xfrm>
            <a:off x="822960" y="3931920"/>
            <a:ext cx="731520" cy="731520"/>
          </a:xfrm>
          <a:prstGeom prst="ellipse">
            <a:avLst/>
          </a:prstGeom>
          <a:solidFill>
            <a:srgbClr val="0E7C86"/>
          </a:solidFill>
          <a:ln>
            <a:noFill/>
          </a:ln>
          <a:effectLst/>
        </p:spPr>
        <p:txBody>
          <a:bodyPr rtlCol="0" anchor="ctr" wrap="square" lIns="0" tIns="0" rIns="0" bIns="0"/>
          <a:lstStyle/>
          <a:p>
            <a:pPr algn="ctr">
              <a:spcAft>
                <a:spcPts val="600"/>
              </a:spcAft>
            </a:pPr>
            <a:r>
              <a:rPr sz="2400" b="1">
                <a:solidFill>
                  <a:srgbClr val="FFFFFF"/>
                </a:solidFill>
                <a:latin typeface="Arial"/>
              </a:rPr>
              <a:t>3</a:t>
            </a:r>
          </a:p>
        </p:txBody>
      </p:sp>
      <p:sp>
        <p:nvSpPr>
          <p:cNvPr id="8" name="TextBox 7"/>
          <p:cNvSpPr txBox="1"/>
          <p:nvPr/>
        </p:nvSpPr>
        <p:spPr>
          <a:xfrm>
            <a:off x="1828800" y="3931920"/>
            <a:ext cx="9601200" cy="731520"/>
          </a:xfrm>
          <a:prstGeom prst="rect">
            <a:avLst/>
          </a:prstGeom>
          <a:noFill/>
        </p:spPr>
        <p:txBody>
          <a:bodyPr wrap="square" lIns="0" tIns="0" rIns="0" bIns="0" anchor="ctr"/>
          <a:lstStyle/>
          <a:p>
            <a:pPr algn="l">
              <a:spcAft>
                <a:spcPts val="600"/>
              </a:spcAft>
            </a:pPr>
            <a:r>
              <a:rPr sz="2600" b="0">
                <a:solidFill>
                  <a:srgbClr val="FFFFFF"/>
                </a:solidFill>
                <a:latin typeface="Arial"/>
              </a:rPr>
              <a:t>Board luôn phản ánh đúng thực tế</a:t>
            </a:r>
          </a:p>
        </p:txBody>
      </p:sp>
      <p:sp>
        <p:nvSpPr>
          <p:cNvPr id="9" name="TextBox 8"/>
          <p:cNvSpPr txBox="1"/>
          <p:nvPr/>
        </p:nvSpPr>
        <p:spPr>
          <a:xfrm>
            <a:off x="822960" y="5303520"/>
            <a:ext cx="10515600" cy="822960"/>
          </a:xfrm>
          <a:prstGeom prst="rect">
            <a:avLst/>
          </a:prstGeom>
          <a:noFill/>
        </p:spPr>
        <p:txBody>
          <a:bodyPr wrap="square" lIns="0" tIns="0" rIns="0" bIns="0" anchor="t"/>
          <a:lstStyle/>
          <a:p>
            <a:pPr algn="l">
              <a:spcAft>
                <a:spcPts val="600"/>
              </a:spcAft>
            </a:pPr>
            <a:r>
              <a:rPr sz="4000" b="1">
                <a:solidFill>
                  <a:srgbClr val="8FD3DA"/>
                </a:solidFill>
                <a:latin typeface="Arial"/>
              </a:rPr>
              <a:t>Hỏi đáp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